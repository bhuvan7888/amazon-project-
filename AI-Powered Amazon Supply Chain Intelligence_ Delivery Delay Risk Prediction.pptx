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12192000"/>
  <p:embeddedFontLst>
    <p:embeddedFont>
      <p:font typeface="MiSans" pitchFamily="2" charset="-12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Liter" panose="02000503030000020004" pitchFamily="2" charset="0"/>
      <p:regular r:id="rId29"/>
    </p:embeddedFont>
    <p:embeddedFont>
      <p:font typeface="Oranienbaum" panose="02000506080000020003" pitchFamily="2" charset="0"/>
      <p:regular r:id="rId30"/>
    </p:embeddedFont>
    <p:embeddedFont>
      <p:font typeface="Quattrocento Sans" panose="020B0502050000020003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4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upplychainbrain.com/ba00a686028af029322a7d8542852164593975a3.webp"/>
          <p:cNvPicPr>
            <a:picLocks noChangeAspect="1"/>
          </p:cNvPicPr>
          <p:nvPr/>
        </p:nvPicPr>
        <p:blipFill>
          <a:blip r:embed="rId3">
            <a:alphaModFix amt="40000"/>
          </a:blip>
          <a:srcRect t="7695" b="76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1349375"/>
            <a:ext cx="3349625" cy="387350"/>
          </a:xfrm>
          <a:custGeom>
            <a:avLst/>
            <a:gdLst/>
            <a:ahLst/>
            <a:cxnLst/>
            <a:rect l="l" t="t" r="r" b="b"/>
            <a:pathLst>
              <a:path w="3349625" h="387350">
                <a:moveTo>
                  <a:pt x="76199" y="0"/>
                </a:moveTo>
                <a:lnTo>
                  <a:pt x="3273426" y="0"/>
                </a:lnTo>
                <a:cubicBezTo>
                  <a:pt x="3315509" y="0"/>
                  <a:pt x="3349625" y="34116"/>
                  <a:pt x="3349625" y="76199"/>
                </a:cubicBezTo>
                <a:lnTo>
                  <a:pt x="3349625" y="311151"/>
                </a:lnTo>
                <a:cubicBezTo>
                  <a:pt x="3349625" y="353234"/>
                  <a:pt x="3315509" y="387350"/>
                  <a:pt x="327342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8467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" y="1460500"/>
            <a:ext cx="311437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Research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685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AI-Powered Amazon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Supply Chain Intelligence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116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783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Delay Risk Prediction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4829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7013" y="0"/>
                </a:moveTo>
                <a:lnTo>
                  <a:pt x="227013" y="0"/>
                </a:lnTo>
                <a:cubicBezTo>
                  <a:pt x="352304" y="0"/>
                  <a:pt x="454025" y="101721"/>
                  <a:pt x="454025" y="227013"/>
                </a:cubicBezTo>
                <a:lnTo>
                  <a:pt x="454025" y="227013"/>
                </a:lnTo>
                <a:cubicBezTo>
                  <a:pt x="454025" y="352304"/>
                  <a:pt x="352304" y="454025"/>
                  <a:pt x="227013" y="454025"/>
                </a:cubicBezTo>
                <a:lnTo>
                  <a:pt x="227013" y="454025"/>
                </a:lnTo>
                <a:cubicBezTo>
                  <a:pt x="101721" y="454025"/>
                  <a:pt x="0" y="352304"/>
                  <a:pt x="0" y="227013"/>
                </a:cubicBezTo>
                <a:lnTo>
                  <a:pt x="0" y="227013"/>
                </a:lnTo>
                <a:cubicBezTo>
                  <a:pt x="0" y="101721"/>
                  <a:pt x="101721" y="0"/>
                  <a:pt x="227013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8467">
            <a:solidFill>
              <a:srgbClr val="4A6D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444" y="4959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8260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2500" y="501650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Thapar University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84834" y="4826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726134" y="4829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7013" y="0"/>
                </a:moveTo>
                <a:lnTo>
                  <a:pt x="227013" y="0"/>
                </a:lnTo>
                <a:cubicBezTo>
                  <a:pt x="352304" y="0"/>
                  <a:pt x="454025" y="101721"/>
                  <a:pt x="454025" y="227013"/>
                </a:cubicBezTo>
                <a:lnTo>
                  <a:pt x="454025" y="227013"/>
                </a:lnTo>
                <a:cubicBezTo>
                  <a:pt x="454025" y="352304"/>
                  <a:pt x="352304" y="454025"/>
                  <a:pt x="227013" y="454025"/>
                </a:cubicBezTo>
                <a:lnTo>
                  <a:pt x="227013" y="454025"/>
                </a:lnTo>
                <a:cubicBezTo>
                  <a:pt x="101721" y="454025"/>
                  <a:pt x="0" y="352304"/>
                  <a:pt x="0" y="227013"/>
                </a:cubicBezTo>
                <a:lnTo>
                  <a:pt x="0" y="227013"/>
                </a:lnTo>
                <a:cubicBezTo>
                  <a:pt x="0" y="101721"/>
                  <a:pt x="101721" y="0"/>
                  <a:pt x="227013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8467">
            <a:solidFill>
              <a:srgbClr val="4A6D8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68216" y="4959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3"/>
          <p:cNvSpPr/>
          <p:nvPr/>
        </p:nvSpPr>
        <p:spPr>
          <a:xfrm>
            <a:off x="3294459" y="48260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94459" y="501650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2024-2025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62484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 Classification • Predictive Analytics • Explainable 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Identification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7181850" cy="1219200"/>
          </a:xfrm>
          <a:custGeom>
            <a:avLst/>
            <a:gdLst/>
            <a:ahLst/>
            <a:cxnLst/>
            <a:rect l="l" t="t" r="r" b="b"/>
            <a:pathLst>
              <a:path w="7181850" h="1219200">
                <a:moveTo>
                  <a:pt x="0" y="0"/>
                </a:moveTo>
                <a:lnTo>
                  <a:pt x="7105650" y="0"/>
                </a:lnTo>
                <a:cubicBezTo>
                  <a:pt x="7147706" y="0"/>
                  <a:pt x="7181850" y="34144"/>
                  <a:pt x="7181850" y="76200"/>
                </a:cubicBezTo>
                <a:lnTo>
                  <a:pt x="7181850" y="1143000"/>
                </a:lnTo>
                <a:cubicBezTo>
                  <a:pt x="7181850" y="1185056"/>
                  <a:pt x="7147706" y="1219200"/>
                  <a:pt x="71056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5240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Unpredictable Delivery Delays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8669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logistics face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inherent unpredictability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delivery timelines due to multiple variables including weather, carrier performance, and operational bottlenecks.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705100"/>
            <a:ext cx="7181850" cy="1219200"/>
          </a:xfrm>
          <a:custGeom>
            <a:avLst/>
            <a:gdLst/>
            <a:ahLst/>
            <a:cxnLst/>
            <a:rect l="l" t="t" r="r" b="b"/>
            <a:pathLst>
              <a:path w="7181850" h="1219200">
                <a:moveTo>
                  <a:pt x="0" y="0"/>
                </a:moveTo>
                <a:lnTo>
                  <a:pt x="7105650" y="0"/>
                </a:lnTo>
                <a:cubicBezTo>
                  <a:pt x="7147706" y="0"/>
                  <a:pt x="7181850" y="34144"/>
                  <a:pt x="7181850" y="76200"/>
                </a:cubicBezTo>
                <a:lnTo>
                  <a:pt x="7181850" y="1143000"/>
                </a:lnTo>
                <a:cubicBezTo>
                  <a:pt x="7181850" y="1185056"/>
                  <a:pt x="7147706" y="1219200"/>
                  <a:pt x="71056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705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895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713" y="3048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28956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Chain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2385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supply chains involve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hundreds of interconnected variables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multiple stages, making manual risk assessment nearly impossible at scale.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076700"/>
            <a:ext cx="7181850" cy="1219200"/>
          </a:xfrm>
          <a:custGeom>
            <a:avLst/>
            <a:gdLst/>
            <a:ahLst/>
            <a:cxnLst/>
            <a:rect l="l" t="t" r="r" b="b"/>
            <a:pathLst>
              <a:path w="7181850" h="1219200">
                <a:moveTo>
                  <a:pt x="0" y="0"/>
                </a:moveTo>
                <a:lnTo>
                  <a:pt x="7105650" y="0"/>
                </a:lnTo>
                <a:cubicBezTo>
                  <a:pt x="7147706" y="0"/>
                  <a:pt x="7181850" y="34144"/>
                  <a:pt x="7181850" y="76200"/>
                </a:cubicBezTo>
                <a:lnTo>
                  <a:pt x="7181850" y="1143000"/>
                </a:lnTo>
                <a:cubicBezTo>
                  <a:pt x="7181850" y="1185056"/>
                  <a:pt x="7147706" y="1219200"/>
                  <a:pt x="71056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0767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26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41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42672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vs Proactive Management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46101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systems are predominantly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 rather than predictive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leading to missed opportunities for early intervention and mitigation.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13675" y="1336675"/>
            <a:ext cx="3997325" cy="4206875"/>
          </a:xfrm>
          <a:custGeom>
            <a:avLst/>
            <a:gdLst/>
            <a:ahLst/>
            <a:cxnLst/>
            <a:rect l="l" t="t" r="r" b="b"/>
            <a:pathLst>
              <a:path w="3997325" h="4206875">
                <a:moveTo>
                  <a:pt x="76189" y="0"/>
                </a:moveTo>
                <a:lnTo>
                  <a:pt x="3921136" y="0"/>
                </a:lnTo>
                <a:cubicBezTo>
                  <a:pt x="3963214" y="0"/>
                  <a:pt x="3997325" y="34111"/>
                  <a:pt x="3997325" y="76189"/>
                </a:cubicBezTo>
                <a:lnTo>
                  <a:pt x="3997325" y="4130686"/>
                </a:lnTo>
                <a:cubicBezTo>
                  <a:pt x="3997325" y="4172764"/>
                  <a:pt x="3963214" y="4206875"/>
                  <a:pt x="3921136" y="4206875"/>
                </a:cubicBezTo>
                <a:lnTo>
                  <a:pt x="76189" y="4206875"/>
                </a:lnTo>
                <a:cubicBezTo>
                  <a:pt x="34111" y="4206875"/>
                  <a:pt x="0" y="4172764"/>
                  <a:pt x="0" y="4130686"/>
                </a:cubicBezTo>
                <a:lnTo>
                  <a:pt x="0" y="76189"/>
                </a:lnTo>
                <a:cubicBezTo>
                  <a:pt x="0" y="34139"/>
                  <a:pt x="34139" y="0"/>
                  <a:pt x="7618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8467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1163" y="1568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245475" y="153035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Impact 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7350" y="19685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Dissatisfaction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259543" y="194945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7350" y="2254251"/>
            <a:ext cx="3609975" cy="95250"/>
          </a:xfrm>
          <a:custGeom>
            <a:avLst/>
            <a:gdLst/>
            <a:ahLst/>
            <a:cxnLst/>
            <a:rect l="l" t="t" r="r" b="b"/>
            <a:pathLst>
              <a:path w="3609975" h="95250">
                <a:moveTo>
                  <a:pt x="47625" y="0"/>
                </a:moveTo>
                <a:lnTo>
                  <a:pt x="3562350" y="0"/>
                </a:lnTo>
                <a:cubicBezTo>
                  <a:pt x="3588635" y="0"/>
                  <a:pt x="3609975" y="21340"/>
                  <a:pt x="3609975" y="47625"/>
                </a:cubicBezTo>
                <a:lnTo>
                  <a:pt x="3609975" y="47625"/>
                </a:lnTo>
                <a:cubicBezTo>
                  <a:pt x="3609975" y="73910"/>
                  <a:pt x="3588635" y="95250"/>
                  <a:pt x="35623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7350" y="2254251"/>
            <a:ext cx="1228725" cy="95250"/>
          </a:xfrm>
          <a:custGeom>
            <a:avLst/>
            <a:gdLst/>
            <a:ahLst/>
            <a:cxnLst/>
            <a:rect l="l" t="t" r="r" b="b"/>
            <a:pathLst>
              <a:path w="1228725" h="95250">
                <a:moveTo>
                  <a:pt x="47625" y="0"/>
                </a:moveTo>
                <a:lnTo>
                  <a:pt x="1181100" y="0"/>
                </a:lnTo>
                <a:cubicBezTo>
                  <a:pt x="1207385" y="0"/>
                  <a:pt x="1228725" y="21340"/>
                  <a:pt x="1228725" y="47625"/>
                </a:cubicBezTo>
                <a:lnTo>
                  <a:pt x="1228725" y="47625"/>
                </a:lnTo>
                <a:cubicBezTo>
                  <a:pt x="1228725" y="73910"/>
                  <a:pt x="1207385" y="95250"/>
                  <a:pt x="11811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8007350" y="248285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Costs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13096" y="2463801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28%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07350" y="2768601"/>
            <a:ext cx="3609975" cy="95250"/>
          </a:xfrm>
          <a:custGeom>
            <a:avLst/>
            <a:gdLst/>
            <a:ahLst/>
            <a:cxnLst/>
            <a:rect l="l" t="t" r="r" b="b"/>
            <a:pathLst>
              <a:path w="3609975" h="95250">
                <a:moveTo>
                  <a:pt x="47625" y="0"/>
                </a:moveTo>
                <a:lnTo>
                  <a:pt x="3562350" y="0"/>
                </a:lnTo>
                <a:cubicBezTo>
                  <a:pt x="3588635" y="0"/>
                  <a:pt x="3609975" y="21340"/>
                  <a:pt x="3609975" y="47625"/>
                </a:cubicBezTo>
                <a:lnTo>
                  <a:pt x="3609975" y="47625"/>
                </a:lnTo>
                <a:cubicBezTo>
                  <a:pt x="3609975" y="73910"/>
                  <a:pt x="3588635" y="95250"/>
                  <a:pt x="35623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7350" y="2768601"/>
            <a:ext cx="1009650" cy="95250"/>
          </a:xfrm>
          <a:custGeom>
            <a:avLst/>
            <a:gdLst/>
            <a:ahLst/>
            <a:cxnLst/>
            <a:rect l="l" t="t" r="r" b="b"/>
            <a:pathLst>
              <a:path w="1009650" h="95250">
                <a:moveTo>
                  <a:pt x="47625" y="0"/>
                </a:moveTo>
                <a:lnTo>
                  <a:pt x="962025" y="0"/>
                </a:lnTo>
                <a:cubicBezTo>
                  <a:pt x="988310" y="0"/>
                  <a:pt x="1009650" y="21340"/>
                  <a:pt x="1009650" y="47625"/>
                </a:cubicBezTo>
                <a:lnTo>
                  <a:pt x="1009650" y="47625"/>
                </a:lnTo>
                <a:cubicBezTo>
                  <a:pt x="1009650" y="73910"/>
                  <a:pt x="988310" y="95250"/>
                  <a:pt x="962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8007350" y="299720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Loss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01871" y="2978151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$12B/yr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07350" y="3282951"/>
            <a:ext cx="3609975" cy="95250"/>
          </a:xfrm>
          <a:custGeom>
            <a:avLst/>
            <a:gdLst/>
            <a:ahLst/>
            <a:cxnLst/>
            <a:rect l="l" t="t" r="r" b="b"/>
            <a:pathLst>
              <a:path w="3609975" h="95250">
                <a:moveTo>
                  <a:pt x="47625" y="0"/>
                </a:moveTo>
                <a:lnTo>
                  <a:pt x="3562350" y="0"/>
                </a:lnTo>
                <a:cubicBezTo>
                  <a:pt x="3588635" y="0"/>
                  <a:pt x="3609975" y="21340"/>
                  <a:pt x="3609975" y="47625"/>
                </a:cubicBezTo>
                <a:lnTo>
                  <a:pt x="3609975" y="47625"/>
                </a:lnTo>
                <a:cubicBezTo>
                  <a:pt x="3609975" y="73910"/>
                  <a:pt x="3588635" y="95250"/>
                  <a:pt x="35623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6" name="Shape 34"/>
          <p:cNvSpPr/>
          <p:nvPr/>
        </p:nvSpPr>
        <p:spPr>
          <a:xfrm>
            <a:off x="8007350" y="3282951"/>
            <a:ext cx="1619250" cy="95250"/>
          </a:xfrm>
          <a:custGeom>
            <a:avLst/>
            <a:gdLst/>
            <a:ahLst/>
            <a:cxnLst/>
            <a:rect l="l" t="t" r="r" b="b"/>
            <a:pathLst>
              <a:path w="1619250" h="95250">
                <a:moveTo>
                  <a:pt x="47625" y="0"/>
                </a:moveTo>
                <a:lnTo>
                  <a:pt x="1571625" y="0"/>
                </a:lnTo>
                <a:cubicBezTo>
                  <a:pt x="1597910" y="0"/>
                  <a:pt x="1619250" y="21340"/>
                  <a:pt x="1619250" y="47625"/>
                </a:cubicBezTo>
                <a:lnTo>
                  <a:pt x="1619250" y="47625"/>
                </a:lnTo>
                <a:cubicBezTo>
                  <a:pt x="1619250" y="73910"/>
                  <a:pt x="1597910" y="95250"/>
                  <a:pt x="1571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Shape 35"/>
          <p:cNvSpPr/>
          <p:nvPr/>
        </p:nvSpPr>
        <p:spPr>
          <a:xfrm>
            <a:off x="7813675" y="5705476"/>
            <a:ext cx="3997325" cy="768350"/>
          </a:xfrm>
          <a:custGeom>
            <a:avLst/>
            <a:gdLst/>
            <a:ahLst/>
            <a:cxnLst/>
            <a:rect l="l" t="t" r="r" b="b"/>
            <a:pathLst>
              <a:path w="3997325" h="768350">
                <a:moveTo>
                  <a:pt x="76197" y="0"/>
                </a:moveTo>
                <a:lnTo>
                  <a:pt x="3921128" y="0"/>
                </a:lnTo>
                <a:cubicBezTo>
                  <a:pt x="3963210" y="0"/>
                  <a:pt x="3997325" y="34115"/>
                  <a:pt x="3997325" y="76197"/>
                </a:cubicBezTo>
                <a:lnTo>
                  <a:pt x="3997325" y="692153"/>
                </a:lnTo>
                <a:cubicBezTo>
                  <a:pt x="3997325" y="734235"/>
                  <a:pt x="3963210" y="768350"/>
                  <a:pt x="3921128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97825" y="5975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8310166" y="586105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predictive system for </a:t>
            </a:r>
            <a:r>
              <a:rPr lang="en-US" sz="1200" dirty="0">
                <a:solidFill>
                  <a:srgbClr val="F0F0F0"/>
                </a:solidFill>
                <a:highlight>
                  <a:srgbClr val="D4A37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risk detection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11410950" cy="1438275"/>
          </a:xfrm>
          <a:custGeom>
            <a:avLst/>
            <a:gdLst/>
            <a:ahLst/>
            <a:cxnLst/>
            <a:rect l="l" t="t" r="r" b="b"/>
            <a:pathLst>
              <a:path w="11410950" h="1438275">
                <a:moveTo>
                  <a:pt x="0" y="0"/>
                </a:moveTo>
                <a:lnTo>
                  <a:pt x="11334750" y="0"/>
                </a:lnTo>
                <a:cubicBezTo>
                  <a:pt x="11376834" y="0"/>
                  <a:pt x="11410950" y="34116"/>
                  <a:pt x="11410950" y="76200"/>
                </a:cubicBezTo>
                <a:lnTo>
                  <a:pt x="11410950" y="1362075"/>
                </a:lnTo>
                <a:cubicBezTo>
                  <a:pt x="11410950" y="1404159"/>
                  <a:pt x="11376834" y="1438275"/>
                  <a:pt x="11334750" y="1438275"/>
                </a:cubicBez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Shape 4"/>
          <p:cNvSpPr/>
          <p:nvPr/>
        </p:nvSpPr>
        <p:spPr>
          <a:xfrm>
            <a:off x="6762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933450" y="1562100"/>
            <a:ext cx="1076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Classification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1981200"/>
            <a:ext cx="11020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machine learning model capable of </a:t>
            </a:r>
            <a:r>
              <a:rPr lang="en-US" sz="13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delivery risk levels</a:t>
            </a: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three distinct categories, enabling proactive supply chain management and resource optimization.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525" y="2967038"/>
            <a:ext cx="3667125" cy="2266950"/>
          </a:xfrm>
          <a:custGeom>
            <a:avLst/>
            <a:gdLst/>
            <a:ahLst/>
            <a:cxnLst/>
            <a:rect l="l" t="t" r="r" b="b"/>
            <a:pathLst>
              <a:path w="3667125" h="2266950">
                <a:moveTo>
                  <a:pt x="114300" y="0"/>
                </a:moveTo>
                <a:lnTo>
                  <a:pt x="3552825" y="0"/>
                </a:lnTo>
                <a:cubicBezTo>
                  <a:pt x="3615951" y="0"/>
                  <a:pt x="3667125" y="51174"/>
                  <a:pt x="3667125" y="114300"/>
                </a:cubicBezTo>
                <a:lnTo>
                  <a:pt x="3667125" y="2152650"/>
                </a:lnTo>
                <a:cubicBezTo>
                  <a:pt x="3667125" y="2215776"/>
                  <a:pt x="3615951" y="2266950"/>
                  <a:pt x="35528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54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550" y="31670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4856" y="3328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14450" y="3205163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4450" y="3509963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550" y="3967958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Delivery within promised timeframe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4310858"/>
            <a:ext cx="3267075" cy="685800"/>
          </a:xfrm>
          <a:custGeom>
            <a:avLst/>
            <a:gdLst/>
            <a:ahLst/>
            <a:cxnLst/>
            <a:rect l="l" t="t" r="r" b="b"/>
            <a:pathLst>
              <a:path w="3267075" h="685800">
                <a:moveTo>
                  <a:pt x="76199" y="0"/>
                </a:moveTo>
                <a:lnTo>
                  <a:pt x="3190876" y="0"/>
                </a:lnTo>
                <a:cubicBezTo>
                  <a:pt x="3232959" y="0"/>
                  <a:pt x="3267075" y="34116"/>
                  <a:pt x="3267075" y="76199"/>
                </a:cubicBezTo>
                <a:lnTo>
                  <a:pt x="3267075" y="609601"/>
                </a:lnTo>
                <a:cubicBezTo>
                  <a:pt x="3267075" y="651684"/>
                  <a:pt x="3232959" y="685800"/>
                  <a:pt x="31908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4850" y="442515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Action: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850" y="4653758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processing, no intervention needed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4025" y="2967038"/>
            <a:ext cx="3667125" cy="2266950"/>
          </a:xfrm>
          <a:custGeom>
            <a:avLst/>
            <a:gdLst/>
            <a:ahLst/>
            <a:cxnLst/>
            <a:rect l="l" t="t" r="r" b="b"/>
            <a:pathLst>
              <a:path w="3667125" h="2266950">
                <a:moveTo>
                  <a:pt x="114300" y="0"/>
                </a:moveTo>
                <a:lnTo>
                  <a:pt x="3552825" y="0"/>
                </a:lnTo>
                <a:cubicBezTo>
                  <a:pt x="3615951" y="0"/>
                  <a:pt x="3667125" y="51174"/>
                  <a:pt x="3667125" y="114300"/>
                </a:cubicBezTo>
                <a:lnTo>
                  <a:pt x="3667125" y="2152650"/>
                </a:lnTo>
                <a:cubicBezTo>
                  <a:pt x="3667125" y="2215776"/>
                  <a:pt x="3615951" y="2266950"/>
                  <a:pt x="35528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254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4050" y="31670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28356" y="3328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87950" y="3205163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87950" y="3509963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64050" y="3967958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 delay indicators detected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64050" y="4310858"/>
            <a:ext cx="3267075" cy="685800"/>
          </a:xfrm>
          <a:custGeom>
            <a:avLst/>
            <a:gdLst/>
            <a:ahLst/>
            <a:cxnLst/>
            <a:rect l="l" t="t" r="r" b="b"/>
            <a:pathLst>
              <a:path w="3267075" h="685800">
                <a:moveTo>
                  <a:pt x="76199" y="0"/>
                </a:moveTo>
                <a:lnTo>
                  <a:pt x="3190876" y="0"/>
                </a:lnTo>
                <a:cubicBezTo>
                  <a:pt x="3232959" y="0"/>
                  <a:pt x="3267075" y="34116"/>
                  <a:pt x="3267075" y="76199"/>
                </a:cubicBezTo>
                <a:lnTo>
                  <a:pt x="3267075" y="609601"/>
                </a:lnTo>
                <a:cubicBezTo>
                  <a:pt x="3267075" y="651684"/>
                  <a:pt x="3232959" y="685800"/>
                  <a:pt x="31908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8350" y="442515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Action: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8350" y="4653758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closely, prepare contingency plans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7525" y="2967038"/>
            <a:ext cx="3667125" cy="2266950"/>
          </a:xfrm>
          <a:custGeom>
            <a:avLst/>
            <a:gdLst/>
            <a:ahLst/>
            <a:cxnLst/>
            <a:rect l="l" t="t" r="r" b="b"/>
            <a:pathLst>
              <a:path w="3667125" h="2266950">
                <a:moveTo>
                  <a:pt x="114300" y="0"/>
                </a:moveTo>
                <a:lnTo>
                  <a:pt x="3552825" y="0"/>
                </a:lnTo>
                <a:cubicBezTo>
                  <a:pt x="3615951" y="0"/>
                  <a:pt x="3667125" y="51174"/>
                  <a:pt x="3667125" y="114300"/>
                </a:cubicBezTo>
                <a:lnTo>
                  <a:pt x="3667125" y="2152650"/>
                </a:lnTo>
                <a:cubicBezTo>
                  <a:pt x="3667125" y="2215776"/>
                  <a:pt x="3615951" y="2266950"/>
                  <a:pt x="35528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54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7550" y="31670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01857" y="3328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9061450" y="3205163"/>
            <a:ext cx="94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61450" y="3509963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7550" y="3967958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probability of missing deadline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37550" y="4310858"/>
            <a:ext cx="3267075" cy="685800"/>
          </a:xfrm>
          <a:custGeom>
            <a:avLst/>
            <a:gdLst/>
            <a:ahLst/>
            <a:cxnLst/>
            <a:rect l="l" t="t" r="r" b="b"/>
            <a:pathLst>
              <a:path w="3267075" h="685800">
                <a:moveTo>
                  <a:pt x="76199" y="0"/>
                </a:moveTo>
                <a:lnTo>
                  <a:pt x="3190876" y="0"/>
                </a:lnTo>
                <a:cubicBezTo>
                  <a:pt x="3232959" y="0"/>
                  <a:pt x="3267075" y="34116"/>
                  <a:pt x="3267075" y="76199"/>
                </a:cubicBezTo>
                <a:lnTo>
                  <a:pt x="3267075" y="609601"/>
                </a:lnTo>
                <a:cubicBezTo>
                  <a:pt x="3267075" y="651684"/>
                  <a:pt x="3232959" y="685800"/>
                  <a:pt x="31908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51850" y="442515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Action: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51850" y="4653758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intervention, expedited shipping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175" y="5438776"/>
            <a:ext cx="2740025" cy="1035050"/>
          </a:xfrm>
          <a:custGeom>
            <a:avLst/>
            <a:gdLst/>
            <a:ahLst/>
            <a:cxnLst/>
            <a:rect l="l" t="t" r="r" b="b"/>
            <a:pathLst>
              <a:path w="2740025" h="1035050">
                <a:moveTo>
                  <a:pt x="76200" y="0"/>
                </a:moveTo>
                <a:lnTo>
                  <a:pt x="2663825" y="0"/>
                </a:lnTo>
                <a:cubicBezTo>
                  <a:pt x="2705909" y="0"/>
                  <a:pt x="2740025" y="34116"/>
                  <a:pt x="2740025" y="76200"/>
                </a:cubicBezTo>
                <a:lnTo>
                  <a:pt x="2740025" y="958850"/>
                </a:lnTo>
                <a:cubicBezTo>
                  <a:pt x="2740025" y="1000934"/>
                  <a:pt x="2705909" y="1035050"/>
                  <a:pt x="26638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38300" y="55943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501650" y="5899152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Classification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6413" y="612775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algorithms tested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79775" y="5438776"/>
            <a:ext cx="2740025" cy="1035050"/>
          </a:xfrm>
          <a:custGeom>
            <a:avLst/>
            <a:gdLst/>
            <a:ahLst/>
            <a:cxnLst/>
            <a:rect l="l" t="t" r="r" b="b"/>
            <a:pathLst>
              <a:path w="2740025" h="1035050">
                <a:moveTo>
                  <a:pt x="76200" y="0"/>
                </a:moveTo>
                <a:lnTo>
                  <a:pt x="2663825" y="0"/>
                </a:lnTo>
                <a:cubicBezTo>
                  <a:pt x="2705909" y="0"/>
                  <a:pt x="2740025" y="34116"/>
                  <a:pt x="2740025" y="76200"/>
                </a:cubicBezTo>
                <a:lnTo>
                  <a:pt x="2740025" y="958850"/>
                </a:lnTo>
                <a:cubicBezTo>
                  <a:pt x="2740025" y="1000934"/>
                  <a:pt x="2705909" y="1035050"/>
                  <a:pt x="26638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3900" y="55943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3397250" y="5899152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402013" y="612775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&gt;85% target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5375" y="5438776"/>
            <a:ext cx="2740025" cy="1035050"/>
          </a:xfrm>
          <a:custGeom>
            <a:avLst/>
            <a:gdLst/>
            <a:ahLst/>
            <a:cxnLst/>
            <a:rect l="l" t="t" r="r" b="b"/>
            <a:pathLst>
              <a:path w="2740025" h="1035050">
                <a:moveTo>
                  <a:pt x="76200" y="0"/>
                </a:moveTo>
                <a:lnTo>
                  <a:pt x="2663825" y="0"/>
                </a:lnTo>
                <a:cubicBezTo>
                  <a:pt x="2705909" y="0"/>
                  <a:pt x="2740025" y="34116"/>
                  <a:pt x="2740025" y="76200"/>
                </a:cubicBezTo>
                <a:lnTo>
                  <a:pt x="2740025" y="958850"/>
                </a:lnTo>
                <a:cubicBezTo>
                  <a:pt x="2740025" y="1000934"/>
                  <a:pt x="2705909" y="1035050"/>
                  <a:pt x="26638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5213" y="559435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6292850" y="5899152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97613" y="612775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values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0975" y="5438776"/>
            <a:ext cx="2740025" cy="1035050"/>
          </a:xfrm>
          <a:custGeom>
            <a:avLst/>
            <a:gdLst/>
            <a:ahLst/>
            <a:cxnLst/>
            <a:rect l="l" t="t" r="r" b="b"/>
            <a:pathLst>
              <a:path w="2740025" h="1035050">
                <a:moveTo>
                  <a:pt x="76200" y="0"/>
                </a:moveTo>
                <a:lnTo>
                  <a:pt x="2663825" y="0"/>
                </a:lnTo>
                <a:cubicBezTo>
                  <a:pt x="2705909" y="0"/>
                  <a:pt x="2740025" y="34116"/>
                  <a:pt x="2740025" y="76200"/>
                </a:cubicBezTo>
                <a:lnTo>
                  <a:pt x="2740025" y="958850"/>
                </a:lnTo>
                <a:cubicBezTo>
                  <a:pt x="2740025" y="1000934"/>
                  <a:pt x="2705909" y="1035050"/>
                  <a:pt x="2663825" y="1035050"/>
                </a:cubicBezTo>
                <a:lnTo>
                  <a:pt x="76200" y="1035050"/>
                </a:lnTo>
                <a:cubicBezTo>
                  <a:pt x="34116" y="1035050"/>
                  <a:pt x="0" y="1000934"/>
                  <a:pt x="0" y="958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25100" y="55943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8"/>
          <p:cNvSpPr/>
          <p:nvPr/>
        </p:nvSpPr>
        <p:spPr>
          <a:xfrm>
            <a:off x="9188450" y="5899152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Ready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93213" y="612775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interface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6740525" cy="1463675"/>
          </a:xfrm>
          <a:custGeom>
            <a:avLst/>
            <a:gdLst/>
            <a:ahLst/>
            <a:cxnLst/>
            <a:rect l="l" t="t" r="r" b="b"/>
            <a:pathLst>
              <a:path w="6740525" h="1463675">
                <a:moveTo>
                  <a:pt x="76199" y="0"/>
                </a:moveTo>
                <a:lnTo>
                  <a:pt x="6664326" y="0"/>
                </a:lnTo>
                <a:cubicBezTo>
                  <a:pt x="6706410" y="0"/>
                  <a:pt x="6740525" y="34115"/>
                  <a:pt x="6740525" y="76199"/>
                </a:cubicBezTo>
                <a:lnTo>
                  <a:pt x="6740525" y="1387476"/>
                </a:lnTo>
                <a:cubicBezTo>
                  <a:pt x="6740525" y="1429560"/>
                  <a:pt x="6706410" y="1463675"/>
                  <a:pt x="6664326" y="1463675"/>
                </a:cubicBezTo>
                <a:lnTo>
                  <a:pt x="76199" y="1463675"/>
                </a:lnTo>
                <a:cubicBezTo>
                  <a:pt x="34144" y="1463675"/>
                  <a:pt x="0" y="1429531"/>
                  <a:pt x="0" y="1387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2613" y="147320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1454151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1838326"/>
            <a:ext cx="2063750" cy="768350"/>
          </a:xfrm>
          <a:custGeom>
            <a:avLst/>
            <a:gdLst/>
            <a:ahLst/>
            <a:cxnLst/>
            <a:rect l="l" t="t" r="r" b="b"/>
            <a:pathLst>
              <a:path w="2063750" h="768350">
                <a:moveTo>
                  <a:pt x="76197" y="0"/>
                </a:moveTo>
                <a:lnTo>
                  <a:pt x="1987553" y="0"/>
                </a:lnTo>
                <a:cubicBezTo>
                  <a:pt x="2029635" y="0"/>
                  <a:pt x="2063750" y="34115"/>
                  <a:pt x="2063750" y="76197"/>
                </a:cubicBezTo>
                <a:lnTo>
                  <a:pt x="2063750" y="692153"/>
                </a:lnTo>
                <a:cubicBezTo>
                  <a:pt x="2063750" y="734235"/>
                  <a:pt x="2029635" y="768350"/>
                  <a:pt x="1987553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8467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963" y="1955802"/>
            <a:ext cx="1971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10,999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7063" y="2298702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23059" y="1838326"/>
            <a:ext cx="2063750" cy="768350"/>
          </a:xfrm>
          <a:custGeom>
            <a:avLst/>
            <a:gdLst/>
            <a:ahLst/>
            <a:cxnLst/>
            <a:rect l="l" t="t" r="r" b="b"/>
            <a:pathLst>
              <a:path w="2063750" h="768350">
                <a:moveTo>
                  <a:pt x="76197" y="0"/>
                </a:moveTo>
                <a:lnTo>
                  <a:pt x="1987553" y="0"/>
                </a:lnTo>
                <a:cubicBezTo>
                  <a:pt x="2029635" y="0"/>
                  <a:pt x="2063750" y="34115"/>
                  <a:pt x="2063750" y="76197"/>
                </a:cubicBezTo>
                <a:lnTo>
                  <a:pt x="2063750" y="692153"/>
                </a:lnTo>
                <a:cubicBezTo>
                  <a:pt x="2063750" y="734235"/>
                  <a:pt x="2029635" y="768350"/>
                  <a:pt x="1987553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8467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9096" y="1955802"/>
            <a:ext cx="1971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07196" y="2298702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03192" y="1838326"/>
            <a:ext cx="2063750" cy="768350"/>
          </a:xfrm>
          <a:custGeom>
            <a:avLst/>
            <a:gdLst/>
            <a:ahLst/>
            <a:cxnLst/>
            <a:rect l="l" t="t" r="r" b="b"/>
            <a:pathLst>
              <a:path w="2063750" h="768350">
                <a:moveTo>
                  <a:pt x="76197" y="0"/>
                </a:moveTo>
                <a:lnTo>
                  <a:pt x="1987553" y="0"/>
                </a:lnTo>
                <a:cubicBezTo>
                  <a:pt x="2029635" y="0"/>
                  <a:pt x="2063750" y="34115"/>
                  <a:pt x="2063750" y="76197"/>
                </a:cubicBezTo>
                <a:lnTo>
                  <a:pt x="2063750" y="692153"/>
                </a:lnTo>
                <a:cubicBezTo>
                  <a:pt x="2063750" y="734235"/>
                  <a:pt x="2029635" y="768350"/>
                  <a:pt x="1987553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8467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9230" y="1955802"/>
            <a:ext cx="1971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7330" y="2298702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Classes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175" y="2924176"/>
            <a:ext cx="6740525" cy="3549650"/>
          </a:xfrm>
          <a:custGeom>
            <a:avLst/>
            <a:gdLst/>
            <a:ahLst/>
            <a:cxnLst/>
            <a:rect l="l" t="t" r="r" b="b"/>
            <a:pathLst>
              <a:path w="6740525" h="3549650">
                <a:moveTo>
                  <a:pt x="76211" y="0"/>
                </a:moveTo>
                <a:lnTo>
                  <a:pt x="6664314" y="0"/>
                </a:lnTo>
                <a:cubicBezTo>
                  <a:pt x="6706404" y="0"/>
                  <a:pt x="6740525" y="34121"/>
                  <a:pt x="6740525" y="76211"/>
                </a:cubicBezTo>
                <a:lnTo>
                  <a:pt x="6740525" y="3473439"/>
                </a:lnTo>
                <a:cubicBezTo>
                  <a:pt x="6740525" y="3515529"/>
                  <a:pt x="6706404" y="3549650"/>
                  <a:pt x="6664314" y="3549650"/>
                </a:cubicBezTo>
                <a:lnTo>
                  <a:pt x="76211" y="3549650"/>
                </a:lnTo>
                <a:cubicBezTo>
                  <a:pt x="34121" y="3549650"/>
                  <a:pt x="0" y="3515529"/>
                  <a:pt x="0" y="347343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3563" y="31273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48220"/>
                </a:moveTo>
                <a:cubicBezTo>
                  <a:pt x="24945" y="48220"/>
                  <a:pt x="32147" y="41018"/>
                  <a:pt x="32147" y="32147"/>
                </a:cubicBezTo>
                <a:cubicBezTo>
                  <a:pt x="32147" y="23276"/>
                  <a:pt x="24945" y="16073"/>
                  <a:pt x="16073" y="16073"/>
                </a:cubicBezTo>
                <a:cubicBezTo>
                  <a:pt x="7202" y="16073"/>
                  <a:pt x="0" y="23276"/>
                  <a:pt x="0" y="32147"/>
                </a:cubicBezTo>
                <a:cubicBezTo>
                  <a:pt x="0" y="41018"/>
                  <a:pt x="7202" y="48220"/>
                  <a:pt x="16073" y="48220"/>
                </a:cubicBezTo>
                <a:close/>
                <a:moveTo>
                  <a:pt x="64294" y="21431"/>
                </a:moveTo>
                <a:cubicBezTo>
                  <a:pt x="58367" y="21431"/>
                  <a:pt x="53578" y="26220"/>
                  <a:pt x="53578" y="32147"/>
                </a:cubicBezTo>
                <a:cubicBezTo>
                  <a:pt x="53578" y="38074"/>
                  <a:pt x="58367" y="42863"/>
                  <a:pt x="64294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64294" y="21431"/>
                </a:lnTo>
                <a:close/>
                <a:moveTo>
                  <a:pt x="64294" y="75009"/>
                </a:moveTo>
                <a:cubicBezTo>
                  <a:pt x="58367" y="75009"/>
                  <a:pt x="53578" y="79798"/>
                  <a:pt x="53578" y="85725"/>
                </a:cubicBezTo>
                <a:cubicBezTo>
                  <a:pt x="53578" y="91652"/>
                  <a:pt x="58367" y="96441"/>
                  <a:pt x="64294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64294" y="75009"/>
                </a:lnTo>
                <a:close/>
                <a:moveTo>
                  <a:pt x="64294" y="128588"/>
                </a:moveTo>
                <a:cubicBezTo>
                  <a:pt x="58367" y="128588"/>
                  <a:pt x="53578" y="133376"/>
                  <a:pt x="53578" y="139303"/>
                </a:cubicBezTo>
                <a:cubicBezTo>
                  <a:pt x="53578" y="145230"/>
                  <a:pt x="58367" y="150019"/>
                  <a:pt x="6429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64294" y="128588"/>
                </a:lnTo>
                <a:close/>
                <a:moveTo>
                  <a:pt x="16073" y="155377"/>
                </a:moveTo>
                <a:cubicBezTo>
                  <a:pt x="24945" y="155377"/>
                  <a:pt x="32147" y="148174"/>
                  <a:pt x="32147" y="139303"/>
                </a:cubicBezTo>
                <a:cubicBezTo>
                  <a:pt x="32147" y="130432"/>
                  <a:pt x="24945" y="123230"/>
                  <a:pt x="16073" y="123230"/>
                </a:cubicBezTo>
                <a:cubicBezTo>
                  <a:pt x="7202" y="123230"/>
                  <a:pt x="0" y="130432"/>
                  <a:pt x="0" y="139303"/>
                </a:cubicBezTo>
                <a:cubicBezTo>
                  <a:pt x="0" y="148174"/>
                  <a:pt x="7202" y="155377"/>
                  <a:pt x="16073" y="155377"/>
                </a:cubicBezTo>
                <a:close/>
                <a:moveTo>
                  <a:pt x="32147" y="85725"/>
                </a:moveTo>
                <a:cubicBezTo>
                  <a:pt x="32147" y="76854"/>
                  <a:pt x="24945" y="69652"/>
                  <a:pt x="16073" y="69652"/>
                </a:cubicBezTo>
                <a:cubicBezTo>
                  <a:pt x="7202" y="69652"/>
                  <a:pt x="0" y="76854"/>
                  <a:pt x="0" y="85725"/>
                </a:cubicBezTo>
                <a:cubicBezTo>
                  <a:pt x="0" y="94596"/>
                  <a:pt x="7202" y="101798"/>
                  <a:pt x="16073" y="101798"/>
                </a:cubicBezTo>
                <a:cubicBezTo>
                  <a:pt x="24945" y="101798"/>
                  <a:pt x="32147" y="94596"/>
                  <a:pt x="32147" y="857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825" y="3079752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9275" y="34607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9275" y="34607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673100" y="35750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Information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100" y="38417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ID, Purchase Date, Product Category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9525" y="34607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34607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5" name="Text 23"/>
          <p:cNvSpPr/>
          <p:nvPr/>
        </p:nvSpPr>
        <p:spPr>
          <a:xfrm>
            <a:off x="3943350" y="35750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 Details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43350" y="38417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 Mode, Carrier, Origin/Destination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9275" y="42608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9275" y="42608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673100" y="43751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3100" y="46418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Date, Ship Date, Delivery Date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9525" y="42608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19525" y="42608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3943350" y="43751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Attributes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43350" y="46418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Weight, Quantity, Price, Discount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9275" y="50609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9275" y="50609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7" name="Text 35"/>
          <p:cNvSpPr/>
          <p:nvPr/>
        </p:nvSpPr>
        <p:spPr>
          <a:xfrm>
            <a:off x="673100" y="51752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Data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100" y="54419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Segment, Region, Market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9525" y="5060952"/>
            <a:ext cx="3143250" cy="685800"/>
          </a:xfrm>
          <a:custGeom>
            <a:avLst/>
            <a:gdLst/>
            <a:ahLst/>
            <a:cxnLst/>
            <a:rect l="l" t="t" r="r" b="b"/>
            <a:pathLst>
              <a:path w="3143250" h="685800">
                <a:moveTo>
                  <a:pt x="19050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609601"/>
                </a:lnTo>
                <a:cubicBezTo>
                  <a:pt x="3143250" y="651684"/>
                  <a:pt x="3109134" y="685800"/>
                  <a:pt x="3067051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819525" y="5060952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3943350" y="517525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Features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943350" y="5441952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Time, Distance, Season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18375" y="1298575"/>
            <a:ext cx="4492625" cy="4244975"/>
          </a:xfrm>
          <a:custGeom>
            <a:avLst/>
            <a:gdLst/>
            <a:ahLst/>
            <a:cxnLst/>
            <a:rect l="l" t="t" r="r" b="b"/>
            <a:pathLst>
              <a:path w="4492625" h="4244975">
                <a:moveTo>
                  <a:pt x="76197" y="0"/>
                </a:moveTo>
                <a:lnTo>
                  <a:pt x="4416428" y="0"/>
                </a:lnTo>
                <a:cubicBezTo>
                  <a:pt x="4458510" y="0"/>
                  <a:pt x="4492625" y="34115"/>
                  <a:pt x="4492625" y="76197"/>
                </a:cubicBezTo>
                <a:lnTo>
                  <a:pt x="4492625" y="4168778"/>
                </a:lnTo>
                <a:cubicBezTo>
                  <a:pt x="4492625" y="4210860"/>
                  <a:pt x="4458510" y="4244975"/>
                  <a:pt x="4416428" y="4244975"/>
                </a:cubicBezTo>
                <a:lnTo>
                  <a:pt x="76197" y="4244975"/>
                </a:lnTo>
                <a:cubicBezTo>
                  <a:pt x="34115" y="4244975"/>
                  <a:pt x="0" y="4210860"/>
                  <a:pt x="0" y="41687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87047" y="150177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7693025" y="1454151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02525" y="18732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7740650" y="1835151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Processing_Delay: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Days between order and shipment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02525" y="21780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7740650" y="2139951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Shipping_Distance: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Geographic distance calculation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02525" y="24828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7740650" y="2444751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Order_Priority: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Critical, High, Medium, Low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02525" y="27876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7740650" y="2749551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Product_Category: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Electronics, Furniture, etc.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02525" y="30924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7740650" y="3054351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Peak vs Off-peak periods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02525" y="33972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7" name="Text 55"/>
          <p:cNvSpPr/>
          <p:nvPr/>
        </p:nvSpPr>
        <p:spPr>
          <a:xfrm>
            <a:off x="7740650" y="3359151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Performance: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metrics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18375" y="5705476"/>
            <a:ext cx="4492625" cy="768350"/>
          </a:xfrm>
          <a:custGeom>
            <a:avLst/>
            <a:gdLst/>
            <a:ahLst/>
            <a:cxnLst/>
            <a:rect l="l" t="t" r="r" b="b"/>
            <a:pathLst>
              <a:path w="4492625" h="768350">
                <a:moveTo>
                  <a:pt x="76197" y="0"/>
                </a:moveTo>
                <a:lnTo>
                  <a:pt x="4416428" y="0"/>
                </a:lnTo>
                <a:cubicBezTo>
                  <a:pt x="4458510" y="0"/>
                  <a:pt x="4492625" y="34115"/>
                  <a:pt x="4492625" y="76197"/>
                </a:cubicBezTo>
                <a:lnTo>
                  <a:pt x="4492625" y="692153"/>
                </a:lnTo>
                <a:cubicBezTo>
                  <a:pt x="4492625" y="734235"/>
                  <a:pt x="4458510" y="768350"/>
                  <a:pt x="4416428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69188" y="59944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0" name="Text 58"/>
          <p:cNvSpPr/>
          <p:nvPr/>
        </p:nvSpPr>
        <p:spPr>
          <a:xfrm>
            <a:off x="7769126" y="5861052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99.2% complete, minimal missing values, well-structured for 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3702050" cy="2178050"/>
          </a:xfrm>
          <a:custGeom>
            <a:avLst/>
            <a:gdLst/>
            <a:ahLst/>
            <a:cxnLst/>
            <a:rect l="l" t="t" r="r" b="b"/>
            <a:pathLst>
              <a:path w="3702050" h="2178050">
                <a:moveTo>
                  <a:pt x="76210" y="0"/>
                </a:moveTo>
                <a:lnTo>
                  <a:pt x="3625840" y="0"/>
                </a:lnTo>
                <a:cubicBezTo>
                  <a:pt x="3667930" y="0"/>
                  <a:pt x="3702050" y="34120"/>
                  <a:pt x="3702050" y="76210"/>
                </a:cubicBezTo>
                <a:lnTo>
                  <a:pt x="3702050" y="2101840"/>
                </a:lnTo>
                <a:cubicBezTo>
                  <a:pt x="3702050" y="2143930"/>
                  <a:pt x="3667930" y="2178050"/>
                  <a:pt x="3625840" y="2178050"/>
                </a:cubicBezTo>
                <a:lnTo>
                  <a:pt x="76210" y="2178050"/>
                </a:lnTo>
                <a:cubicBezTo>
                  <a:pt x="34120" y="2178050"/>
                  <a:pt x="0" y="2143930"/>
                  <a:pt x="0" y="2101840"/>
                </a:cubicBezTo>
                <a:lnTo>
                  <a:pt x="0" y="76210"/>
                </a:lnTo>
                <a:cubicBezTo>
                  <a:pt x="0" y="34120"/>
                  <a:pt x="34120" y="0"/>
                  <a:pt x="7621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750" y="14541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5875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111250" y="1549401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 Treatment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025651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5950" y="2101851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11438" y="210185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Imputation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482851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" y="2559053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9288" y="2559053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Imputation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2940053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5950" y="3016253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2627" y="3016253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175" y="3635377"/>
            <a:ext cx="3702050" cy="2749550"/>
          </a:xfrm>
          <a:custGeom>
            <a:avLst/>
            <a:gdLst/>
            <a:ahLst/>
            <a:cxnLst/>
            <a:rect l="l" t="t" r="r" b="b"/>
            <a:pathLst>
              <a:path w="3702050" h="2749550">
                <a:moveTo>
                  <a:pt x="76190" y="0"/>
                </a:moveTo>
                <a:lnTo>
                  <a:pt x="3625860" y="0"/>
                </a:lnTo>
                <a:cubicBezTo>
                  <a:pt x="3667910" y="0"/>
                  <a:pt x="3702050" y="34140"/>
                  <a:pt x="3702050" y="76190"/>
                </a:cubicBezTo>
                <a:lnTo>
                  <a:pt x="3702050" y="2673360"/>
                </a:lnTo>
                <a:cubicBezTo>
                  <a:pt x="3702050" y="2715410"/>
                  <a:pt x="3667910" y="2749550"/>
                  <a:pt x="3625860" y="2749550"/>
                </a:cubicBezTo>
                <a:lnTo>
                  <a:pt x="76190" y="2749550"/>
                </a:lnTo>
                <a:cubicBezTo>
                  <a:pt x="34140" y="2749550"/>
                  <a:pt x="0" y="2715410"/>
                  <a:pt x="0" y="2673360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750" y="3790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194" y="3924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1111250" y="38862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 Encoding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4362450"/>
            <a:ext cx="3390900" cy="571500"/>
          </a:xfrm>
          <a:custGeom>
            <a:avLst/>
            <a:gdLst/>
            <a:ahLst/>
            <a:cxnLst/>
            <a:rect l="l" t="t" r="r" b="b"/>
            <a:pathLst>
              <a:path w="3390900" h="57150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495302"/>
                </a:lnTo>
                <a:cubicBezTo>
                  <a:pt x="3390900" y="537385"/>
                  <a:pt x="3356785" y="571500"/>
                  <a:pt x="33147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5950" y="44386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5950" y="46672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categories (Yes/No, True/False)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750" y="5010150"/>
            <a:ext cx="3390900" cy="571500"/>
          </a:xfrm>
          <a:custGeom>
            <a:avLst/>
            <a:gdLst/>
            <a:ahLst/>
            <a:cxnLst/>
            <a:rect l="l" t="t" r="r" b="b"/>
            <a:pathLst>
              <a:path w="3390900" h="57150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495302"/>
                </a:lnTo>
                <a:cubicBezTo>
                  <a:pt x="3390900" y="537385"/>
                  <a:pt x="3356785" y="571500"/>
                  <a:pt x="33147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5950" y="50863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One-Hot Encoding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5950" y="53149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Nominal categories (Carrier, Category)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750" y="5657850"/>
            <a:ext cx="3390900" cy="571500"/>
          </a:xfrm>
          <a:custGeom>
            <a:avLst/>
            <a:gdLst/>
            <a:ahLst/>
            <a:cxnLst/>
            <a:rect l="l" t="t" r="r" b="b"/>
            <a:pathLst>
              <a:path w="3390900" h="57150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495302"/>
                </a:lnTo>
                <a:cubicBezTo>
                  <a:pt x="3390900" y="537385"/>
                  <a:pt x="3356785" y="571500"/>
                  <a:pt x="33147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5950" y="57340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Ordinal Encoding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5950" y="59626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Ordered categories (Priority: Low→Critical)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44975" y="1298575"/>
            <a:ext cx="3702050" cy="2825750"/>
          </a:xfrm>
          <a:custGeom>
            <a:avLst/>
            <a:gdLst/>
            <a:ahLst/>
            <a:cxnLst/>
            <a:rect l="l" t="t" r="r" b="b"/>
            <a:pathLst>
              <a:path w="3702050" h="2825750">
                <a:moveTo>
                  <a:pt x="76210" y="0"/>
                </a:moveTo>
                <a:lnTo>
                  <a:pt x="3625840" y="0"/>
                </a:lnTo>
                <a:cubicBezTo>
                  <a:pt x="3667929" y="0"/>
                  <a:pt x="3702050" y="34121"/>
                  <a:pt x="3702050" y="76210"/>
                </a:cubicBezTo>
                <a:lnTo>
                  <a:pt x="3702050" y="2749540"/>
                </a:lnTo>
                <a:cubicBezTo>
                  <a:pt x="3702050" y="2791629"/>
                  <a:pt x="3667929" y="2825750"/>
                  <a:pt x="3625840" y="2825750"/>
                </a:cubicBezTo>
                <a:lnTo>
                  <a:pt x="76210" y="2825750"/>
                </a:lnTo>
                <a:cubicBezTo>
                  <a:pt x="34121" y="2825750"/>
                  <a:pt x="0" y="2791629"/>
                  <a:pt x="0" y="27495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00550" y="14541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10088" y="158750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4972050" y="1549401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0075" y="2025651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19050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10075" y="2025651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1905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19050" y="685800"/>
                </a:lnTo>
                <a:cubicBezTo>
                  <a:pt x="8536" y="685800"/>
                  <a:pt x="0" y="677264"/>
                  <a:pt x="0" y="666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4533900" y="2139951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33900" y="2406651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to numerical features for normalization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0550" y="2787653"/>
            <a:ext cx="3390900" cy="762000"/>
          </a:xfrm>
          <a:custGeom>
            <a:avLst/>
            <a:gdLst/>
            <a:ahLst/>
            <a:cxnLst/>
            <a:rect l="l" t="t" r="r" b="b"/>
            <a:pathLst>
              <a:path w="3390900" h="762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685800"/>
                </a:lnTo>
                <a:cubicBezTo>
                  <a:pt x="3390900" y="727856"/>
                  <a:pt x="3356756" y="762000"/>
                  <a:pt x="33147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14850" y="29019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14850" y="3130553"/>
            <a:ext cx="3162300" cy="304800"/>
          </a:xfrm>
          <a:custGeom>
            <a:avLst/>
            <a:gdLst/>
            <a:ahLst/>
            <a:cxnLst/>
            <a:rect l="l" t="t" r="r" b="b"/>
            <a:pathLst>
              <a:path w="3162300" h="304800">
                <a:moveTo>
                  <a:pt x="38100" y="0"/>
                </a:moveTo>
                <a:lnTo>
                  <a:pt x="3124200" y="0"/>
                </a:lnTo>
                <a:cubicBezTo>
                  <a:pt x="3145228" y="0"/>
                  <a:pt x="3162300" y="17072"/>
                  <a:pt x="3162300" y="38100"/>
                </a:cubicBezTo>
                <a:lnTo>
                  <a:pt x="3162300" y="266700"/>
                </a:lnTo>
                <a:cubicBezTo>
                  <a:pt x="3162300" y="287728"/>
                  <a:pt x="3145228" y="304800"/>
                  <a:pt x="31242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14850" y="3130553"/>
            <a:ext cx="32385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 = (x - μ) / 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00550" y="3625853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76750" y="3702053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mean, unit variance distribution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44975" y="4283077"/>
            <a:ext cx="3702050" cy="2101850"/>
          </a:xfrm>
          <a:custGeom>
            <a:avLst/>
            <a:gdLst/>
            <a:ahLst/>
            <a:cxnLst/>
            <a:rect l="l" t="t" r="r" b="b"/>
            <a:pathLst>
              <a:path w="3702050" h="2101850">
                <a:moveTo>
                  <a:pt x="76192" y="0"/>
                </a:moveTo>
                <a:lnTo>
                  <a:pt x="3625858" y="0"/>
                </a:lnTo>
                <a:cubicBezTo>
                  <a:pt x="3667938" y="0"/>
                  <a:pt x="3702050" y="34112"/>
                  <a:pt x="3702050" y="76192"/>
                </a:cubicBezTo>
                <a:lnTo>
                  <a:pt x="3702050" y="2025658"/>
                </a:lnTo>
                <a:cubicBezTo>
                  <a:pt x="3702050" y="2067738"/>
                  <a:pt x="3667938" y="2101850"/>
                  <a:pt x="3625858" y="2101850"/>
                </a:cubicBezTo>
                <a:lnTo>
                  <a:pt x="76192" y="2101850"/>
                </a:lnTo>
                <a:cubicBezTo>
                  <a:pt x="34112" y="2101850"/>
                  <a:pt x="0" y="2067738"/>
                  <a:pt x="0" y="2025658"/>
                </a:cubicBezTo>
                <a:lnTo>
                  <a:pt x="0" y="76192"/>
                </a:lnTo>
                <a:cubicBezTo>
                  <a:pt x="0" y="34112"/>
                  <a:pt x="34112" y="0"/>
                  <a:pt x="761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0550" y="4438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33900" y="4572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4972050" y="45339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00550" y="5010150"/>
            <a:ext cx="1657350" cy="571500"/>
          </a:xfrm>
          <a:custGeom>
            <a:avLst/>
            <a:gdLst/>
            <a:ahLst/>
            <a:cxnLst/>
            <a:rect l="l" t="t" r="r" b="b"/>
            <a:pathLst>
              <a:path w="1657350" h="571500">
                <a:moveTo>
                  <a:pt x="76198" y="0"/>
                </a:moveTo>
                <a:lnTo>
                  <a:pt x="1581152" y="0"/>
                </a:lnTo>
                <a:cubicBezTo>
                  <a:pt x="1623235" y="0"/>
                  <a:pt x="1657350" y="34115"/>
                  <a:pt x="1657350" y="76198"/>
                </a:cubicBezTo>
                <a:lnTo>
                  <a:pt x="1657350" y="495302"/>
                </a:lnTo>
                <a:cubicBezTo>
                  <a:pt x="1657350" y="537385"/>
                  <a:pt x="1623235" y="571500"/>
                  <a:pt x="15811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133975" y="508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4443413" y="53149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 Detection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34100" y="5010150"/>
            <a:ext cx="1657350" cy="571500"/>
          </a:xfrm>
          <a:custGeom>
            <a:avLst/>
            <a:gdLst/>
            <a:ahLst/>
            <a:cxnLst/>
            <a:rect l="l" t="t" r="r" b="b"/>
            <a:pathLst>
              <a:path w="1657350" h="571500">
                <a:moveTo>
                  <a:pt x="76198" y="0"/>
                </a:moveTo>
                <a:lnTo>
                  <a:pt x="1581152" y="0"/>
                </a:lnTo>
                <a:cubicBezTo>
                  <a:pt x="1623235" y="0"/>
                  <a:pt x="1657350" y="34115"/>
                  <a:pt x="1657350" y="76198"/>
                </a:cubicBezTo>
                <a:lnTo>
                  <a:pt x="1657350" y="495302"/>
                </a:lnTo>
                <a:cubicBezTo>
                  <a:pt x="1657350" y="537385"/>
                  <a:pt x="1623235" y="571500"/>
                  <a:pt x="15811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67525" y="508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6176963" y="53149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Removal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00550" y="5657850"/>
            <a:ext cx="1657350" cy="571500"/>
          </a:xfrm>
          <a:custGeom>
            <a:avLst/>
            <a:gdLst/>
            <a:ahLst/>
            <a:cxnLst/>
            <a:rect l="l" t="t" r="r" b="b"/>
            <a:pathLst>
              <a:path w="1657350" h="571500">
                <a:moveTo>
                  <a:pt x="76198" y="0"/>
                </a:moveTo>
                <a:lnTo>
                  <a:pt x="1581152" y="0"/>
                </a:lnTo>
                <a:cubicBezTo>
                  <a:pt x="1623235" y="0"/>
                  <a:pt x="1657350" y="34115"/>
                  <a:pt x="1657350" y="76198"/>
                </a:cubicBezTo>
                <a:lnTo>
                  <a:pt x="1657350" y="495302"/>
                </a:lnTo>
                <a:cubicBezTo>
                  <a:pt x="1657350" y="537385"/>
                  <a:pt x="1623235" y="571500"/>
                  <a:pt x="15811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133975" y="573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4443413" y="59626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Validation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34100" y="5657850"/>
            <a:ext cx="1657350" cy="571500"/>
          </a:xfrm>
          <a:custGeom>
            <a:avLst/>
            <a:gdLst/>
            <a:ahLst/>
            <a:cxnLst/>
            <a:rect l="l" t="t" r="r" b="b"/>
            <a:pathLst>
              <a:path w="1657350" h="571500">
                <a:moveTo>
                  <a:pt x="76198" y="0"/>
                </a:moveTo>
                <a:lnTo>
                  <a:pt x="1581152" y="0"/>
                </a:lnTo>
                <a:cubicBezTo>
                  <a:pt x="1623235" y="0"/>
                  <a:pt x="1657350" y="34115"/>
                  <a:pt x="1657350" y="76198"/>
                </a:cubicBezTo>
                <a:lnTo>
                  <a:pt x="1657350" y="495302"/>
                </a:lnTo>
                <a:cubicBezTo>
                  <a:pt x="1657350" y="537385"/>
                  <a:pt x="1623235" y="571500"/>
                  <a:pt x="15811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867525" y="573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6176963" y="59626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 Checks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05775" y="1298575"/>
            <a:ext cx="3702050" cy="5178425"/>
          </a:xfrm>
          <a:custGeom>
            <a:avLst/>
            <a:gdLst/>
            <a:ahLst/>
            <a:cxnLst/>
            <a:rect l="l" t="t" r="r" b="b"/>
            <a:pathLst>
              <a:path w="3702050" h="5178425">
                <a:moveTo>
                  <a:pt x="76188" y="0"/>
                </a:moveTo>
                <a:lnTo>
                  <a:pt x="3625862" y="0"/>
                </a:lnTo>
                <a:cubicBezTo>
                  <a:pt x="3667939" y="0"/>
                  <a:pt x="3702050" y="34111"/>
                  <a:pt x="3702050" y="76188"/>
                </a:cubicBezTo>
                <a:lnTo>
                  <a:pt x="3702050" y="5102237"/>
                </a:lnTo>
                <a:cubicBezTo>
                  <a:pt x="3702050" y="5144314"/>
                  <a:pt x="3667939" y="5178425"/>
                  <a:pt x="3625862" y="5178425"/>
                </a:cubicBezTo>
                <a:lnTo>
                  <a:pt x="76188" y="5178425"/>
                </a:lnTo>
                <a:cubicBezTo>
                  <a:pt x="34111" y="5178425"/>
                  <a:pt x="0" y="5144314"/>
                  <a:pt x="0" y="5102237"/>
                </a:cubicBezTo>
                <a:lnTo>
                  <a:pt x="0" y="76188"/>
                </a:lnTo>
                <a:cubicBezTo>
                  <a:pt x="0" y="34111"/>
                  <a:pt x="34111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85163" y="14922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2" name="Text 60"/>
          <p:cNvSpPr/>
          <p:nvPr/>
        </p:nvSpPr>
        <p:spPr>
          <a:xfrm>
            <a:off x="8499475" y="1454151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Workflow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61350" y="19685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427641" y="2044701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756650" y="1873251"/>
            <a:ext cx="2895600" cy="571500"/>
          </a:xfrm>
          <a:custGeom>
            <a:avLst/>
            <a:gdLst/>
            <a:ahLst/>
            <a:cxnLst/>
            <a:rect l="l" t="t" r="r" b="b"/>
            <a:pathLst>
              <a:path w="2895600" h="571500">
                <a:moveTo>
                  <a:pt x="76198" y="0"/>
                </a:moveTo>
                <a:lnTo>
                  <a:pt x="2819402" y="0"/>
                </a:lnTo>
                <a:cubicBezTo>
                  <a:pt x="2861485" y="0"/>
                  <a:pt x="2895600" y="34115"/>
                  <a:pt x="2895600" y="76198"/>
                </a:cubicBezTo>
                <a:lnTo>
                  <a:pt x="2895600" y="495302"/>
                </a:lnTo>
                <a:cubicBezTo>
                  <a:pt x="2895600" y="537385"/>
                  <a:pt x="2861485" y="571500"/>
                  <a:pt x="2819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832850" y="1949451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Ingestion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32850" y="2178051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10,999 records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899650" y="25590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9" name="Shape 67"/>
          <p:cNvSpPr/>
          <p:nvPr/>
        </p:nvSpPr>
        <p:spPr>
          <a:xfrm>
            <a:off x="8261350" y="29210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413056" y="299720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756650" y="2825753"/>
            <a:ext cx="2895600" cy="571500"/>
          </a:xfrm>
          <a:custGeom>
            <a:avLst/>
            <a:gdLst/>
            <a:ahLst/>
            <a:cxnLst/>
            <a:rect l="l" t="t" r="r" b="b"/>
            <a:pathLst>
              <a:path w="2895600" h="571500">
                <a:moveTo>
                  <a:pt x="76198" y="0"/>
                </a:moveTo>
                <a:lnTo>
                  <a:pt x="2819402" y="0"/>
                </a:lnTo>
                <a:cubicBezTo>
                  <a:pt x="2861485" y="0"/>
                  <a:pt x="2895600" y="34115"/>
                  <a:pt x="2895600" y="76198"/>
                </a:cubicBezTo>
                <a:lnTo>
                  <a:pt x="2895600" y="495302"/>
                </a:lnTo>
                <a:cubicBezTo>
                  <a:pt x="2895600" y="537385"/>
                  <a:pt x="2861485" y="571500"/>
                  <a:pt x="2819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832850" y="29019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 Treatment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832850" y="3130553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 applied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899650" y="35115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5" name="Shape 73"/>
          <p:cNvSpPr/>
          <p:nvPr/>
        </p:nvSpPr>
        <p:spPr>
          <a:xfrm>
            <a:off x="8261350" y="38735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411071" y="3949703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756650" y="3778253"/>
            <a:ext cx="2895600" cy="571500"/>
          </a:xfrm>
          <a:custGeom>
            <a:avLst/>
            <a:gdLst/>
            <a:ahLst/>
            <a:cxnLst/>
            <a:rect l="l" t="t" r="r" b="b"/>
            <a:pathLst>
              <a:path w="2895600" h="571500">
                <a:moveTo>
                  <a:pt x="76198" y="0"/>
                </a:moveTo>
                <a:lnTo>
                  <a:pt x="2819402" y="0"/>
                </a:lnTo>
                <a:cubicBezTo>
                  <a:pt x="2861485" y="0"/>
                  <a:pt x="2895600" y="34115"/>
                  <a:pt x="2895600" y="76198"/>
                </a:cubicBezTo>
                <a:lnTo>
                  <a:pt x="2895600" y="495302"/>
                </a:lnTo>
                <a:cubicBezTo>
                  <a:pt x="2895600" y="537385"/>
                  <a:pt x="2861485" y="571500"/>
                  <a:pt x="2819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8832850" y="38544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32850" y="4083053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derived features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899650" y="44640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1" name="Shape 79"/>
          <p:cNvSpPr/>
          <p:nvPr/>
        </p:nvSpPr>
        <p:spPr>
          <a:xfrm>
            <a:off x="8261350" y="48260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8413056" y="490220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756650" y="4730753"/>
            <a:ext cx="2895600" cy="571500"/>
          </a:xfrm>
          <a:custGeom>
            <a:avLst/>
            <a:gdLst/>
            <a:ahLst/>
            <a:cxnLst/>
            <a:rect l="l" t="t" r="r" b="b"/>
            <a:pathLst>
              <a:path w="2895600" h="571500">
                <a:moveTo>
                  <a:pt x="76198" y="0"/>
                </a:moveTo>
                <a:lnTo>
                  <a:pt x="2819402" y="0"/>
                </a:lnTo>
                <a:cubicBezTo>
                  <a:pt x="2861485" y="0"/>
                  <a:pt x="2895600" y="34115"/>
                  <a:pt x="2895600" y="76198"/>
                </a:cubicBezTo>
                <a:lnTo>
                  <a:pt x="2895600" y="495302"/>
                </a:lnTo>
                <a:cubicBezTo>
                  <a:pt x="2895600" y="537385"/>
                  <a:pt x="2861485" y="571500"/>
                  <a:pt x="2819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8832850" y="48069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 &amp; Scaling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832850" y="5035553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ML-ready format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Imbalance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Class Distribution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6350000" cy="5178425"/>
          </a:xfrm>
          <a:custGeom>
            <a:avLst/>
            <a:gdLst/>
            <a:ahLst/>
            <a:cxnLst/>
            <a:rect l="l" t="t" r="r" b="b"/>
            <a:pathLst>
              <a:path w="6350000" h="5178425">
                <a:moveTo>
                  <a:pt x="76175" y="0"/>
                </a:moveTo>
                <a:lnTo>
                  <a:pt x="6273825" y="0"/>
                </a:lnTo>
                <a:cubicBezTo>
                  <a:pt x="6315895" y="0"/>
                  <a:pt x="6350000" y="34105"/>
                  <a:pt x="6350000" y="76175"/>
                </a:cubicBezTo>
                <a:lnTo>
                  <a:pt x="6350000" y="5102250"/>
                </a:lnTo>
                <a:cubicBezTo>
                  <a:pt x="6350000" y="5144320"/>
                  <a:pt x="6315895" y="5178425"/>
                  <a:pt x="6273825" y="5178425"/>
                </a:cubicBezTo>
                <a:lnTo>
                  <a:pt x="76175" y="5178425"/>
                </a:lnTo>
                <a:cubicBezTo>
                  <a:pt x="34105" y="5178425"/>
                  <a:pt x="0" y="5144320"/>
                  <a:pt x="0" y="5102250"/>
                </a:cubicBezTo>
                <a:lnTo>
                  <a:pt x="0" y="76175"/>
                </a:lnTo>
                <a:cubicBezTo>
                  <a:pt x="0" y="34133"/>
                  <a:pt x="34133" y="0"/>
                  <a:pt x="7617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56" y="15303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815975" y="1492253"/>
            <a:ext cx="581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Risk Class Distribution</a:t>
            </a:r>
            <a:endParaRPr lang="en-US" sz="1600" dirty="0"/>
          </a:p>
        </p:txBody>
      </p:sp>
      <p:pic>
        <p:nvPicPr>
          <p:cNvPr id="7" name="Image 0" descr="https://kimi-img.moonshot.cn/pub/slides/26-02-21-04:04:46-d6cbsngc86s9s00u87qg.png"/>
          <p:cNvPicPr>
            <a:picLocks noChangeAspect="1"/>
          </p:cNvPicPr>
          <p:nvPr/>
        </p:nvPicPr>
        <p:blipFill>
          <a:blip r:embed="rId3"/>
          <a:srcRect l="44" r="44"/>
          <a:stretch/>
        </p:blipFill>
        <p:spPr>
          <a:xfrm>
            <a:off x="577850" y="1873253"/>
            <a:ext cx="5962650" cy="3590925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81025" y="5584825"/>
            <a:ext cx="5959475" cy="692150"/>
          </a:xfrm>
          <a:custGeom>
            <a:avLst/>
            <a:gdLst/>
            <a:ahLst/>
            <a:cxnLst/>
            <a:rect l="l" t="t" r="r" b="b"/>
            <a:pathLst>
              <a:path w="5959475" h="692150">
                <a:moveTo>
                  <a:pt x="76199" y="0"/>
                </a:moveTo>
                <a:lnTo>
                  <a:pt x="5883276" y="0"/>
                </a:lnTo>
                <a:cubicBezTo>
                  <a:pt x="5925360" y="0"/>
                  <a:pt x="5959475" y="34115"/>
                  <a:pt x="5959475" y="76199"/>
                </a:cubicBezTo>
                <a:lnTo>
                  <a:pt x="5959475" y="615951"/>
                </a:lnTo>
                <a:cubicBezTo>
                  <a:pt x="5959475" y="658035"/>
                  <a:pt x="5925360" y="692150"/>
                  <a:pt x="588327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7550" y="5734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946150" y="5702303"/>
            <a:ext cx="5553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Severe class imbalance with On-Time deliveries dominating the dataset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33605" y="1298575"/>
            <a:ext cx="4873625" cy="3606800"/>
          </a:xfrm>
          <a:custGeom>
            <a:avLst/>
            <a:gdLst/>
            <a:ahLst/>
            <a:cxnLst/>
            <a:rect l="l" t="t" r="r" b="b"/>
            <a:pathLst>
              <a:path w="4873625" h="3606800">
                <a:moveTo>
                  <a:pt x="76212" y="0"/>
                </a:moveTo>
                <a:lnTo>
                  <a:pt x="4797413" y="0"/>
                </a:lnTo>
                <a:cubicBezTo>
                  <a:pt x="4839504" y="0"/>
                  <a:pt x="4873625" y="34121"/>
                  <a:pt x="4873625" y="76212"/>
                </a:cubicBezTo>
                <a:lnTo>
                  <a:pt x="4873625" y="3530588"/>
                </a:lnTo>
                <a:cubicBezTo>
                  <a:pt x="4873625" y="3572679"/>
                  <a:pt x="4839504" y="3606800"/>
                  <a:pt x="4797413" y="3606800"/>
                </a:cubicBezTo>
                <a:lnTo>
                  <a:pt x="76212" y="3606800"/>
                </a:lnTo>
                <a:cubicBezTo>
                  <a:pt x="34121" y="3606800"/>
                  <a:pt x="0" y="3572679"/>
                  <a:pt x="0" y="3530588"/>
                </a:cubicBezTo>
                <a:lnTo>
                  <a:pt x="0" y="76212"/>
                </a:lnTo>
                <a:cubicBezTo>
                  <a:pt x="0" y="34121"/>
                  <a:pt x="34121" y="0"/>
                  <a:pt x="7621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9180" y="1454153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Breakdown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08230" y="1835153"/>
            <a:ext cx="4543425" cy="895350"/>
          </a:xfrm>
          <a:custGeom>
            <a:avLst/>
            <a:gdLst/>
            <a:ahLst/>
            <a:cxnLst/>
            <a:rect l="l" t="t" r="r" b="b"/>
            <a:pathLst>
              <a:path w="4543425" h="895350">
                <a:moveTo>
                  <a:pt x="0" y="0"/>
                </a:moveTo>
                <a:lnTo>
                  <a:pt x="4467222" y="0"/>
                </a:lnTo>
                <a:cubicBezTo>
                  <a:pt x="4509308" y="0"/>
                  <a:pt x="4543425" y="34117"/>
                  <a:pt x="4543425" y="76203"/>
                </a:cubicBezTo>
                <a:lnTo>
                  <a:pt x="4543425" y="819147"/>
                </a:lnTo>
                <a:cubicBezTo>
                  <a:pt x="4543425" y="861233"/>
                  <a:pt x="4509308" y="895350"/>
                  <a:pt x="4467222" y="895350"/>
                </a:cubicBez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108230" y="1835153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7241580" y="1968503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37293" y="1949453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6,820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41580" y="2292353"/>
            <a:ext cx="4295775" cy="95250"/>
          </a:xfrm>
          <a:custGeom>
            <a:avLst/>
            <a:gdLst/>
            <a:ahLst/>
            <a:cxnLst/>
            <a:rect l="l" t="t" r="r" b="b"/>
            <a:pathLst>
              <a:path w="4295775" h="95250">
                <a:moveTo>
                  <a:pt x="47625" y="0"/>
                </a:moveTo>
                <a:lnTo>
                  <a:pt x="4248150" y="0"/>
                </a:lnTo>
                <a:cubicBezTo>
                  <a:pt x="4274435" y="0"/>
                  <a:pt x="4295775" y="21340"/>
                  <a:pt x="4295775" y="47625"/>
                </a:cubicBezTo>
                <a:lnTo>
                  <a:pt x="4295775" y="47625"/>
                </a:lnTo>
                <a:cubicBezTo>
                  <a:pt x="4295775" y="73910"/>
                  <a:pt x="4274435" y="95250"/>
                  <a:pt x="42481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8" name="Shape 15"/>
          <p:cNvSpPr/>
          <p:nvPr/>
        </p:nvSpPr>
        <p:spPr>
          <a:xfrm>
            <a:off x="7241580" y="2292353"/>
            <a:ext cx="2667000" cy="95250"/>
          </a:xfrm>
          <a:custGeom>
            <a:avLst/>
            <a:gdLst/>
            <a:ahLst/>
            <a:cxnLst/>
            <a:rect l="l" t="t" r="r" b="b"/>
            <a:pathLst>
              <a:path w="2667000" h="95250">
                <a:moveTo>
                  <a:pt x="47625" y="0"/>
                </a:moveTo>
                <a:lnTo>
                  <a:pt x="2619375" y="0"/>
                </a:lnTo>
                <a:cubicBezTo>
                  <a:pt x="2645660" y="0"/>
                  <a:pt x="2667000" y="21340"/>
                  <a:pt x="2667000" y="47625"/>
                </a:cubicBezTo>
                <a:lnTo>
                  <a:pt x="2667000" y="47625"/>
                </a:lnTo>
                <a:cubicBezTo>
                  <a:pt x="2667000" y="73910"/>
                  <a:pt x="2645660" y="95250"/>
                  <a:pt x="26193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7241580" y="2425703"/>
            <a:ext cx="436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62.0% of total records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108230" y="2844803"/>
            <a:ext cx="4543425" cy="895350"/>
          </a:xfrm>
          <a:custGeom>
            <a:avLst/>
            <a:gdLst/>
            <a:ahLst/>
            <a:cxnLst/>
            <a:rect l="l" t="t" r="r" b="b"/>
            <a:pathLst>
              <a:path w="4543425" h="895350">
                <a:moveTo>
                  <a:pt x="0" y="0"/>
                </a:moveTo>
                <a:lnTo>
                  <a:pt x="4467222" y="0"/>
                </a:lnTo>
                <a:cubicBezTo>
                  <a:pt x="4509308" y="0"/>
                  <a:pt x="4543425" y="34117"/>
                  <a:pt x="4543425" y="76203"/>
                </a:cubicBezTo>
                <a:lnTo>
                  <a:pt x="4543425" y="819147"/>
                </a:lnTo>
                <a:cubicBezTo>
                  <a:pt x="4543425" y="861233"/>
                  <a:pt x="4509308" y="895350"/>
                  <a:pt x="4467222" y="895350"/>
                </a:cubicBez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108230" y="2844803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7241580" y="2978153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Risk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39575" y="2959103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2,450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41580" y="3302003"/>
            <a:ext cx="4295775" cy="95250"/>
          </a:xfrm>
          <a:custGeom>
            <a:avLst/>
            <a:gdLst/>
            <a:ahLst/>
            <a:cxnLst/>
            <a:rect l="l" t="t" r="r" b="b"/>
            <a:pathLst>
              <a:path w="4295775" h="95250">
                <a:moveTo>
                  <a:pt x="47625" y="0"/>
                </a:moveTo>
                <a:lnTo>
                  <a:pt x="4248150" y="0"/>
                </a:lnTo>
                <a:cubicBezTo>
                  <a:pt x="4274435" y="0"/>
                  <a:pt x="4295775" y="21340"/>
                  <a:pt x="4295775" y="47625"/>
                </a:cubicBezTo>
                <a:lnTo>
                  <a:pt x="4295775" y="47625"/>
                </a:lnTo>
                <a:cubicBezTo>
                  <a:pt x="4295775" y="73910"/>
                  <a:pt x="4274435" y="95250"/>
                  <a:pt x="42481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5" name="Shape 22"/>
          <p:cNvSpPr/>
          <p:nvPr/>
        </p:nvSpPr>
        <p:spPr>
          <a:xfrm>
            <a:off x="7241580" y="3302003"/>
            <a:ext cx="962025" cy="95250"/>
          </a:xfrm>
          <a:custGeom>
            <a:avLst/>
            <a:gdLst/>
            <a:ahLst/>
            <a:cxnLst/>
            <a:rect l="l" t="t" r="r" b="b"/>
            <a:pathLst>
              <a:path w="962025" h="95250">
                <a:moveTo>
                  <a:pt x="47625" y="0"/>
                </a:moveTo>
                <a:lnTo>
                  <a:pt x="914400" y="0"/>
                </a:lnTo>
                <a:cubicBezTo>
                  <a:pt x="940685" y="0"/>
                  <a:pt x="962025" y="21340"/>
                  <a:pt x="962025" y="47625"/>
                </a:cubicBezTo>
                <a:lnTo>
                  <a:pt x="962025" y="47625"/>
                </a:lnTo>
                <a:cubicBezTo>
                  <a:pt x="962025" y="73910"/>
                  <a:pt x="940685" y="95250"/>
                  <a:pt x="9144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7241580" y="3435353"/>
            <a:ext cx="436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22.3% of total records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08230" y="3854453"/>
            <a:ext cx="4543425" cy="895350"/>
          </a:xfrm>
          <a:custGeom>
            <a:avLst/>
            <a:gdLst/>
            <a:ahLst/>
            <a:cxnLst/>
            <a:rect l="l" t="t" r="r" b="b"/>
            <a:pathLst>
              <a:path w="4543425" h="895350">
                <a:moveTo>
                  <a:pt x="0" y="0"/>
                </a:moveTo>
                <a:lnTo>
                  <a:pt x="4467222" y="0"/>
                </a:lnTo>
                <a:cubicBezTo>
                  <a:pt x="4509308" y="0"/>
                  <a:pt x="4543425" y="34117"/>
                  <a:pt x="4543425" y="76203"/>
                </a:cubicBezTo>
                <a:lnTo>
                  <a:pt x="4543425" y="819147"/>
                </a:lnTo>
                <a:cubicBezTo>
                  <a:pt x="4543425" y="861233"/>
                  <a:pt x="4509308" y="895350"/>
                  <a:pt x="4467222" y="895350"/>
                </a:cubicBez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108230" y="3854453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7241580" y="3987803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105158" y="3968753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1,729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241580" y="4311653"/>
            <a:ext cx="4295775" cy="95250"/>
          </a:xfrm>
          <a:custGeom>
            <a:avLst/>
            <a:gdLst/>
            <a:ahLst/>
            <a:cxnLst/>
            <a:rect l="l" t="t" r="r" b="b"/>
            <a:pathLst>
              <a:path w="4295775" h="95250">
                <a:moveTo>
                  <a:pt x="47625" y="0"/>
                </a:moveTo>
                <a:lnTo>
                  <a:pt x="4248150" y="0"/>
                </a:lnTo>
                <a:cubicBezTo>
                  <a:pt x="4274435" y="0"/>
                  <a:pt x="4295775" y="21340"/>
                  <a:pt x="4295775" y="47625"/>
                </a:cubicBezTo>
                <a:lnTo>
                  <a:pt x="4295775" y="47625"/>
                </a:lnTo>
                <a:cubicBezTo>
                  <a:pt x="4295775" y="73910"/>
                  <a:pt x="4274435" y="95250"/>
                  <a:pt x="42481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2" name="Shape 29"/>
          <p:cNvSpPr/>
          <p:nvPr/>
        </p:nvSpPr>
        <p:spPr>
          <a:xfrm>
            <a:off x="7241580" y="4311653"/>
            <a:ext cx="676275" cy="95250"/>
          </a:xfrm>
          <a:custGeom>
            <a:avLst/>
            <a:gdLst/>
            <a:ahLst/>
            <a:cxnLst/>
            <a:rect l="l" t="t" r="r" b="b"/>
            <a:pathLst>
              <a:path w="676275" h="95250">
                <a:moveTo>
                  <a:pt x="47625" y="0"/>
                </a:moveTo>
                <a:lnTo>
                  <a:pt x="628650" y="0"/>
                </a:lnTo>
                <a:cubicBezTo>
                  <a:pt x="654935" y="0"/>
                  <a:pt x="676275" y="21340"/>
                  <a:pt x="676275" y="47625"/>
                </a:cubicBezTo>
                <a:lnTo>
                  <a:pt x="676275" y="47625"/>
                </a:lnTo>
                <a:cubicBezTo>
                  <a:pt x="676275" y="73910"/>
                  <a:pt x="654935" y="95250"/>
                  <a:pt x="6286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7241580" y="4445003"/>
            <a:ext cx="436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15.7% of total records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33605" y="5064127"/>
            <a:ext cx="4873625" cy="1397000"/>
          </a:xfrm>
          <a:custGeom>
            <a:avLst/>
            <a:gdLst/>
            <a:ahLst/>
            <a:cxnLst/>
            <a:rect l="l" t="t" r="r" b="b"/>
            <a:pathLst>
              <a:path w="4873625" h="1397000">
                <a:moveTo>
                  <a:pt x="76206" y="0"/>
                </a:moveTo>
                <a:lnTo>
                  <a:pt x="4797419" y="0"/>
                </a:lnTo>
                <a:cubicBezTo>
                  <a:pt x="4839506" y="0"/>
                  <a:pt x="4873625" y="34119"/>
                  <a:pt x="4873625" y="76206"/>
                </a:cubicBezTo>
                <a:lnTo>
                  <a:pt x="4873625" y="1320794"/>
                </a:lnTo>
                <a:cubicBezTo>
                  <a:pt x="4873625" y="1362881"/>
                  <a:pt x="4839506" y="1397000"/>
                  <a:pt x="4797419" y="1397000"/>
                </a:cubicBezTo>
                <a:lnTo>
                  <a:pt x="76206" y="1397000"/>
                </a:lnTo>
                <a:cubicBezTo>
                  <a:pt x="34119" y="1397000"/>
                  <a:pt x="0" y="1362881"/>
                  <a:pt x="0" y="1320794"/>
                </a:cubicBezTo>
                <a:lnTo>
                  <a:pt x="0" y="76206"/>
                </a:lnTo>
                <a:cubicBezTo>
                  <a:pt x="0" y="34119"/>
                  <a:pt x="34119" y="0"/>
                  <a:pt x="76206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8467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12993" y="5267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6" name="Text 33"/>
          <p:cNvSpPr/>
          <p:nvPr/>
        </p:nvSpPr>
        <p:spPr>
          <a:xfrm>
            <a:off x="7308255" y="5219700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Imbalance Challenge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89180" y="5562600"/>
            <a:ext cx="46386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4:1 ratio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On-Time and Delayed classes creates bias toward majority class. Standard training would yield high accuracy but poor recall for minority classes.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77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kern="0" spc="54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614723"/>
            <a:ext cx="1171388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7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Handling Class Imbalance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359" y="1163989"/>
            <a:ext cx="5657725" cy="3147608"/>
          </a:xfrm>
          <a:custGeom>
            <a:avLst/>
            <a:gdLst/>
            <a:ahLst/>
            <a:cxnLst/>
            <a:rect l="l" t="t" r="r" b="b"/>
            <a:pathLst>
              <a:path w="5657725" h="3147608">
                <a:moveTo>
                  <a:pt x="68303" y="0"/>
                </a:moveTo>
                <a:lnTo>
                  <a:pt x="5589422" y="0"/>
                </a:lnTo>
                <a:cubicBezTo>
                  <a:pt x="5627145" y="0"/>
                  <a:pt x="5657725" y="30580"/>
                  <a:pt x="5657725" y="68303"/>
                </a:cubicBezTo>
                <a:lnTo>
                  <a:pt x="5657725" y="3079305"/>
                </a:lnTo>
                <a:cubicBezTo>
                  <a:pt x="5657725" y="3117028"/>
                  <a:pt x="5627145" y="3147608"/>
                  <a:pt x="5589422" y="3147608"/>
                </a:cubicBezTo>
                <a:lnTo>
                  <a:pt x="68303" y="3147608"/>
                </a:lnTo>
                <a:cubicBezTo>
                  <a:pt x="30580" y="3147608"/>
                  <a:pt x="0" y="3117028"/>
                  <a:pt x="0" y="3079305"/>
                </a:cubicBezTo>
                <a:lnTo>
                  <a:pt x="0" y="68303"/>
                </a:lnTo>
                <a:cubicBezTo>
                  <a:pt x="0" y="30606"/>
                  <a:pt x="30606" y="0"/>
                  <a:pt x="683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961" y="1337594"/>
            <a:ext cx="478118" cy="478118"/>
          </a:xfrm>
          <a:custGeom>
            <a:avLst/>
            <a:gdLst/>
            <a:ahLst/>
            <a:cxnLst/>
            <a:rect l="l" t="t" r="r" b="b"/>
            <a:pathLst>
              <a:path w="478118" h="478118">
                <a:moveTo>
                  <a:pt x="68304" y="0"/>
                </a:moveTo>
                <a:lnTo>
                  <a:pt x="409814" y="0"/>
                </a:lnTo>
                <a:cubicBezTo>
                  <a:pt x="447537" y="0"/>
                  <a:pt x="478118" y="30581"/>
                  <a:pt x="478118" y="68304"/>
                </a:cubicBezTo>
                <a:lnTo>
                  <a:pt x="478118" y="409814"/>
                </a:lnTo>
                <a:cubicBezTo>
                  <a:pt x="478118" y="447537"/>
                  <a:pt x="447537" y="478118"/>
                  <a:pt x="409814" y="478118"/>
                </a:cubicBezTo>
                <a:lnTo>
                  <a:pt x="68304" y="478118"/>
                </a:lnTo>
                <a:cubicBezTo>
                  <a:pt x="30581" y="478118"/>
                  <a:pt x="0" y="447537"/>
                  <a:pt x="0" y="409814"/>
                </a:cubicBezTo>
                <a:lnTo>
                  <a:pt x="0" y="68304"/>
                </a:lnTo>
                <a:cubicBezTo>
                  <a:pt x="0" y="30606"/>
                  <a:pt x="30606" y="0"/>
                  <a:pt x="683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4566" y="1474199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61605" y="13767"/>
                </a:moveTo>
                <a:cubicBezTo>
                  <a:pt x="166407" y="11766"/>
                  <a:pt x="171890" y="12887"/>
                  <a:pt x="175572" y="16529"/>
                </a:cubicBezTo>
                <a:lnTo>
                  <a:pt x="201186" y="42142"/>
                </a:lnTo>
                <a:cubicBezTo>
                  <a:pt x="203587" y="44543"/>
                  <a:pt x="204948" y="47785"/>
                  <a:pt x="204948" y="51187"/>
                </a:cubicBezTo>
                <a:cubicBezTo>
                  <a:pt x="204948" y="54589"/>
                  <a:pt x="203587" y="57830"/>
                  <a:pt x="201186" y="60232"/>
                </a:cubicBezTo>
                <a:lnTo>
                  <a:pt x="175572" y="85845"/>
                </a:lnTo>
                <a:cubicBezTo>
                  <a:pt x="171890" y="89527"/>
                  <a:pt x="166407" y="90608"/>
                  <a:pt x="161605" y="88607"/>
                </a:cubicBezTo>
                <a:cubicBezTo>
                  <a:pt x="156802" y="86605"/>
                  <a:pt x="153681" y="82003"/>
                  <a:pt x="153681" y="76840"/>
                </a:cubicBezTo>
                <a:lnTo>
                  <a:pt x="153681" y="64034"/>
                </a:lnTo>
                <a:lnTo>
                  <a:pt x="140874" y="64034"/>
                </a:lnTo>
                <a:cubicBezTo>
                  <a:pt x="136832" y="64034"/>
                  <a:pt x="133030" y="65915"/>
                  <a:pt x="130629" y="69156"/>
                </a:cubicBezTo>
                <a:lnTo>
                  <a:pt x="117662" y="86445"/>
                </a:lnTo>
                <a:lnTo>
                  <a:pt x="101653" y="65114"/>
                </a:lnTo>
                <a:lnTo>
                  <a:pt x="110138" y="53788"/>
                </a:lnTo>
                <a:cubicBezTo>
                  <a:pt x="117382" y="44103"/>
                  <a:pt x="128788" y="38420"/>
                  <a:pt x="140874" y="38420"/>
                </a:cubicBezTo>
                <a:lnTo>
                  <a:pt x="153681" y="38420"/>
                </a:lnTo>
                <a:lnTo>
                  <a:pt x="153681" y="25613"/>
                </a:lnTo>
                <a:cubicBezTo>
                  <a:pt x="153681" y="20451"/>
                  <a:pt x="156802" y="15768"/>
                  <a:pt x="161605" y="13767"/>
                </a:cubicBezTo>
                <a:close/>
                <a:moveTo>
                  <a:pt x="61632" y="118462"/>
                </a:moveTo>
                <a:lnTo>
                  <a:pt x="77641" y="139793"/>
                </a:lnTo>
                <a:lnTo>
                  <a:pt x="69156" y="151119"/>
                </a:lnTo>
                <a:cubicBezTo>
                  <a:pt x="61912" y="160804"/>
                  <a:pt x="50507" y="166487"/>
                  <a:pt x="38420" y="166487"/>
                </a:cubicBezTo>
                <a:lnTo>
                  <a:pt x="12807" y="166487"/>
                </a:lnTo>
                <a:cubicBezTo>
                  <a:pt x="5723" y="166487"/>
                  <a:pt x="0" y="160764"/>
                  <a:pt x="0" y="153681"/>
                </a:cubicBezTo>
                <a:cubicBezTo>
                  <a:pt x="0" y="146597"/>
                  <a:pt x="5723" y="140874"/>
                  <a:pt x="12807" y="140874"/>
                </a:cubicBezTo>
                <a:lnTo>
                  <a:pt x="38420" y="140874"/>
                </a:lnTo>
                <a:cubicBezTo>
                  <a:pt x="42462" y="140874"/>
                  <a:pt x="46264" y="138993"/>
                  <a:pt x="48666" y="135751"/>
                </a:cubicBezTo>
                <a:lnTo>
                  <a:pt x="61632" y="118462"/>
                </a:lnTo>
                <a:close/>
                <a:moveTo>
                  <a:pt x="175532" y="188339"/>
                </a:moveTo>
                <a:cubicBezTo>
                  <a:pt x="171850" y="192021"/>
                  <a:pt x="166367" y="193101"/>
                  <a:pt x="161565" y="191100"/>
                </a:cubicBezTo>
                <a:cubicBezTo>
                  <a:pt x="156762" y="189099"/>
                  <a:pt x="153681" y="184457"/>
                  <a:pt x="153681" y="179294"/>
                </a:cubicBezTo>
                <a:lnTo>
                  <a:pt x="153681" y="166487"/>
                </a:lnTo>
                <a:lnTo>
                  <a:pt x="140874" y="166487"/>
                </a:lnTo>
                <a:cubicBezTo>
                  <a:pt x="128788" y="166487"/>
                  <a:pt x="117382" y="160804"/>
                  <a:pt x="110138" y="151119"/>
                </a:cubicBezTo>
                <a:lnTo>
                  <a:pt x="48666" y="69156"/>
                </a:lnTo>
                <a:cubicBezTo>
                  <a:pt x="46264" y="65915"/>
                  <a:pt x="42462" y="64034"/>
                  <a:pt x="38420" y="64034"/>
                </a:cubicBezTo>
                <a:lnTo>
                  <a:pt x="12807" y="64034"/>
                </a:lnTo>
                <a:cubicBezTo>
                  <a:pt x="5723" y="64034"/>
                  <a:pt x="0" y="58311"/>
                  <a:pt x="0" y="51227"/>
                </a:cubicBezTo>
                <a:cubicBezTo>
                  <a:pt x="0" y="44143"/>
                  <a:pt x="5723" y="38420"/>
                  <a:pt x="12807" y="38420"/>
                </a:cubicBezTo>
                <a:lnTo>
                  <a:pt x="38420" y="38420"/>
                </a:lnTo>
                <a:cubicBezTo>
                  <a:pt x="50507" y="38420"/>
                  <a:pt x="61912" y="44103"/>
                  <a:pt x="69156" y="53788"/>
                </a:cubicBezTo>
                <a:lnTo>
                  <a:pt x="130629" y="135751"/>
                </a:lnTo>
                <a:cubicBezTo>
                  <a:pt x="133030" y="138993"/>
                  <a:pt x="136832" y="140874"/>
                  <a:pt x="140874" y="140874"/>
                </a:cubicBezTo>
                <a:lnTo>
                  <a:pt x="153681" y="140874"/>
                </a:lnTo>
                <a:lnTo>
                  <a:pt x="153681" y="128067"/>
                </a:lnTo>
                <a:cubicBezTo>
                  <a:pt x="153681" y="122905"/>
                  <a:pt x="156802" y="118222"/>
                  <a:pt x="161605" y="116221"/>
                </a:cubicBezTo>
                <a:cubicBezTo>
                  <a:pt x="166407" y="114220"/>
                  <a:pt x="171890" y="115341"/>
                  <a:pt x="175572" y="118982"/>
                </a:cubicBezTo>
                <a:lnTo>
                  <a:pt x="201186" y="144596"/>
                </a:lnTo>
                <a:cubicBezTo>
                  <a:pt x="203587" y="146997"/>
                  <a:pt x="204948" y="150239"/>
                  <a:pt x="204948" y="153641"/>
                </a:cubicBezTo>
                <a:cubicBezTo>
                  <a:pt x="204948" y="157042"/>
                  <a:pt x="203587" y="160284"/>
                  <a:pt x="201186" y="162685"/>
                </a:cubicBezTo>
                <a:lnTo>
                  <a:pt x="175572" y="18829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098532" y="1440048"/>
            <a:ext cx="1801479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Technique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7961" y="1952317"/>
            <a:ext cx="5378824" cy="443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 Minority Over-sampling Technique</a:t>
            </a: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synthetic samples for minority classes by interpolating between existing samples and their k-nearest neighbors.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7961" y="2532888"/>
            <a:ext cx="5310521" cy="1605109"/>
          </a:xfrm>
          <a:custGeom>
            <a:avLst/>
            <a:gdLst/>
            <a:ahLst/>
            <a:cxnLst/>
            <a:rect l="l" t="t" r="r" b="b"/>
            <a:pathLst>
              <a:path w="5310521" h="1605109">
                <a:moveTo>
                  <a:pt x="68297" y="0"/>
                </a:moveTo>
                <a:lnTo>
                  <a:pt x="5242224" y="0"/>
                </a:lnTo>
                <a:cubicBezTo>
                  <a:pt x="5279943" y="0"/>
                  <a:pt x="5310521" y="30578"/>
                  <a:pt x="5310521" y="68297"/>
                </a:cubicBezTo>
                <a:lnTo>
                  <a:pt x="5310521" y="1536812"/>
                </a:lnTo>
                <a:cubicBezTo>
                  <a:pt x="5310521" y="1574531"/>
                  <a:pt x="5279943" y="1605109"/>
                  <a:pt x="5242224" y="1605109"/>
                </a:cubicBezTo>
                <a:lnTo>
                  <a:pt x="68297" y="1605109"/>
                </a:lnTo>
                <a:cubicBezTo>
                  <a:pt x="30578" y="1605109"/>
                  <a:pt x="0" y="1574531"/>
                  <a:pt x="0" y="1536812"/>
                </a:cubicBezTo>
                <a:lnTo>
                  <a:pt x="0" y="68297"/>
                </a:lnTo>
                <a:cubicBezTo>
                  <a:pt x="0" y="30578"/>
                  <a:pt x="30578" y="0"/>
                  <a:pt x="682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4566" y="2669493"/>
            <a:ext cx="510561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SMOTE Works: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566" y="2976854"/>
            <a:ext cx="14514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8286" y="2976854"/>
            <a:ext cx="188685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minority class samples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566" y="3250064"/>
            <a:ext cx="17075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522" y="3250064"/>
            <a:ext cx="186124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k-nearest neighbors (k=5)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566" y="3523274"/>
            <a:ext cx="17075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079" y="3523274"/>
            <a:ext cx="276625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synthetic points along line segments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566" y="3796485"/>
            <a:ext cx="17075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433" y="3796485"/>
            <a:ext cx="167341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dataset to 1:1:1 ratio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4359" y="4453895"/>
            <a:ext cx="5657725" cy="1952314"/>
          </a:xfrm>
          <a:custGeom>
            <a:avLst/>
            <a:gdLst/>
            <a:ahLst/>
            <a:cxnLst/>
            <a:rect l="l" t="t" r="r" b="b"/>
            <a:pathLst>
              <a:path w="5657725" h="1952314">
                <a:moveTo>
                  <a:pt x="68311" y="0"/>
                </a:moveTo>
                <a:lnTo>
                  <a:pt x="5589414" y="0"/>
                </a:lnTo>
                <a:cubicBezTo>
                  <a:pt x="5627141" y="0"/>
                  <a:pt x="5657725" y="30584"/>
                  <a:pt x="5657725" y="68311"/>
                </a:cubicBezTo>
                <a:lnTo>
                  <a:pt x="5657725" y="1884002"/>
                </a:lnTo>
                <a:cubicBezTo>
                  <a:pt x="5657725" y="1921730"/>
                  <a:pt x="5627141" y="1952314"/>
                  <a:pt x="5589414" y="1952314"/>
                </a:cubicBezTo>
                <a:lnTo>
                  <a:pt x="68311" y="1952314"/>
                </a:lnTo>
                <a:cubicBezTo>
                  <a:pt x="30584" y="1952314"/>
                  <a:pt x="0" y="1921730"/>
                  <a:pt x="0" y="1884002"/>
                </a:cubicBezTo>
                <a:lnTo>
                  <a:pt x="0" y="68311"/>
                </a:lnTo>
                <a:cubicBezTo>
                  <a:pt x="0" y="30584"/>
                  <a:pt x="30584" y="0"/>
                  <a:pt x="6831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961" y="4627496"/>
            <a:ext cx="478118" cy="478118"/>
          </a:xfrm>
          <a:custGeom>
            <a:avLst/>
            <a:gdLst/>
            <a:ahLst/>
            <a:cxnLst/>
            <a:rect l="l" t="t" r="r" b="b"/>
            <a:pathLst>
              <a:path w="478118" h="478118">
                <a:moveTo>
                  <a:pt x="68304" y="0"/>
                </a:moveTo>
                <a:lnTo>
                  <a:pt x="409814" y="0"/>
                </a:lnTo>
                <a:cubicBezTo>
                  <a:pt x="447537" y="0"/>
                  <a:pt x="478118" y="30581"/>
                  <a:pt x="478118" y="68304"/>
                </a:cubicBezTo>
                <a:lnTo>
                  <a:pt x="478118" y="409814"/>
                </a:lnTo>
                <a:cubicBezTo>
                  <a:pt x="478118" y="447537"/>
                  <a:pt x="447537" y="478118"/>
                  <a:pt x="409814" y="478118"/>
                </a:cubicBezTo>
                <a:lnTo>
                  <a:pt x="68304" y="478118"/>
                </a:lnTo>
                <a:cubicBezTo>
                  <a:pt x="30581" y="478118"/>
                  <a:pt x="0" y="447537"/>
                  <a:pt x="0" y="409814"/>
                </a:cubicBezTo>
                <a:lnTo>
                  <a:pt x="0" y="68304"/>
                </a:lnTo>
                <a:cubicBezTo>
                  <a:pt x="0" y="30606"/>
                  <a:pt x="30606" y="0"/>
                  <a:pt x="683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4566" y="4764101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89647" y="38420"/>
                </a:moveTo>
                <a:cubicBezTo>
                  <a:pt x="89647" y="31352"/>
                  <a:pt x="95386" y="25613"/>
                  <a:pt x="102454" y="25613"/>
                </a:cubicBezTo>
                <a:cubicBezTo>
                  <a:pt x="109522" y="25613"/>
                  <a:pt x="115261" y="31352"/>
                  <a:pt x="115261" y="38420"/>
                </a:cubicBezTo>
                <a:cubicBezTo>
                  <a:pt x="115261" y="45488"/>
                  <a:pt x="109522" y="51227"/>
                  <a:pt x="102454" y="51227"/>
                </a:cubicBezTo>
                <a:cubicBezTo>
                  <a:pt x="95386" y="51227"/>
                  <a:pt x="89647" y="45488"/>
                  <a:pt x="89647" y="38420"/>
                </a:cubicBezTo>
                <a:close/>
                <a:moveTo>
                  <a:pt x="138673" y="51227"/>
                </a:moveTo>
                <a:cubicBezTo>
                  <a:pt x="140074" y="47225"/>
                  <a:pt x="140874" y="42903"/>
                  <a:pt x="140874" y="38420"/>
                </a:cubicBezTo>
                <a:cubicBezTo>
                  <a:pt x="140874" y="17209"/>
                  <a:pt x="123665" y="0"/>
                  <a:pt x="102454" y="0"/>
                </a:cubicBezTo>
                <a:cubicBezTo>
                  <a:pt x="81243" y="0"/>
                  <a:pt x="64034" y="17209"/>
                  <a:pt x="64034" y="38420"/>
                </a:cubicBezTo>
                <a:cubicBezTo>
                  <a:pt x="64034" y="42903"/>
                  <a:pt x="64794" y="47225"/>
                  <a:pt x="66235" y="51227"/>
                </a:cubicBezTo>
                <a:lnTo>
                  <a:pt x="57510" y="51227"/>
                </a:lnTo>
                <a:cubicBezTo>
                  <a:pt x="46184" y="51227"/>
                  <a:pt x="36219" y="58631"/>
                  <a:pt x="32977" y="69476"/>
                </a:cubicBezTo>
                <a:lnTo>
                  <a:pt x="961" y="176172"/>
                </a:lnTo>
                <a:cubicBezTo>
                  <a:pt x="320" y="178254"/>
                  <a:pt x="0" y="180415"/>
                  <a:pt x="0" y="182576"/>
                </a:cubicBezTo>
                <a:cubicBezTo>
                  <a:pt x="0" y="194902"/>
                  <a:pt x="10005" y="204908"/>
                  <a:pt x="22332" y="204908"/>
                </a:cubicBezTo>
                <a:lnTo>
                  <a:pt x="182576" y="204908"/>
                </a:lnTo>
                <a:cubicBezTo>
                  <a:pt x="194902" y="204908"/>
                  <a:pt x="204908" y="194902"/>
                  <a:pt x="204908" y="182576"/>
                </a:cubicBezTo>
                <a:cubicBezTo>
                  <a:pt x="204908" y="180415"/>
                  <a:pt x="204587" y="178254"/>
                  <a:pt x="203947" y="176172"/>
                </a:cubicBezTo>
                <a:lnTo>
                  <a:pt x="171930" y="69516"/>
                </a:lnTo>
                <a:cubicBezTo>
                  <a:pt x="168689" y="58671"/>
                  <a:pt x="158723" y="51267"/>
                  <a:pt x="147397" y="51267"/>
                </a:cubicBezTo>
                <a:lnTo>
                  <a:pt x="138673" y="5126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8532" y="4729950"/>
            <a:ext cx="1400202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Weights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7961" y="5242218"/>
            <a:ext cx="5378824" cy="443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</a:t>
            </a:r>
            <a:r>
              <a:rPr lang="en-US" sz="1076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penalties</a:t>
            </a:r>
            <a:r>
              <a:rPr lang="en-US" sz="107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misclassification of minority classes during model training, forcing the algorithm to pay more attention to underrepresented classes.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7961" y="5822790"/>
            <a:ext cx="5310521" cy="409815"/>
          </a:xfrm>
          <a:custGeom>
            <a:avLst/>
            <a:gdLst/>
            <a:ahLst/>
            <a:cxnLst/>
            <a:rect l="l" t="t" r="r" b="b"/>
            <a:pathLst>
              <a:path w="5310521" h="409815">
                <a:moveTo>
                  <a:pt x="68304" y="0"/>
                </a:moveTo>
                <a:lnTo>
                  <a:pt x="5242217" y="0"/>
                </a:lnTo>
                <a:cubicBezTo>
                  <a:pt x="5279940" y="0"/>
                  <a:pt x="5310521" y="30581"/>
                  <a:pt x="5310521" y="68304"/>
                </a:cubicBezTo>
                <a:lnTo>
                  <a:pt x="5310521" y="341511"/>
                </a:lnTo>
                <a:cubicBezTo>
                  <a:pt x="5310521" y="379234"/>
                  <a:pt x="5279940" y="409815"/>
                  <a:pt x="5242217" y="409815"/>
                </a:cubicBezTo>
                <a:lnTo>
                  <a:pt x="68304" y="409815"/>
                </a:lnTo>
                <a:cubicBezTo>
                  <a:pt x="30581" y="409815"/>
                  <a:pt x="0" y="379234"/>
                  <a:pt x="0" y="341511"/>
                </a:cubicBezTo>
                <a:lnTo>
                  <a:pt x="0" y="68304"/>
                </a:lnTo>
                <a:cubicBezTo>
                  <a:pt x="0" y="30606"/>
                  <a:pt x="30606" y="0"/>
                  <a:pt x="6830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6263" y="5925244"/>
            <a:ext cx="517391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6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 = n_samples / (n_classes × n_samples_class)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2268" y="1163989"/>
            <a:ext cx="5657725" cy="3318364"/>
          </a:xfrm>
          <a:custGeom>
            <a:avLst/>
            <a:gdLst/>
            <a:ahLst/>
            <a:cxnLst/>
            <a:rect l="l" t="t" r="r" b="b"/>
            <a:pathLst>
              <a:path w="5657725" h="3318364">
                <a:moveTo>
                  <a:pt x="68292" y="0"/>
                </a:moveTo>
                <a:lnTo>
                  <a:pt x="5589434" y="0"/>
                </a:lnTo>
                <a:cubicBezTo>
                  <a:pt x="5627150" y="0"/>
                  <a:pt x="5657725" y="30575"/>
                  <a:pt x="5657725" y="68292"/>
                </a:cubicBezTo>
                <a:lnTo>
                  <a:pt x="5657725" y="3250072"/>
                </a:lnTo>
                <a:cubicBezTo>
                  <a:pt x="5657725" y="3287789"/>
                  <a:pt x="5627150" y="3318364"/>
                  <a:pt x="5589434" y="3318364"/>
                </a:cubicBezTo>
                <a:lnTo>
                  <a:pt x="68292" y="3318364"/>
                </a:lnTo>
                <a:cubicBezTo>
                  <a:pt x="30575" y="3318364"/>
                  <a:pt x="0" y="3287789"/>
                  <a:pt x="0" y="3250072"/>
                </a:cubicBezTo>
                <a:lnTo>
                  <a:pt x="0" y="68292"/>
                </a:lnTo>
                <a:cubicBezTo>
                  <a:pt x="0" y="30601"/>
                  <a:pt x="30601" y="0"/>
                  <a:pt x="682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7214" y="1371745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10672" y="10672"/>
                </a:moveTo>
                <a:cubicBezTo>
                  <a:pt x="16575" y="10672"/>
                  <a:pt x="21345" y="15441"/>
                  <a:pt x="21345" y="21345"/>
                </a:cubicBezTo>
                <a:lnTo>
                  <a:pt x="21345" y="133403"/>
                </a:lnTo>
                <a:cubicBezTo>
                  <a:pt x="21345" y="136338"/>
                  <a:pt x="23746" y="138739"/>
                  <a:pt x="26681" y="138739"/>
                </a:cubicBezTo>
                <a:lnTo>
                  <a:pt x="160084" y="138739"/>
                </a:lnTo>
                <a:cubicBezTo>
                  <a:pt x="165987" y="138739"/>
                  <a:pt x="170756" y="143509"/>
                  <a:pt x="170756" y="149412"/>
                </a:cubicBezTo>
                <a:cubicBezTo>
                  <a:pt x="170756" y="155315"/>
                  <a:pt x="165987" y="160084"/>
                  <a:pt x="160084" y="160084"/>
                </a:cubicBezTo>
                <a:lnTo>
                  <a:pt x="26681" y="160084"/>
                </a:lnTo>
                <a:cubicBezTo>
                  <a:pt x="11940" y="160084"/>
                  <a:pt x="0" y="148144"/>
                  <a:pt x="0" y="133403"/>
                </a:cubicBezTo>
                <a:lnTo>
                  <a:pt x="0" y="21345"/>
                </a:lnTo>
                <a:cubicBezTo>
                  <a:pt x="0" y="15441"/>
                  <a:pt x="4769" y="10672"/>
                  <a:pt x="10672" y="10672"/>
                </a:cubicBezTo>
                <a:close/>
                <a:moveTo>
                  <a:pt x="42689" y="32017"/>
                </a:moveTo>
                <a:cubicBezTo>
                  <a:pt x="42689" y="26114"/>
                  <a:pt x="47458" y="21345"/>
                  <a:pt x="53361" y="21345"/>
                </a:cubicBezTo>
                <a:lnTo>
                  <a:pt x="117395" y="21345"/>
                </a:lnTo>
                <a:cubicBezTo>
                  <a:pt x="123298" y="21345"/>
                  <a:pt x="128067" y="26114"/>
                  <a:pt x="128067" y="32017"/>
                </a:cubicBezTo>
                <a:cubicBezTo>
                  <a:pt x="128067" y="37920"/>
                  <a:pt x="123298" y="42689"/>
                  <a:pt x="117395" y="42689"/>
                </a:cubicBezTo>
                <a:lnTo>
                  <a:pt x="53361" y="42689"/>
                </a:lnTo>
                <a:cubicBezTo>
                  <a:pt x="47458" y="42689"/>
                  <a:pt x="42689" y="37920"/>
                  <a:pt x="42689" y="32017"/>
                </a:cubicBezTo>
                <a:close/>
                <a:moveTo>
                  <a:pt x="53361" y="58697"/>
                </a:moveTo>
                <a:lnTo>
                  <a:pt x="96050" y="58697"/>
                </a:lnTo>
                <a:cubicBezTo>
                  <a:pt x="101954" y="58697"/>
                  <a:pt x="106723" y="63467"/>
                  <a:pt x="106723" y="69370"/>
                </a:cubicBezTo>
                <a:cubicBezTo>
                  <a:pt x="106723" y="75273"/>
                  <a:pt x="101954" y="80042"/>
                  <a:pt x="96050" y="80042"/>
                </a:cubicBezTo>
                <a:lnTo>
                  <a:pt x="53361" y="80042"/>
                </a:lnTo>
                <a:cubicBezTo>
                  <a:pt x="47458" y="80042"/>
                  <a:pt x="42689" y="75273"/>
                  <a:pt x="42689" y="69370"/>
                </a:cubicBezTo>
                <a:cubicBezTo>
                  <a:pt x="42689" y="63467"/>
                  <a:pt x="47458" y="58697"/>
                  <a:pt x="53361" y="58697"/>
                </a:cubicBezTo>
                <a:close/>
                <a:moveTo>
                  <a:pt x="53361" y="96050"/>
                </a:moveTo>
                <a:lnTo>
                  <a:pt x="138739" y="96050"/>
                </a:lnTo>
                <a:cubicBezTo>
                  <a:pt x="144643" y="96050"/>
                  <a:pt x="149412" y="100820"/>
                  <a:pt x="149412" y="106723"/>
                </a:cubicBezTo>
                <a:cubicBezTo>
                  <a:pt x="149412" y="112626"/>
                  <a:pt x="144643" y="117395"/>
                  <a:pt x="138739" y="117395"/>
                </a:cubicBezTo>
                <a:lnTo>
                  <a:pt x="53361" y="117395"/>
                </a:lnTo>
                <a:cubicBezTo>
                  <a:pt x="47458" y="117395"/>
                  <a:pt x="42689" y="112626"/>
                  <a:pt x="42689" y="106723"/>
                </a:cubicBezTo>
                <a:cubicBezTo>
                  <a:pt x="42689" y="100820"/>
                  <a:pt x="47458" y="96050"/>
                  <a:pt x="53361" y="960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6569315" y="1337594"/>
            <a:ext cx="5182454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 Comparison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870" y="1713258"/>
            <a:ext cx="537882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Distribution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5870" y="1986468"/>
            <a:ext cx="5310521" cy="956235"/>
          </a:xfrm>
          <a:custGeom>
            <a:avLst/>
            <a:gdLst/>
            <a:ahLst/>
            <a:cxnLst/>
            <a:rect l="l" t="t" r="r" b="b"/>
            <a:pathLst>
              <a:path w="5310521" h="956235">
                <a:moveTo>
                  <a:pt x="68304" y="0"/>
                </a:moveTo>
                <a:lnTo>
                  <a:pt x="5242217" y="0"/>
                </a:lnTo>
                <a:cubicBezTo>
                  <a:pt x="5279940" y="0"/>
                  <a:pt x="5310521" y="30581"/>
                  <a:pt x="5310521" y="68304"/>
                </a:cubicBezTo>
                <a:lnTo>
                  <a:pt x="5310521" y="887931"/>
                </a:lnTo>
                <a:cubicBezTo>
                  <a:pt x="5310521" y="925655"/>
                  <a:pt x="5279940" y="956235"/>
                  <a:pt x="5242217" y="956235"/>
                </a:cubicBezTo>
                <a:lnTo>
                  <a:pt x="68304" y="956235"/>
                </a:lnTo>
                <a:cubicBezTo>
                  <a:pt x="30581" y="956235"/>
                  <a:pt x="0" y="925655"/>
                  <a:pt x="0" y="887931"/>
                </a:cubicBezTo>
                <a:lnTo>
                  <a:pt x="0" y="68304"/>
                </a:lnTo>
                <a:cubicBezTo>
                  <a:pt x="0" y="30606"/>
                  <a:pt x="30606" y="0"/>
                  <a:pt x="6830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58324" y="2088922"/>
            <a:ext cx="5105613" cy="204908"/>
          </a:xfrm>
          <a:custGeom>
            <a:avLst/>
            <a:gdLst/>
            <a:ahLst/>
            <a:cxnLst/>
            <a:rect l="l" t="t" r="r" b="b"/>
            <a:pathLst>
              <a:path w="5105613" h="204908">
                <a:moveTo>
                  <a:pt x="102454" y="0"/>
                </a:moveTo>
                <a:lnTo>
                  <a:pt x="5003160" y="0"/>
                </a:lnTo>
                <a:cubicBezTo>
                  <a:pt x="5059743" y="0"/>
                  <a:pt x="5105613" y="45870"/>
                  <a:pt x="5105613" y="102454"/>
                </a:cubicBezTo>
                <a:lnTo>
                  <a:pt x="5105613" y="102454"/>
                </a:lnTo>
                <a:cubicBezTo>
                  <a:pt x="5105613" y="159037"/>
                  <a:pt x="5059743" y="204908"/>
                  <a:pt x="5003160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22C55E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26626" y="2105997"/>
            <a:ext cx="81109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On-Time: 62%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8324" y="2362132"/>
            <a:ext cx="1835630" cy="204908"/>
          </a:xfrm>
          <a:custGeom>
            <a:avLst/>
            <a:gdLst/>
            <a:ahLst/>
            <a:cxnLst/>
            <a:rect l="l" t="t" r="r" b="b"/>
            <a:pathLst>
              <a:path w="1835630" h="204908">
                <a:moveTo>
                  <a:pt x="102454" y="0"/>
                </a:moveTo>
                <a:lnTo>
                  <a:pt x="1733176" y="0"/>
                </a:lnTo>
                <a:cubicBezTo>
                  <a:pt x="1789722" y="0"/>
                  <a:pt x="1835630" y="45908"/>
                  <a:pt x="1835630" y="102454"/>
                </a:cubicBezTo>
                <a:lnTo>
                  <a:pt x="1835630" y="102454"/>
                </a:lnTo>
                <a:cubicBezTo>
                  <a:pt x="1835630" y="159000"/>
                  <a:pt x="1789722" y="204908"/>
                  <a:pt x="1733176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26626" y="2379207"/>
            <a:ext cx="691563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Risk: 22%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8324" y="2635342"/>
            <a:ext cx="1280672" cy="204908"/>
          </a:xfrm>
          <a:custGeom>
            <a:avLst/>
            <a:gdLst/>
            <a:ahLst/>
            <a:cxnLst/>
            <a:rect l="l" t="t" r="r" b="b"/>
            <a:pathLst>
              <a:path w="1280672" h="204908">
                <a:moveTo>
                  <a:pt x="102454" y="0"/>
                </a:moveTo>
                <a:lnTo>
                  <a:pt x="1178218" y="0"/>
                </a:lnTo>
                <a:cubicBezTo>
                  <a:pt x="1234764" y="0"/>
                  <a:pt x="1280672" y="45908"/>
                  <a:pt x="1280672" y="102454"/>
                </a:cubicBezTo>
                <a:lnTo>
                  <a:pt x="1280672" y="102454"/>
                </a:lnTo>
                <a:cubicBezTo>
                  <a:pt x="1280672" y="159000"/>
                  <a:pt x="1234764" y="204908"/>
                  <a:pt x="1178218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26626" y="2652417"/>
            <a:ext cx="74279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Delayed: 16%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870" y="3079308"/>
            <a:ext cx="537882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SMOTE (Balanced)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5870" y="3352518"/>
            <a:ext cx="5310521" cy="956235"/>
          </a:xfrm>
          <a:custGeom>
            <a:avLst/>
            <a:gdLst/>
            <a:ahLst/>
            <a:cxnLst/>
            <a:rect l="l" t="t" r="r" b="b"/>
            <a:pathLst>
              <a:path w="5310521" h="956235">
                <a:moveTo>
                  <a:pt x="68304" y="0"/>
                </a:moveTo>
                <a:lnTo>
                  <a:pt x="5242217" y="0"/>
                </a:lnTo>
                <a:cubicBezTo>
                  <a:pt x="5279940" y="0"/>
                  <a:pt x="5310521" y="30581"/>
                  <a:pt x="5310521" y="68304"/>
                </a:cubicBezTo>
                <a:lnTo>
                  <a:pt x="5310521" y="887931"/>
                </a:lnTo>
                <a:cubicBezTo>
                  <a:pt x="5310521" y="925655"/>
                  <a:pt x="5279940" y="956235"/>
                  <a:pt x="5242217" y="956235"/>
                </a:cubicBezTo>
                <a:lnTo>
                  <a:pt x="68304" y="956235"/>
                </a:lnTo>
                <a:cubicBezTo>
                  <a:pt x="30581" y="956235"/>
                  <a:pt x="0" y="925655"/>
                  <a:pt x="0" y="887931"/>
                </a:cubicBezTo>
                <a:lnTo>
                  <a:pt x="0" y="68304"/>
                </a:lnTo>
                <a:cubicBezTo>
                  <a:pt x="0" y="30606"/>
                  <a:pt x="30606" y="0"/>
                  <a:pt x="6830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8324" y="3454972"/>
            <a:ext cx="5105613" cy="204908"/>
          </a:xfrm>
          <a:custGeom>
            <a:avLst/>
            <a:gdLst/>
            <a:ahLst/>
            <a:cxnLst/>
            <a:rect l="l" t="t" r="r" b="b"/>
            <a:pathLst>
              <a:path w="5105613" h="204908">
                <a:moveTo>
                  <a:pt x="102454" y="0"/>
                </a:moveTo>
                <a:lnTo>
                  <a:pt x="5003160" y="0"/>
                </a:lnTo>
                <a:cubicBezTo>
                  <a:pt x="5059743" y="0"/>
                  <a:pt x="5105613" y="45870"/>
                  <a:pt x="5105613" y="102454"/>
                </a:cubicBezTo>
                <a:lnTo>
                  <a:pt x="5105613" y="102454"/>
                </a:lnTo>
                <a:cubicBezTo>
                  <a:pt x="5105613" y="159037"/>
                  <a:pt x="5059743" y="204908"/>
                  <a:pt x="5003160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22C55E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854159" y="3472048"/>
            <a:ext cx="37566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58324" y="3728182"/>
            <a:ext cx="5105613" cy="204908"/>
          </a:xfrm>
          <a:custGeom>
            <a:avLst/>
            <a:gdLst/>
            <a:ahLst/>
            <a:cxnLst/>
            <a:rect l="l" t="t" r="r" b="b"/>
            <a:pathLst>
              <a:path w="5105613" h="204908">
                <a:moveTo>
                  <a:pt x="102454" y="0"/>
                </a:moveTo>
                <a:lnTo>
                  <a:pt x="5003160" y="0"/>
                </a:lnTo>
                <a:cubicBezTo>
                  <a:pt x="5059743" y="0"/>
                  <a:pt x="5105613" y="45870"/>
                  <a:pt x="5105613" y="102454"/>
                </a:cubicBezTo>
                <a:lnTo>
                  <a:pt x="5105613" y="102454"/>
                </a:lnTo>
                <a:cubicBezTo>
                  <a:pt x="5105613" y="159037"/>
                  <a:pt x="5059743" y="204908"/>
                  <a:pt x="5003160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F59E0B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854159" y="3745258"/>
            <a:ext cx="37566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8324" y="4001392"/>
            <a:ext cx="5105613" cy="204908"/>
          </a:xfrm>
          <a:custGeom>
            <a:avLst/>
            <a:gdLst/>
            <a:ahLst/>
            <a:cxnLst/>
            <a:rect l="l" t="t" r="r" b="b"/>
            <a:pathLst>
              <a:path w="5105613" h="204908">
                <a:moveTo>
                  <a:pt x="102454" y="0"/>
                </a:moveTo>
                <a:lnTo>
                  <a:pt x="5003160" y="0"/>
                </a:lnTo>
                <a:cubicBezTo>
                  <a:pt x="5059743" y="0"/>
                  <a:pt x="5105613" y="45870"/>
                  <a:pt x="5105613" y="102454"/>
                </a:cubicBezTo>
                <a:lnTo>
                  <a:pt x="5105613" y="102454"/>
                </a:lnTo>
                <a:cubicBezTo>
                  <a:pt x="5105613" y="159037"/>
                  <a:pt x="5059743" y="204908"/>
                  <a:pt x="5003160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EF4444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854159" y="4018468"/>
            <a:ext cx="37566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2268" y="4624651"/>
            <a:ext cx="5657725" cy="2088919"/>
          </a:xfrm>
          <a:custGeom>
            <a:avLst/>
            <a:gdLst/>
            <a:ahLst/>
            <a:cxnLst/>
            <a:rect l="l" t="t" r="r" b="b"/>
            <a:pathLst>
              <a:path w="5657725" h="2088919">
                <a:moveTo>
                  <a:pt x="68308" y="0"/>
                </a:moveTo>
                <a:lnTo>
                  <a:pt x="5589418" y="0"/>
                </a:lnTo>
                <a:cubicBezTo>
                  <a:pt x="5627143" y="0"/>
                  <a:pt x="5657725" y="30582"/>
                  <a:pt x="5657725" y="68308"/>
                </a:cubicBezTo>
                <a:lnTo>
                  <a:pt x="5657725" y="2020611"/>
                </a:lnTo>
                <a:cubicBezTo>
                  <a:pt x="5657725" y="2058336"/>
                  <a:pt x="5627143" y="2088919"/>
                  <a:pt x="5589418" y="2088919"/>
                </a:cubicBezTo>
                <a:lnTo>
                  <a:pt x="68308" y="2088919"/>
                </a:lnTo>
                <a:cubicBezTo>
                  <a:pt x="30582" y="2088919"/>
                  <a:pt x="0" y="2058336"/>
                  <a:pt x="0" y="2020611"/>
                </a:cubicBezTo>
                <a:lnTo>
                  <a:pt x="0" y="68308"/>
                </a:lnTo>
                <a:cubicBezTo>
                  <a:pt x="0" y="30608"/>
                  <a:pt x="30608" y="0"/>
                  <a:pt x="68308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3063" y="4806790"/>
            <a:ext cx="153681" cy="153681"/>
          </a:xfrm>
          <a:custGeom>
            <a:avLst/>
            <a:gdLst/>
            <a:ahLst/>
            <a:cxnLst/>
            <a:rect l="l" t="t" r="r" b="b"/>
            <a:pathLst>
              <a:path w="153681" h="153681">
                <a:moveTo>
                  <a:pt x="76840" y="153681"/>
                </a:moveTo>
                <a:cubicBezTo>
                  <a:pt x="119250" y="153681"/>
                  <a:pt x="153681" y="119250"/>
                  <a:pt x="153681" y="76840"/>
                </a:cubicBezTo>
                <a:cubicBezTo>
                  <a:pt x="153681" y="34431"/>
                  <a:pt x="119250" y="0"/>
                  <a:pt x="76840" y="0"/>
                </a:cubicBezTo>
                <a:cubicBezTo>
                  <a:pt x="34431" y="0"/>
                  <a:pt x="0" y="34431"/>
                  <a:pt x="0" y="76840"/>
                </a:cubicBezTo>
                <a:cubicBezTo>
                  <a:pt x="0" y="119250"/>
                  <a:pt x="34431" y="153681"/>
                  <a:pt x="76840" y="153681"/>
                </a:cubicBezTo>
                <a:close/>
                <a:moveTo>
                  <a:pt x="102174" y="63844"/>
                </a:moveTo>
                <a:lnTo>
                  <a:pt x="78161" y="102264"/>
                </a:lnTo>
                <a:cubicBezTo>
                  <a:pt x="76900" y="104275"/>
                  <a:pt x="74739" y="105535"/>
                  <a:pt x="72368" y="105655"/>
                </a:cubicBezTo>
                <a:cubicBezTo>
                  <a:pt x="69997" y="105776"/>
                  <a:pt x="67716" y="104695"/>
                  <a:pt x="66305" y="102774"/>
                </a:cubicBezTo>
                <a:lnTo>
                  <a:pt x="51897" y="83564"/>
                </a:lnTo>
                <a:cubicBezTo>
                  <a:pt x="49496" y="80382"/>
                  <a:pt x="50156" y="75880"/>
                  <a:pt x="53338" y="73479"/>
                </a:cubicBezTo>
                <a:cubicBezTo>
                  <a:pt x="56520" y="71077"/>
                  <a:pt x="61022" y="71738"/>
                  <a:pt x="63423" y="74919"/>
                </a:cubicBezTo>
                <a:lnTo>
                  <a:pt x="71528" y="85725"/>
                </a:lnTo>
                <a:lnTo>
                  <a:pt x="89957" y="56220"/>
                </a:lnTo>
                <a:cubicBezTo>
                  <a:pt x="92058" y="52858"/>
                  <a:pt x="96501" y="51807"/>
                  <a:pt x="99892" y="53938"/>
                </a:cubicBezTo>
                <a:cubicBezTo>
                  <a:pt x="103284" y="56069"/>
                  <a:pt x="104305" y="60482"/>
                  <a:pt x="102174" y="6387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6518088" y="4764101"/>
            <a:ext cx="5259294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Model Performance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1718" y="5105613"/>
            <a:ext cx="2638185" cy="683025"/>
          </a:xfrm>
          <a:custGeom>
            <a:avLst/>
            <a:gdLst/>
            <a:ahLst/>
            <a:cxnLst/>
            <a:rect l="l" t="t" r="r" b="b"/>
            <a:pathLst>
              <a:path w="2638185" h="683025">
                <a:moveTo>
                  <a:pt x="68303" y="0"/>
                </a:moveTo>
                <a:lnTo>
                  <a:pt x="2569882" y="0"/>
                </a:lnTo>
                <a:cubicBezTo>
                  <a:pt x="2607605" y="0"/>
                  <a:pt x="2638185" y="30580"/>
                  <a:pt x="2638185" y="68303"/>
                </a:cubicBezTo>
                <a:lnTo>
                  <a:pt x="2638185" y="614723"/>
                </a:lnTo>
                <a:cubicBezTo>
                  <a:pt x="2638185" y="652445"/>
                  <a:pt x="2607605" y="683025"/>
                  <a:pt x="2569882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94290" y="5208067"/>
            <a:ext cx="2493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(Delayed)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72945" y="5412975"/>
            <a:ext cx="2535731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3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+34%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4225" y="5105613"/>
            <a:ext cx="2638185" cy="683025"/>
          </a:xfrm>
          <a:custGeom>
            <a:avLst/>
            <a:gdLst/>
            <a:ahLst/>
            <a:cxnLst/>
            <a:rect l="l" t="t" r="r" b="b"/>
            <a:pathLst>
              <a:path w="2638185" h="683025">
                <a:moveTo>
                  <a:pt x="68303" y="0"/>
                </a:moveTo>
                <a:lnTo>
                  <a:pt x="2569882" y="0"/>
                </a:lnTo>
                <a:cubicBezTo>
                  <a:pt x="2607605" y="0"/>
                  <a:pt x="2638185" y="30580"/>
                  <a:pt x="2638185" y="68303"/>
                </a:cubicBezTo>
                <a:lnTo>
                  <a:pt x="2638185" y="614723"/>
                </a:lnTo>
                <a:cubicBezTo>
                  <a:pt x="2638185" y="652445"/>
                  <a:pt x="2607605" y="683025"/>
                  <a:pt x="2569882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136796" y="5208067"/>
            <a:ext cx="2493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15452" y="5412975"/>
            <a:ext cx="2535731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3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+18%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1718" y="5891092"/>
            <a:ext cx="2638185" cy="683025"/>
          </a:xfrm>
          <a:custGeom>
            <a:avLst/>
            <a:gdLst/>
            <a:ahLst/>
            <a:cxnLst/>
            <a:rect l="l" t="t" r="r" b="b"/>
            <a:pathLst>
              <a:path w="2638185" h="683025">
                <a:moveTo>
                  <a:pt x="68303" y="0"/>
                </a:moveTo>
                <a:lnTo>
                  <a:pt x="2569882" y="0"/>
                </a:lnTo>
                <a:cubicBezTo>
                  <a:pt x="2607605" y="0"/>
                  <a:pt x="2638185" y="30580"/>
                  <a:pt x="2638185" y="68303"/>
                </a:cubicBezTo>
                <a:lnTo>
                  <a:pt x="2638185" y="614723"/>
                </a:lnTo>
                <a:cubicBezTo>
                  <a:pt x="2638185" y="652445"/>
                  <a:pt x="2607605" y="683025"/>
                  <a:pt x="2569882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94290" y="5993546"/>
            <a:ext cx="2493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72945" y="6198454"/>
            <a:ext cx="2535731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3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+12%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64225" y="5891092"/>
            <a:ext cx="2638185" cy="683025"/>
          </a:xfrm>
          <a:custGeom>
            <a:avLst/>
            <a:gdLst/>
            <a:ahLst/>
            <a:cxnLst/>
            <a:rect l="l" t="t" r="r" b="b"/>
            <a:pathLst>
              <a:path w="2638185" h="683025">
                <a:moveTo>
                  <a:pt x="68303" y="0"/>
                </a:moveTo>
                <a:lnTo>
                  <a:pt x="2569882" y="0"/>
                </a:lnTo>
                <a:cubicBezTo>
                  <a:pt x="2607605" y="0"/>
                  <a:pt x="2638185" y="30580"/>
                  <a:pt x="2638185" y="68303"/>
                </a:cubicBezTo>
                <a:lnTo>
                  <a:pt x="2638185" y="614723"/>
                </a:lnTo>
                <a:cubicBezTo>
                  <a:pt x="2638185" y="652445"/>
                  <a:pt x="2607605" y="683025"/>
                  <a:pt x="2569882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136796" y="5993546"/>
            <a:ext cx="2493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AUC-ROC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15452" y="6198454"/>
            <a:ext cx="2535731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3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+8%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Expertise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6178550" cy="3816350"/>
          </a:xfrm>
          <a:custGeom>
            <a:avLst/>
            <a:gdLst/>
            <a:ahLst/>
            <a:cxnLst/>
            <a:rect l="l" t="t" r="r" b="b"/>
            <a:pathLst>
              <a:path w="6178550" h="3816350">
                <a:moveTo>
                  <a:pt x="76213" y="0"/>
                </a:moveTo>
                <a:lnTo>
                  <a:pt x="6102337" y="0"/>
                </a:lnTo>
                <a:cubicBezTo>
                  <a:pt x="6144429" y="0"/>
                  <a:pt x="6178550" y="34122"/>
                  <a:pt x="6178550" y="76213"/>
                </a:cubicBezTo>
                <a:lnTo>
                  <a:pt x="6178550" y="3740137"/>
                </a:lnTo>
                <a:cubicBezTo>
                  <a:pt x="6178550" y="3782229"/>
                  <a:pt x="6144429" y="3816350"/>
                  <a:pt x="6102337" y="3816350"/>
                </a:cubicBezTo>
                <a:lnTo>
                  <a:pt x="76213" y="3816350"/>
                </a:lnTo>
                <a:cubicBezTo>
                  <a:pt x="34122" y="3816350"/>
                  <a:pt x="0" y="3782229"/>
                  <a:pt x="0" y="3740137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850" y="153035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1492253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7375" y="19494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7375" y="19494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20637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Processing_Delay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1200" y="23304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from order to shipment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200" y="25971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Ship_Date - Order_Date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38538" y="19494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38538" y="19494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3662362" y="20637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Shipping_Distance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62362" y="23304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distance (km)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62362" y="25971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Haversine formula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7375" y="29781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7375" y="29781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711200" y="30924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Order_Season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1200" y="33591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vs Off-peak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1200" y="36258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Holiday detection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38538" y="29781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538538" y="29781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3662362" y="30924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Product_Weight_Class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62362" y="33591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Light/Medium/Heavy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62362" y="36258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 bins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7375" y="40068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87375" y="40068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9" name="Text 27"/>
          <p:cNvSpPr/>
          <p:nvPr/>
        </p:nvSpPr>
        <p:spPr>
          <a:xfrm>
            <a:off x="711200" y="41211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Carrier_History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200" y="43878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performance score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1200" y="46545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Rolling average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38538" y="4006853"/>
            <a:ext cx="2828925" cy="914400"/>
          </a:xfrm>
          <a:custGeom>
            <a:avLst/>
            <a:gdLst/>
            <a:ahLst/>
            <a:cxnLst/>
            <a:rect l="l" t="t" r="r" b="b"/>
            <a:pathLst>
              <a:path w="2828925" h="914400">
                <a:moveTo>
                  <a:pt x="19050" y="0"/>
                </a:moveTo>
                <a:lnTo>
                  <a:pt x="2752728" y="0"/>
                </a:lnTo>
                <a:cubicBezTo>
                  <a:pt x="2794810" y="0"/>
                  <a:pt x="2828925" y="34115"/>
                  <a:pt x="2828925" y="76197"/>
                </a:cubicBezTo>
                <a:lnTo>
                  <a:pt x="2828925" y="838203"/>
                </a:lnTo>
                <a:cubicBezTo>
                  <a:pt x="2828925" y="880285"/>
                  <a:pt x="2794810" y="914400"/>
                  <a:pt x="2752728" y="914400"/>
                </a:cubicBezTo>
                <a:lnTo>
                  <a:pt x="19050" y="914400"/>
                </a:lnTo>
                <a:cubicBezTo>
                  <a:pt x="8529" y="914400"/>
                  <a:pt x="0" y="905871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38538" y="4006853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1905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19050" y="914400"/>
                </a:lnTo>
                <a:cubicBezTo>
                  <a:pt x="8536" y="914400"/>
                  <a:pt x="0" y="905864"/>
                  <a:pt x="0" y="8953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3662362" y="412115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Day_of_Week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62362" y="438785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vs Weekday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62362" y="4654553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pattern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175" y="5273677"/>
            <a:ext cx="6178550" cy="1511300"/>
          </a:xfrm>
          <a:custGeom>
            <a:avLst/>
            <a:gdLst/>
            <a:ahLst/>
            <a:cxnLst/>
            <a:rect l="l" t="t" r="r" b="b"/>
            <a:pathLst>
              <a:path w="6178550" h="1511300">
                <a:moveTo>
                  <a:pt x="76200" y="0"/>
                </a:moveTo>
                <a:lnTo>
                  <a:pt x="6102350" y="0"/>
                </a:lnTo>
                <a:cubicBezTo>
                  <a:pt x="6144434" y="0"/>
                  <a:pt x="6178550" y="34116"/>
                  <a:pt x="6178550" y="76200"/>
                </a:cubicBezTo>
                <a:lnTo>
                  <a:pt x="6178550" y="1435100"/>
                </a:lnTo>
                <a:cubicBezTo>
                  <a:pt x="6178550" y="1477184"/>
                  <a:pt x="6144434" y="1511300"/>
                  <a:pt x="61023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425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977900" y="546735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Understanding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7850" y="5848350"/>
            <a:ext cx="5867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leveraged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logistics domain expertise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create meaningful predictors. Understanding that processing delays, shipping distances, and seasonal patterns significantly impact delivery outcomes guided feature creation.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56400" y="1298575"/>
            <a:ext cx="5054600" cy="4559300"/>
          </a:xfrm>
          <a:custGeom>
            <a:avLst/>
            <a:gdLst/>
            <a:ahLst/>
            <a:cxnLst/>
            <a:rect l="l" t="t" r="r" b="b"/>
            <a:pathLst>
              <a:path w="5054600" h="4559300">
                <a:moveTo>
                  <a:pt x="76186" y="0"/>
                </a:moveTo>
                <a:lnTo>
                  <a:pt x="4978414" y="0"/>
                </a:lnTo>
                <a:cubicBezTo>
                  <a:pt x="5020462" y="0"/>
                  <a:pt x="5054600" y="34138"/>
                  <a:pt x="5054600" y="76186"/>
                </a:cubicBezTo>
                <a:lnTo>
                  <a:pt x="5054600" y="4483114"/>
                </a:lnTo>
                <a:cubicBezTo>
                  <a:pt x="5054600" y="4525190"/>
                  <a:pt x="5020490" y="4559300"/>
                  <a:pt x="4978414" y="4559300"/>
                </a:cubicBezTo>
                <a:lnTo>
                  <a:pt x="76186" y="4559300"/>
                </a:lnTo>
                <a:cubicBezTo>
                  <a:pt x="34110" y="4559300"/>
                  <a:pt x="0" y="4525190"/>
                  <a:pt x="0" y="44831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7700" y="153035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7188200" y="1492253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Impact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50075" y="1911353"/>
            <a:ext cx="4667250" cy="1104900"/>
          </a:xfrm>
          <a:custGeom>
            <a:avLst/>
            <a:gdLst/>
            <a:ahLst/>
            <a:cxnLst/>
            <a:rect l="l" t="t" r="r" b="b"/>
            <a:pathLst>
              <a:path w="4667250" h="1104900">
                <a:moveTo>
                  <a:pt x="76205" y="0"/>
                </a:moveTo>
                <a:lnTo>
                  <a:pt x="4591045" y="0"/>
                </a:lnTo>
                <a:cubicBezTo>
                  <a:pt x="4633132" y="0"/>
                  <a:pt x="4667250" y="34118"/>
                  <a:pt x="4667250" y="76205"/>
                </a:cubicBezTo>
                <a:lnTo>
                  <a:pt x="4667250" y="1028695"/>
                </a:lnTo>
                <a:cubicBezTo>
                  <a:pt x="4667250" y="1070782"/>
                  <a:pt x="4633132" y="1104900"/>
                  <a:pt x="45910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02475" y="21399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235825" y="22542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7597775" y="2063753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97775" y="2292353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+12%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02475" y="267335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Engineered features improved predictive power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50075" y="3168653"/>
            <a:ext cx="4667250" cy="1104900"/>
          </a:xfrm>
          <a:custGeom>
            <a:avLst/>
            <a:gdLst/>
            <a:ahLst/>
            <a:cxnLst/>
            <a:rect l="l" t="t" r="r" b="b"/>
            <a:pathLst>
              <a:path w="4667250" h="1104900">
                <a:moveTo>
                  <a:pt x="76205" y="0"/>
                </a:moveTo>
                <a:lnTo>
                  <a:pt x="4591045" y="0"/>
                </a:lnTo>
                <a:cubicBezTo>
                  <a:pt x="4633132" y="0"/>
                  <a:pt x="4667250" y="34118"/>
                  <a:pt x="4667250" y="76205"/>
                </a:cubicBezTo>
                <a:lnTo>
                  <a:pt x="4667250" y="1028695"/>
                </a:lnTo>
                <a:cubicBezTo>
                  <a:pt x="4667250" y="1070782"/>
                  <a:pt x="4633132" y="1104900"/>
                  <a:pt x="45910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02475" y="33972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5825" y="35115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7597775" y="332105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97775" y="3549653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Top 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02475" y="393065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features dominate importance rankings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950075" y="4425953"/>
            <a:ext cx="4667250" cy="1104900"/>
          </a:xfrm>
          <a:custGeom>
            <a:avLst/>
            <a:gdLst/>
            <a:ahLst/>
            <a:cxnLst/>
            <a:rect l="l" t="t" r="r" b="b"/>
            <a:pathLst>
              <a:path w="4667250" h="1104900">
                <a:moveTo>
                  <a:pt x="76205" y="0"/>
                </a:moveTo>
                <a:lnTo>
                  <a:pt x="4591045" y="0"/>
                </a:lnTo>
                <a:cubicBezTo>
                  <a:pt x="4633132" y="0"/>
                  <a:pt x="4667250" y="34118"/>
                  <a:pt x="4667250" y="76205"/>
                </a:cubicBezTo>
                <a:lnTo>
                  <a:pt x="4667250" y="1028695"/>
                </a:lnTo>
                <a:cubicBezTo>
                  <a:pt x="4667250" y="1070782"/>
                  <a:pt x="4633132" y="1104900"/>
                  <a:pt x="45910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2475" y="46545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35825" y="47688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7597775" y="4578353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97775" y="4806953"/>
            <a:ext cx="108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Enhanced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102475" y="518795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Business-meaningful features enable better insights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756400" y="6016627"/>
            <a:ext cx="5054600" cy="768350"/>
          </a:xfrm>
          <a:custGeom>
            <a:avLst/>
            <a:gdLst/>
            <a:ahLst/>
            <a:cxnLst/>
            <a:rect l="l" t="t" r="r" b="b"/>
            <a:pathLst>
              <a:path w="5054600" h="768350">
                <a:moveTo>
                  <a:pt x="76197" y="0"/>
                </a:moveTo>
                <a:lnTo>
                  <a:pt x="4978403" y="0"/>
                </a:lnTo>
                <a:cubicBezTo>
                  <a:pt x="5020485" y="0"/>
                  <a:pt x="5054600" y="34115"/>
                  <a:pt x="5054600" y="76197"/>
                </a:cubicBezTo>
                <a:lnTo>
                  <a:pt x="5054600" y="692153"/>
                </a:lnTo>
                <a:cubicBezTo>
                  <a:pt x="5054600" y="734235"/>
                  <a:pt x="5020485" y="768350"/>
                  <a:pt x="4978403" y="768350"/>
                </a:cubicBezTo>
                <a:lnTo>
                  <a:pt x="76197" y="768350"/>
                </a:lnTo>
                <a:cubicBezTo>
                  <a:pt x="34115" y="768350"/>
                  <a:pt x="0" y="734235"/>
                  <a:pt x="0" y="6921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14356" y="6305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Text 62"/>
          <p:cNvSpPr/>
          <p:nvPr/>
        </p:nvSpPr>
        <p:spPr>
          <a:xfrm>
            <a:off x="7240588" y="6172200"/>
            <a:ext cx="448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Processing_Delay emerged as the </a:t>
            </a:r>
            <a:r>
              <a:rPr lang="en-US" sz="1200" dirty="0">
                <a:solidFill>
                  <a:srgbClr val="F0F0F0"/>
                </a:solidFill>
                <a:highlight>
                  <a:srgbClr val="D4A37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#1 predictor 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delivery risk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Importance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6892925" cy="5178425"/>
          </a:xfrm>
          <a:custGeom>
            <a:avLst/>
            <a:gdLst/>
            <a:ahLst/>
            <a:cxnLst/>
            <a:rect l="l" t="t" r="r" b="b"/>
            <a:pathLst>
              <a:path w="6892925" h="5178425">
                <a:moveTo>
                  <a:pt x="76175" y="0"/>
                </a:moveTo>
                <a:lnTo>
                  <a:pt x="6816750" y="0"/>
                </a:lnTo>
                <a:cubicBezTo>
                  <a:pt x="6858820" y="0"/>
                  <a:pt x="6892925" y="34105"/>
                  <a:pt x="6892925" y="76175"/>
                </a:cubicBezTo>
                <a:lnTo>
                  <a:pt x="6892925" y="5102250"/>
                </a:lnTo>
                <a:cubicBezTo>
                  <a:pt x="6892925" y="5144320"/>
                  <a:pt x="6858820" y="5178425"/>
                  <a:pt x="6816750" y="5178425"/>
                </a:cubicBezTo>
                <a:lnTo>
                  <a:pt x="76175" y="5178425"/>
                </a:lnTo>
                <a:cubicBezTo>
                  <a:pt x="34105" y="5178425"/>
                  <a:pt x="0" y="5144320"/>
                  <a:pt x="0" y="5102250"/>
                </a:cubicBezTo>
                <a:lnTo>
                  <a:pt x="0" y="76175"/>
                </a:lnTo>
                <a:cubicBezTo>
                  <a:pt x="0" y="34133"/>
                  <a:pt x="34133" y="0"/>
                  <a:pt x="7617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56" y="15303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732" y="20129"/>
                </a:moveTo>
                <a:lnTo>
                  <a:pt x="110951" y="2344"/>
                </a:lnTo>
                <a:cubicBezTo>
                  <a:pt x="109500" y="-744"/>
                  <a:pt x="104961" y="-856"/>
                  <a:pt x="103361" y="2344"/>
                </a:cubicBezTo>
                <a:lnTo>
                  <a:pt x="94580" y="20129"/>
                </a:lnTo>
                <a:lnTo>
                  <a:pt x="75121" y="22920"/>
                </a:lnTo>
                <a:cubicBezTo>
                  <a:pt x="71661" y="23440"/>
                  <a:pt x="70172" y="27719"/>
                  <a:pt x="72740" y="30287"/>
                </a:cubicBezTo>
                <a:lnTo>
                  <a:pt x="86878" y="44053"/>
                </a:lnTo>
                <a:lnTo>
                  <a:pt x="83530" y="63438"/>
                </a:lnTo>
                <a:cubicBezTo>
                  <a:pt x="83009" y="66898"/>
                  <a:pt x="86581" y="69577"/>
                  <a:pt x="89781" y="67977"/>
                </a:cubicBezTo>
                <a:lnTo>
                  <a:pt x="107231" y="58750"/>
                </a:lnTo>
                <a:lnTo>
                  <a:pt x="124569" y="67828"/>
                </a:lnTo>
                <a:cubicBezTo>
                  <a:pt x="127769" y="69428"/>
                  <a:pt x="131378" y="66749"/>
                  <a:pt x="130820" y="63289"/>
                </a:cubicBezTo>
                <a:lnTo>
                  <a:pt x="127471" y="43904"/>
                </a:lnTo>
                <a:lnTo>
                  <a:pt x="141610" y="30287"/>
                </a:lnTo>
                <a:cubicBezTo>
                  <a:pt x="144140" y="27756"/>
                  <a:pt x="142689" y="23478"/>
                  <a:pt x="139229" y="22920"/>
                </a:cubicBezTo>
                <a:lnTo>
                  <a:pt x="119769" y="20129"/>
                </a:lnTo>
                <a:close/>
                <a:moveTo>
                  <a:pt x="95250" y="95250"/>
                </a:moveTo>
                <a:cubicBezTo>
                  <a:pt x="85390" y="95250"/>
                  <a:pt x="77391" y="103250"/>
                  <a:pt x="77391" y="113109"/>
                </a:cubicBezTo>
                <a:lnTo>
                  <a:pt x="77391" y="172641"/>
                </a:lnTo>
                <a:cubicBezTo>
                  <a:pt x="77391" y="182500"/>
                  <a:pt x="85390" y="190500"/>
                  <a:pt x="95250" y="190500"/>
                </a:cubicBezTo>
                <a:lnTo>
                  <a:pt x="119063" y="190500"/>
                </a:lnTo>
                <a:cubicBezTo>
                  <a:pt x="128922" y="190500"/>
                  <a:pt x="136922" y="182500"/>
                  <a:pt x="136922" y="172641"/>
                </a:cubicBezTo>
                <a:lnTo>
                  <a:pt x="136922" y="113109"/>
                </a:lnTo>
                <a:cubicBezTo>
                  <a:pt x="136922" y="103250"/>
                  <a:pt x="128922" y="95250"/>
                  <a:pt x="119063" y="95250"/>
                </a:cubicBezTo>
                <a:lnTo>
                  <a:pt x="95250" y="95250"/>
                </a:lnTo>
                <a:close/>
                <a:moveTo>
                  <a:pt x="17859" y="119063"/>
                </a:moveTo>
                <a:cubicBezTo>
                  <a:pt x="8000" y="119063"/>
                  <a:pt x="0" y="127062"/>
                  <a:pt x="0" y="136922"/>
                </a:cubicBezTo>
                <a:lnTo>
                  <a:pt x="0" y="172641"/>
                </a:lnTo>
                <a:cubicBezTo>
                  <a:pt x="0" y="182500"/>
                  <a:pt x="8000" y="190500"/>
                  <a:pt x="17859" y="190500"/>
                </a:cubicBezTo>
                <a:lnTo>
                  <a:pt x="41672" y="190500"/>
                </a:lnTo>
                <a:cubicBezTo>
                  <a:pt x="51532" y="190500"/>
                  <a:pt x="59531" y="182500"/>
                  <a:pt x="59531" y="172641"/>
                </a:cubicBezTo>
                <a:lnTo>
                  <a:pt x="59531" y="136922"/>
                </a:lnTo>
                <a:cubicBezTo>
                  <a:pt x="59531" y="127062"/>
                  <a:pt x="51532" y="119063"/>
                  <a:pt x="41672" y="119063"/>
                </a:cubicBezTo>
                <a:lnTo>
                  <a:pt x="17859" y="119063"/>
                </a:lnTo>
                <a:close/>
                <a:moveTo>
                  <a:pt x="154781" y="160734"/>
                </a:moveTo>
                <a:lnTo>
                  <a:pt x="154781" y="172641"/>
                </a:lnTo>
                <a:cubicBezTo>
                  <a:pt x="154781" y="182500"/>
                  <a:pt x="162781" y="190500"/>
                  <a:pt x="172641" y="190500"/>
                </a:cubicBezTo>
                <a:lnTo>
                  <a:pt x="196453" y="190500"/>
                </a:lnTo>
                <a:cubicBezTo>
                  <a:pt x="206313" y="190500"/>
                  <a:pt x="214313" y="182500"/>
                  <a:pt x="214313" y="172641"/>
                </a:cubicBezTo>
                <a:lnTo>
                  <a:pt x="214313" y="160734"/>
                </a:lnTo>
                <a:cubicBezTo>
                  <a:pt x="214313" y="150875"/>
                  <a:pt x="206313" y="142875"/>
                  <a:pt x="196453" y="142875"/>
                </a:cubicBezTo>
                <a:lnTo>
                  <a:pt x="172641" y="142875"/>
                </a:lnTo>
                <a:cubicBezTo>
                  <a:pt x="162781" y="142875"/>
                  <a:pt x="154781" y="150875"/>
                  <a:pt x="154781" y="16073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815975" y="1492253"/>
            <a:ext cx="636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Important Features</a:t>
            </a:r>
            <a:endParaRPr lang="en-US" sz="1600" dirty="0"/>
          </a:p>
        </p:txBody>
      </p:sp>
      <p:pic>
        <p:nvPicPr>
          <p:cNvPr id="7" name="Image 0" descr="https://kimi-img.moonshot.cn/pub/slides/26-02-21-04:04:46-d6cbsnk5rbs6k7fkfomg.png"/>
          <p:cNvPicPr>
            <a:picLocks noChangeAspect="1"/>
          </p:cNvPicPr>
          <p:nvPr/>
        </p:nvPicPr>
        <p:blipFill>
          <a:blip r:embed="rId3"/>
          <a:srcRect l="20" r="20"/>
          <a:stretch/>
        </p:blipFill>
        <p:spPr>
          <a:xfrm>
            <a:off x="577850" y="1873253"/>
            <a:ext cx="6505575" cy="3590925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81025" y="5813425"/>
            <a:ext cx="6502400" cy="463550"/>
          </a:xfrm>
          <a:custGeom>
            <a:avLst/>
            <a:gdLst/>
            <a:ahLst/>
            <a:cxnLst/>
            <a:rect l="l" t="t" r="r" b="b"/>
            <a:pathLst>
              <a:path w="6502400" h="463550">
                <a:moveTo>
                  <a:pt x="76198" y="0"/>
                </a:moveTo>
                <a:lnTo>
                  <a:pt x="6426202" y="0"/>
                </a:lnTo>
                <a:cubicBezTo>
                  <a:pt x="6468285" y="0"/>
                  <a:pt x="6502400" y="34115"/>
                  <a:pt x="6502400" y="76198"/>
                </a:cubicBezTo>
                <a:lnTo>
                  <a:pt x="6502400" y="387352"/>
                </a:lnTo>
                <a:cubicBezTo>
                  <a:pt x="6502400" y="429435"/>
                  <a:pt x="6468285" y="463550"/>
                  <a:pt x="6426202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7550" y="596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946150" y="5930903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Processing_Delay and Shipping_Distance account for </a:t>
            </a: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predictive power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75835" y="1298575"/>
            <a:ext cx="4330700" cy="4235450"/>
          </a:xfrm>
          <a:custGeom>
            <a:avLst/>
            <a:gdLst/>
            <a:ahLst/>
            <a:cxnLst/>
            <a:rect l="l" t="t" r="r" b="b"/>
            <a:pathLst>
              <a:path w="4330700" h="4235450">
                <a:moveTo>
                  <a:pt x="76196" y="0"/>
                </a:moveTo>
                <a:lnTo>
                  <a:pt x="4254504" y="0"/>
                </a:lnTo>
                <a:cubicBezTo>
                  <a:pt x="4296586" y="0"/>
                  <a:pt x="4330700" y="34114"/>
                  <a:pt x="4330700" y="76196"/>
                </a:cubicBezTo>
                <a:lnTo>
                  <a:pt x="4330700" y="4159254"/>
                </a:lnTo>
                <a:cubicBezTo>
                  <a:pt x="4330700" y="4201336"/>
                  <a:pt x="4296586" y="4235450"/>
                  <a:pt x="4254504" y="4235450"/>
                </a:cubicBezTo>
                <a:lnTo>
                  <a:pt x="76196" y="4235450"/>
                </a:lnTo>
                <a:cubicBezTo>
                  <a:pt x="34114" y="4235450"/>
                  <a:pt x="0" y="4201336"/>
                  <a:pt x="0" y="41592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1410" y="1454153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Feature Insights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40935" y="1835153"/>
            <a:ext cx="4010025" cy="647700"/>
          </a:xfrm>
          <a:custGeom>
            <a:avLst/>
            <a:gdLst/>
            <a:ahLst/>
            <a:cxnLst/>
            <a:rect l="l" t="t" r="r" b="b"/>
            <a:pathLst>
              <a:path w="4010025" h="647700">
                <a:moveTo>
                  <a:pt x="0" y="0"/>
                </a:moveTo>
                <a:lnTo>
                  <a:pt x="3933823" y="0"/>
                </a:lnTo>
                <a:cubicBezTo>
                  <a:pt x="3975908" y="0"/>
                  <a:pt x="4010025" y="34117"/>
                  <a:pt x="4010025" y="76202"/>
                </a:cubicBezTo>
                <a:lnTo>
                  <a:pt x="4010025" y="571498"/>
                </a:lnTo>
                <a:cubicBezTo>
                  <a:pt x="4010025" y="613583"/>
                  <a:pt x="3975908" y="647700"/>
                  <a:pt x="3933823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40935" y="1835153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7726660" y="1930403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Processing_Delay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85129" y="1911353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24.5%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26660" y="2216153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processing = higher delay risk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40935" y="2559053"/>
            <a:ext cx="4010025" cy="647700"/>
          </a:xfrm>
          <a:custGeom>
            <a:avLst/>
            <a:gdLst/>
            <a:ahLst/>
            <a:cxnLst/>
            <a:rect l="l" t="t" r="r" b="b"/>
            <a:pathLst>
              <a:path w="4010025" h="647700">
                <a:moveTo>
                  <a:pt x="0" y="0"/>
                </a:moveTo>
                <a:lnTo>
                  <a:pt x="3933823" y="0"/>
                </a:lnTo>
                <a:cubicBezTo>
                  <a:pt x="3975908" y="0"/>
                  <a:pt x="4010025" y="34117"/>
                  <a:pt x="4010025" y="76202"/>
                </a:cubicBezTo>
                <a:lnTo>
                  <a:pt x="4010025" y="571498"/>
                </a:lnTo>
                <a:cubicBezTo>
                  <a:pt x="4010025" y="613583"/>
                  <a:pt x="3975908" y="647700"/>
                  <a:pt x="3933823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640935" y="2559053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60" y="265430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Shipping_Distance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24022" y="2635253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17.8%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26660" y="2940053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correlates with transit time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40935" y="3282953"/>
            <a:ext cx="4010025" cy="647700"/>
          </a:xfrm>
          <a:custGeom>
            <a:avLst/>
            <a:gdLst/>
            <a:ahLst/>
            <a:cxnLst/>
            <a:rect l="l" t="t" r="r" b="b"/>
            <a:pathLst>
              <a:path w="4010025" h="647700">
                <a:moveTo>
                  <a:pt x="0" y="0"/>
                </a:moveTo>
                <a:lnTo>
                  <a:pt x="3933823" y="0"/>
                </a:lnTo>
                <a:cubicBezTo>
                  <a:pt x="3975908" y="0"/>
                  <a:pt x="4010025" y="34117"/>
                  <a:pt x="4010025" y="76202"/>
                </a:cubicBezTo>
                <a:lnTo>
                  <a:pt x="4010025" y="571498"/>
                </a:lnTo>
                <a:cubicBezTo>
                  <a:pt x="4010025" y="613583"/>
                  <a:pt x="3975908" y="647700"/>
                  <a:pt x="3933823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40935" y="3282953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2"/>
          <p:cNvSpPr/>
          <p:nvPr/>
        </p:nvSpPr>
        <p:spPr>
          <a:xfrm>
            <a:off x="7726660" y="337820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Order_Priority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23625" y="3359153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12.3%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26660" y="3663953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orders get expedited handling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40935" y="4006853"/>
            <a:ext cx="4010025" cy="647700"/>
          </a:xfrm>
          <a:custGeom>
            <a:avLst/>
            <a:gdLst/>
            <a:ahLst/>
            <a:cxnLst/>
            <a:rect l="l" t="t" r="r" b="b"/>
            <a:pathLst>
              <a:path w="4010025" h="647700">
                <a:moveTo>
                  <a:pt x="0" y="0"/>
                </a:moveTo>
                <a:lnTo>
                  <a:pt x="3933823" y="0"/>
                </a:lnTo>
                <a:cubicBezTo>
                  <a:pt x="3975908" y="0"/>
                  <a:pt x="4010025" y="34117"/>
                  <a:pt x="4010025" y="76202"/>
                </a:cubicBezTo>
                <a:lnTo>
                  <a:pt x="4010025" y="571498"/>
                </a:lnTo>
                <a:cubicBezTo>
                  <a:pt x="4010025" y="613583"/>
                  <a:pt x="3975908" y="647700"/>
                  <a:pt x="3933823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640935" y="4006853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7"/>
          <p:cNvSpPr/>
          <p:nvPr/>
        </p:nvSpPr>
        <p:spPr>
          <a:xfrm>
            <a:off x="7726660" y="4102103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Carrier_Performance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76311" y="4083053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9.7%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26660" y="4387853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reliability matters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40935" y="4730753"/>
            <a:ext cx="4010025" cy="647700"/>
          </a:xfrm>
          <a:custGeom>
            <a:avLst/>
            <a:gdLst/>
            <a:ahLst/>
            <a:cxnLst/>
            <a:rect l="l" t="t" r="r" b="b"/>
            <a:pathLst>
              <a:path w="4010025" h="647700">
                <a:moveTo>
                  <a:pt x="0" y="0"/>
                </a:moveTo>
                <a:lnTo>
                  <a:pt x="3933823" y="0"/>
                </a:lnTo>
                <a:cubicBezTo>
                  <a:pt x="3975908" y="0"/>
                  <a:pt x="4010025" y="34117"/>
                  <a:pt x="4010025" y="76202"/>
                </a:cubicBezTo>
                <a:lnTo>
                  <a:pt x="4010025" y="571498"/>
                </a:lnTo>
                <a:cubicBezTo>
                  <a:pt x="4010025" y="613583"/>
                  <a:pt x="3975908" y="647700"/>
                  <a:pt x="3933823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640935" y="4730753"/>
            <a:ext cx="19050" cy="647700"/>
          </a:xfrm>
          <a:custGeom>
            <a:avLst/>
            <a:gdLst/>
            <a:ahLst/>
            <a:cxnLst/>
            <a:rect l="l" t="t" r="r" b="b"/>
            <a:pathLst>
              <a:path w="19050" h="647700">
                <a:moveTo>
                  <a:pt x="0" y="0"/>
                </a:moveTo>
                <a:lnTo>
                  <a:pt x="19050" y="0"/>
                </a:lnTo>
                <a:lnTo>
                  <a:pt x="190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2"/>
          <p:cNvSpPr/>
          <p:nvPr/>
        </p:nvSpPr>
        <p:spPr>
          <a:xfrm>
            <a:off x="7726660" y="4826003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Product_Category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268274" y="4806953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8.2%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726660" y="5111753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Fragile items need special handling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475835" y="5654677"/>
            <a:ext cx="4330700" cy="692150"/>
          </a:xfrm>
          <a:custGeom>
            <a:avLst/>
            <a:gdLst/>
            <a:ahLst/>
            <a:cxnLst/>
            <a:rect l="l" t="t" r="r" b="b"/>
            <a:pathLst>
              <a:path w="4330700" h="692150">
                <a:moveTo>
                  <a:pt x="76199" y="0"/>
                </a:moveTo>
                <a:lnTo>
                  <a:pt x="4254501" y="0"/>
                </a:lnTo>
                <a:cubicBezTo>
                  <a:pt x="4296585" y="0"/>
                  <a:pt x="4330700" y="34115"/>
                  <a:pt x="4330700" y="76199"/>
                </a:cubicBezTo>
                <a:lnTo>
                  <a:pt x="4330700" y="615951"/>
                </a:lnTo>
                <a:cubicBezTo>
                  <a:pt x="4330700" y="658035"/>
                  <a:pt x="4296585" y="692150"/>
                  <a:pt x="4254501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98073" y="590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0" name="Text 37"/>
          <p:cNvSpPr/>
          <p:nvPr/>
        </p:nvSpPr>
        <p:spPr>
          <a:xfrm>
            <a:off x="7902972" y="5772150"/>
            <a:ext cx="3867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importance aligns with logistics domain knowledge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126" y="366126"/>
            <a:ext cx="1153297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kern="0" spc="58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Interpretability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126" y="659027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77" y="1247880"/>
            <a:ext cx="6193634" cy="2788661"/>
          </a:xfrm>
          <a:custGeom>
            <a:avLst/>
            <a:gdLst/>
            <a:ahLst/>
            <a:cxnLst/>
            <a:rect l="l" t="t" r="r" b="b"/>
            <a:pathLst>
              <a:path w="6193634" h="2788661">
                <a:moveTo>
                  <a:pt x="73230" y="0"/>
                </a:moveTo>
                <a:lnTo>
                  <a:pt x="6120403" y="0"/>
                </a:lnTo>
                <a:cubicBezTo>
                  <a:pt x="6160847" y="0"/>
                  <a:pt x="6193634" y="32786"/>
                  <a:pt x="6193634" y="73230"/>
                </a:cubicBezTo>
                <a:lnTo>
                  <a:pt x="6193634" y="2715430"/>
                </a:lnTo>
                <a:cubicBezTo>
                  <a:pt x="6193634" y="2755847"/>
                  <a:pt x="6160820" y="2788661"/>
                  <a:pt x="6120403" y="2788661"/>
                </a:cubicBezTo>
                <a:lnTo>
                  <a:pt x="73230" y="2788661"/>
                </a:lnTo>
                <a:cubicBezTo>
                  <a:pt x="32786" y="2788661"/>
                  <a:pt x="0" y="2755874"/>
                  <a:pt x="0" y="2715430"/>
                </a:cubicBezTo>
                <a:lnTo>
                  <a:pt x="0" y="73230"/>
                </a:lnTo>
                <a:cubicBezTo>
                  <a:pt x="0" y="32813"/>
                  <a:pt x="32813" y="0"/>
                  <a:pt x="7323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5291" y="1433997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73227" y="0"/>
                </a:moveTo>
                <a:lnTo>
                  <a:pt x="439350" y="0"/>
                </a:lnTo>
                <a:cubicBezTo>
                  <a:pt x="479792" y="0"/>
                  <a:pt x="512577" y="32785"/>
                  <a:pt x="512577" y="73227"/>
                </a:cubicBezTo>
                <a:lnTo>
                  <a:pt x="512577" y="439350"/>
                </a:lnTo>
                <a:cubicBezTo>
                  <a:pt x="512577" y="479792"/>
                  <a:pt x="479792" y="512577"/>
                  <a:pt x="439350" y="512577"/>
                </a:cubicBezTo>
                <a:lnTo>
                  <a:pt x="73227" y="512577"/>
                </a:lnTo>
                <a:cubicBezTo>
                  <a:pt x="32785" y="512577"/>
                  <a:pt x="0" y="479792"/>
                  <a:pt x="0" y="439350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742" y="1580447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51486" y="24027"/>
                </a:moveTo>
                <a:cubicBezTo>
                  <a:pt x="51486" y="10769"/>
                  <a:pt x="62256" y="0"/>
                  <a:pt x="75514" y="0"/>
                </a:cubicBezTo>
                <a:lnTo>
                  <a:pt x="85811" y="0"/>
                </a:lnTo>
                <a:cubicBezTo>
                  <a:pt x="93405" y="0"/>
                  <a:pt x="99541" y="6135"/>
                  <a:pt x="99541" y="13730"/>
                </a:cubicBezTo>
                <a:lnTo>
                  <a:pt x="99541" y="205946"/>
                </a:lnTo>
                <a:cubicBezTo>
                  <a:pt x="99541" y="213540"/>
                  <a:pt x="93405" y="219676"/>
                  <a:pt x="85811" y="219676"/>
                </a:cubicBezTo>
                <a:lnTo>
                  <a:pt x="72081" y="219676"/>
                </a:lnTo>
                <a:cubicBezTo>
                  <a:pt x="59295" y="219676"/>
                  <a:pt x="48526" y="210923"/>
                  <a:pt x="45480" y="199081"/>
                </a:cubicBezTo>
                <a:cubicBezTo>
                  <a:pt x="45179" y="199081"/>
                  <a:pt x="44922" y="199081"/>
                  <a:pt x="44622" y="199081"/>
                </a:cubicBezTo>
                <a:cubicBezTo>
                  <a:pt x="25657" y="199081"/>
                  <a:pt x="10297" y="183721"/>
                  <a:pt x="10297" y="164757"/>
                </a:cubicBezTo>
                <a:cubicBezTo>
                  <a:pt x="10297" y="157034"/>
                  <a:pt x="12872" y="149911"/>
                  <a:pt x="17162" y="144162"/>
                </a:cubicBezTo>
                <a:cubicBezTo>
                  <a:pt x="8839" y="137898"/>
                  <a:pt x="3432" y="127944"/>
                  <a:pt x="3432" y="116703"/>
                </a:cubicBezTo>
                <a:cubicBezTo>
                  <a:pt x="3432" y="103445"/>
                  <a:pt x="10984" y="91903"/>
                  <a:pt x="21968" y="86197"/>
                </a:cubicBezTo>
                <a:cubicBezTo>
                  <a:pt x="18921" y="81048"/>
                  <a:pt x="17162" y="75042"/>
                  <a:pt x="17162" y="68649"/>
                </a:cubicBezTo>
                <a:cubicBezTo>
                  <a:pt x="17162" y="49684"/>
                  <a:pt x="32522" y="34324"/>
                  <a:pt x="51486" y="34324"/>
                </a:cubicBezTo>
                <a:lnTo>
                  <a:pt x="51486" y="24027"/>
                </a:lnTo>
                <a:close/>
                <a:moveTo>
                  <a:pt x="168189" y="24027"/>
                </a:moveTo>
                <a:lnTo>
                  <a:pt x="168189" y="34324"/>
                </a:lnTo>
                <a:cubicBezTo>
                  <a:pt x="187153" y="34324"/>
                  <a:pt x="202514" y="49684"/>
                  <a:pt x="202514" y="68649"/>
                </a:cubicBezTo>
                <a:cubicBezTo>
                  <a:pt x="202514" y="75084"/>
                  <a:pt x="200754" y="81091"/>
                  <a:pt x="197708" y="86197"/>
                </a:cubicBezTo>
                <a:cubicBezTo>
                  <a:pt x="208735" y="91903"/>
                  <a:pt x="216243" y="103402"/>
                  <a:pt x="216243" y="116703"/>
                </a:cubicBezTo>
                <a:cubicBezTo>
                  <a:pt x="216243" y="127944"/>
                  <a:pt x="210837" y="137898"/>
                  <a:pt x="202514" y="144162"/>
                </a:cubicBezTo>
                <a:cubicBezTo>
                  <a:pt x="206804" y="149911"/>
                  <a:pt x="209378" y="157034"/>
                  <a:pt x="209378" y="164757"/>
                </a:cubicBezTo>
                <a:cubicBezTo>
                  <a:pt x="209378" y="183721"/>
                  <a:pt x="194018" y="199081"/>
                  <a:pt x="175054" y="199081"/>
                </a:cubicBezTo>
                <a:cubicBezTo>
                  <a:pt x="174754" y="199081"/>
                  <a:pt x="174496" y="199081"/>
                  <a:pt x="174196" y="199081"/>
                </a:cubicBezTo>
                <a:cubicBezTo>
                  <a:pt x="171150" y="210923"/>
                  <a:pt x="160380" y="219676"/>
                  <a:pt x="147595" y="219676"/>
                </a:cubicBezTo>
                <a:lnTo>
                  <a:pt x="133865" y="219676"/>
                </a:lnTo>
                <a:cubicBezTo>
                  <a:pt x="126271" y="219676"/>
                  <a:pt x="120135" y="213540"/>
                  <a:pt x="120135" y="205946"/>
                </a:cubicBezTo>
                <a:lnTo>
                  <a:pt x="120135" y="13730"/>
                </a:lnTo>
                <a:cubicBezTo>
                  <a:pt x="120135" y="6135"/>
                  <a:pt x="126271" y="0"/>
                  <a:pt x="133865" y="0"/>
                </a:cubicBezTo>
                <a:lnTo>
                  <a:pt x="144162" y="0"/>
                </a:lnTo>
                <a:cubicBezTo>
                  <a:pt x="157420" y="0"/>
                  <a:pt x="168189" y="10769"/>
                  <a:pt x="168189" y="2402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177706" y="1433997"/>
            <a:ext cx="203200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7706" y="1726898"/>
            <a:ext cx="199538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SHapley Additive exPlanations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5291" y="2093024"/>
            <a:ext cx="5894631" cy="47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values provide </a:t>
            </a:r>
            <a:r>
              <a:rPr lang="en-US" sz="115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game-theoretic explanations</a:t>
            </a: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individual predictions, showing how each feature contributes to pushing the prediction from the base value to the final output.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291" y="2715438"/>
            <a:ext cx="5821405" cy="1134991"/>
          </a:xfrm>
          <a:custGeom>
            <a:avLst/>
            <a:gdLst/>
            <a:ahLst/>
            <a:cxnLst/>
            <a:rect l="l" t="t" r="r" b="b"/>
            <a:pathLst>
              <a:path w="5821405" h="1134991">
                <a:moveTo>
                  <a:pt x="73230" y="0"/>
                </a:moveTo>
                <a:lnTo>
                  <a:pt x="5748176" y="0"/>
                </a:lnTo>
                <a:cubicBezTo>
                  <a:pt x="5788619" y="0"/>
                  <a:pt x="5821405" y="32786"/>
                  <a:pt x="5821405" y="73230"/>
                </a:cubicBezTo>
                <a:lnTo>
                  <a:pt x="5821405" y="1061761"/>
                </a:lnTo>
                <a:cubicBezTo>
                  <a:pt x="5821405" y="1102205"/>
                  <a:pt x="5788619" y="1134991"/>
                  <a:pt x="5748176" y="1134991"/>
                </a:cubicBezTo>
                <a:lnTo>
                  <a:pt x="73230" y="1134991"/>
                </a:lnTo>
                <a:cubicBezTo>
                  <a:pt x="32786" y="1134991"/>
                  <a:pt x="0" y="1102205"/>
                  <a:pt x="0" y="1061761"/>
                </a:cubicBezTo>
                <a:lnTo>
                  <a:pt x="0" y="73230"/>
                </a:lnTo>
                <a:cubicBezTo>
                  <a:pt x="0" y="32813"/>
                  <a:pt x="32813" y="0"/>
                  <a:pt x="7323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1742" y="2861889"/>
            <a:ext cx="560173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9201" y="3228015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958030" y="3191402"/>
            <a:ext cx="1437045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interpretability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30162" y="3228015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58990" y="3191402"/>
            <a:ext cx="1244829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explanations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201" y="3520916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958030" y="3484303"/>
            <a:ext cx="131805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interactions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30162" y="3520916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990" y="3484303"/>
            <a:ext cx="1070919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Model-agnostic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9177" y="4109767"/>
            <a:ext cx="6193634" cy="2501864"/>
          </a:xfrm>
          <a:custGeom>
            <a:avLst/>
            <a:gdLst/>
            <a:ahLst/>
            <a:cxnLst/>
            <a:rect l="l" t="t" r="r" b="b"/>
            <a:pathLst>
              <a:path w="6193634" h="2422535">
                <a:moveTo>
                  <a:pt x="73233" y="0"/>
                </a:moveTo>
                <a:lnTo>
                  <a:pt x="6120400" y="0"/>
                </a:lnTo>
                <a:cubicBezTo>
                  <a:pt x="6160846" y="0"/>
                  <a:pt x="6193634" y="32788"/>
                  <a:pt x="6193634" y="73233"/>
                </a:cubicBezTo>
                <a:lnTo>
                  <a:pt x="6193634" y="2349301"/>
                </a:lnTo>
                <a:cubicBezTo>
                  <a:pt x="6193634" y="2389747"/>
                  <a:pt x="6160846" y="2422535"/>
                  <a:pt x="6120400" y="2422535"/>
                </a:cubicBezTo>
                <a:lnTo>
                  <a:pt x="73233" y="2422535"/>
                </a:lnTo>
                <a:cubicBezTo>
                  <a:pt x="32788" y="2422535"/>
                  <a:pt x="0" y="2389747"/>
                  <a:pt x="0" y="2349301"/>
                </a:cubicBezTo>
                <a:lnTo>
                  <a:pt x="0" y="73233"/>
                </a:lnTo>
                <a:cubicBezTo>
                  <a:pt x="0" y="32788"/>
                  <a:pt x="32788" y="0"/>
                  <a:pt x="7323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8174" y="4411820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0" y="28604"/>
                </a:moveTo>
                <a:cubicBezTo>
                  <a:pt x="0" y="19129"/>
                  <a:pt x="7687" y="11441"/>
                  <a:pt x="17162" y="11441"/>
                </a:cubicBezTo>
                <a:lnTo>
                  <a:pt x="51486" y="11441"/>
                </a:lnTo>
                <a:cubicBezTo>
                  <a:pt x="60961" y="11441"/>
                  <a:pt x="68649" y="19129"/>
                  <a:pt x="68649" y="28604"/>
                </a:cubicBezTo>
                <a:lnTo>
                  <a:pt x="68649" y="34324"/>
                </a:lnTo>
                <a:lnTo>
                  <a:pt x="114414" y="34324"/>
                </a:lnTo>
                <a:lnTo>
                  <a:pt x="114414" y="28604"/>
                </a:lnTo>
                <a:cubicBezTo>
                  <a:pt x="114414" y="19129"/>
                  <a:pt x="122102" y="11441"/>
                  <a:pt x="131577" y="11441"/>
                </a:cubicBezTo>
                <a:lnTo>
                  <a:pt x="165901" y="11441"/>
                </a:lnTo>
                <a:cubicBezTo>
                  <a:pt x="175376" y="11441"/>
                  <a:pt x="183063" y="19129"/>
                  <a:pt x="183063" y="28604"/>
                </a:cubicBezTo>
                <a:lnTo>
                  <a:pt x="183063" y="62928"/>
                </a:lnTo>
                <a:cubicBezTo>
                  <a:pt x="183063" y="72403"/>
                  <a:pt x="175376" y="80090"/>
                  <a:pt x="165901" y="80090"/>
                </a:cubicBezTo>
                <a:lnTo>
                  <a:pt x="131577" y="80090"/>
                </a:lnTo>
                <a:cubicBezTo>
                  <a:pt x="122102" y="80090"/>
                  <a:pt x="114414" y="72403"/>
                  <a:pt x="114414" y="62928"/>
                </a:cubicBezTo>
                <a:lnTo>
                  <a:pt x="114414" y="57207"/>
                </a:lnTo>
                <a:lnTo>
                  <a:pt x="68649" y="57207"/>
                </a:lnTo>
                <a:lnTo>
                  <a:pt x="68649" y="62928"/>
                </a:lnTo>
                <a:cubicBezTo>
                  <a:pt x="68649" y="65538"/>
                  <a:pt x="68041" y="68041"/>
                  <a:pt x="67004" y="70258"/>
                </a:cubicBezTo>
                <a:lnTo>
                  <a:pt x="91532" y="102973"/>
                </a:lnTo>
                <a:lnTo>
                  <a:pt x="120135" y="102973"/>
                </a:lnTo>
                <a:cubicBezTo>
                  <a:pt x="129610" y="102973"/>
                  <a:pt x="137297" y="110660"/>
                  <a:pt x="137297" y="120135"/>
                </a:cubicBezTo>
                <a:lnTo>
                  <a:pt x="137297" y="154459"/>
                </a:lnTo>
                <a:cubicBezTo>
                  <a:pt x="137297" y="163934"/>
                  <a:pt x="129610" y="171622"/>
                  <a:pt x="120135" y="171622"/>
                </a:cubicBezTo>
                <a:lnTo>
                  <a:pt x="85811" y="171622"/>
                </a:lnTo>
                <a:cubicBezTo>
                  <a:pt x="76336" y="171622"/>
                  <a:pt x="68649" y="163934"/>
                  <a:pt x="68649" y="154459"/>
                </a:cubicBezTo>
                <a:lnTo>
                  <a:pt x="68649" y="120135"/>
                </a:lnTo>
                <a:cubicBezTo>
                  <a:pt x="68649" y="117525"/>
                  <a:pt x="69256" y="115022"/>
                  <a:pt x="70293" y="112805"/>
                </a:cubicBezTo>
                <a:lnTo>
                  <a:pt x="45766" y="80090"/>
                </a:lnTo>
                <a:lnTo>
                  <a:pt x="17162" y="80090"/>
                </a:lnTo>
                <a:cubicBezTo>
                  <a:pt x="7687" y="80090"/>
                  <a:pt x="0" y="72403"/>
                  <a:pt x="0" y="62928"/>
                </a:cubicBezTo>
                <a:lnTo>
                  <a:pt x="0" y="2860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784120" y="4375207"/>
            <a:ext cx="5684108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Interaction Values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5291" y="4741333"/>
            <a:ext cx="5821405" cy="1684180"/>
          </a:xfrm>
          <a:custGeom>
            <a:avLst/>
            <a:gdLst/>
            <a:ahLst/>
            <a:cxnLst/>
            <a:rect l="l" t="t" r="r" b="b"/>
            <a:pathLst>
              <a:path w="5821405" h="1684180">
                <a:moveTo>
                  <a:pt x="73228" y="0"/>
                </a:moveTo>
                <a:lnTo>
                  <a:pt x="5748177" y="0"/>
                </a:lnTo>
                <a:cubicBezTo>
                  <a:pt x="5788620" y="0"/>
                  <a:pt x="5821405" y="32785"/>
                  <a:pt x="5821405" y="73228"/>
                </a:cubicBezTo>
                <a:lnTo>
                  <a:pt x="5821405" y="1610952"/>
                </a:lnTo>
                <a:cubicBezTo>
                  <a:pt x="5821405" y="1651395"/>
                  <a:pt x="5788620" y="1684180"/>
                  <a:pt x="5748177" y="1684180"/>
                </a:cubicBezTo>
                <a:lnTo>
                  <a:pt x="73228" y="1684180"/>
                </a:lnTo>
                <a:cubicBezTo>
                  <a:pt x="32785" y="1684180"/>
                  <a:pt x="0" y="1651395"/>
                  <a:pt x="0" y="1610952"/>
                </a:cubicBezTo>
                <a:lnTo>
                  <a:pt x="0" y="73228"/>
                </a:lnTo>
                <a:cubicBezTo>
                  <a:pt x="0" y="32785"/>
                  <a:pt x="32785" y="0"/>
                  <a:pt x="7322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5129" y="4887784"/>
            <a:ext cx="560173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YOUR SHAP INTERACTION PLOT HERE]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0895" y="5226450"/>
            <a:ext cx="5510198" cy="1043459"/>
          </a:xfrm>
          <a:custGeom>
            <a:avLst/>
            <a:gdLst/>
            <a:ahLst/>
            <a:cxnLst/>
            <a:rect l="l" t="t" r="r" b="b"/>
            <a:pathLst>
              <a:path w="5510198" h="1043459">
                <a:moveTo>
                  <a:pt x="73230" y="0"/>
                </a:moveTo>
                <a:lnTo>
                  <a:pt x="5436968" y="0"/>
                </a:lnTo>
                <a:cubicBezTo>
                  <a:pt x="5477412" y="0"/>
                  <a:pt x="5510198" y="32786"/>
                  <a:pt x="5510198" y="73230"/>
                </a:cubicBezTo>
                <a:lnTo>
                  <a:pt x="5510198" y="970229"/>
                </a:lnTo>
                <a:cubicBezTo>
                  <a:pt x="5510198" y="1010673"/>
                  <a:pt x="5477412" y="1043459"/>
                  <a:pt x="5436968" y="1043459"/>
                </a:cubicBezTo>
                <a:lnTo>
                  <a:pt x="73230" y="1043459"/>
                </a:lnTo>
                <a:cubicBezTo>
                  <a:pt x="32786" y="1043459"/>
                  <a:pt x="0" y="1010673"/>
                  <a:pt x="0" y="970229"/>
                </a:cubicBezTo>
                <a:lnTo>
                  <a:pt x="0" y="73230"/>
                </a:lnTo>
                <a:cubicBezTo>
                  <a:pt x="0" y="32813"/>
                  <a:pt x="32813" y="0"/>
                  <a:pt x="7323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A6D8C">
                <a:alpha val="40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321927" y="5455279"/>
            <a:ext cx="288324" cy="329514"/>
          </a:xfrm>
          <a:custGeom>
            <a:avLst/>
            <a:gdLst/>
            <a:ahLst/>
            <a:cxnLst/>
            <a:rect l="l" t="t" r="r" b="b"/>
            <a:pathLst>
              <a:path w="288324" h="329514">
                <a:moveTo>
                  <a:pt x="41189" y="20595"/>
                </a:moveTo>
                <a:cubicBezTo>
                  <a:pt x="18471" y="20595"/>
                  <a:pt x="0" y="39065"/>
                  <a:pt x="0" y="61784"/>
                </a:cubicBezTo>
                <a:lnTo>
                  <a:pt x="0" y="267730"/>
                </a:lnTo>
                <a:cubicBezTo>
                  <a:pt x="0" y="290448"/>
                  <a:pt x="18471" y="308919"/>
                  <a:pt x="41189" y="308919"/>
                </a:cubicBezTo>
                <a:lnTo>
                  <a:pt x="247135" y="308919"/>
                </a:lnTo>
                <a:cubicBezTo>
                  <a:pt x="269854" y="308919"/>
                  <a:pt x="288324" y="290448"/>
                  <a:pt x="288324" y="267730"/>
                </a:cubicBezTo>
                <a:lnTo>
                  <a:pt x="288324" y="61784"/>
                </a:lnTo>
                <a:cubicBezTo>
                  <a:pt x="288324" y="39065"/>
                  <a:pt x="269854" y="20595"/>
                  <a:pt x="247135" y="20595"/>
                </a:cubicBezTo>
                <a:lnTo>
                  <a:pt x="41189" y="20595"/>
                </a:lnTo>
                <a:close/>
                <a:moveTo>
                  <a:pt x="82378" y="72081"/>
                </a:moveTo>
                <a:cubicBezTo>
                  <a:pt x="99428" y="72081"/>
                  <a:pt x="113270" y="85923"/>
                  <a:pt x="113270" y="102973"/>
                </a:cubicBezTo>
                <a:cubicBezTo>
                  <a:pt x="113270" y="120023"/>
                  <a:pt x="99428" y="133865"/>
                  <a:pt x="82378" y="133865"/>
                </a:cubicBezTo>
                <a:cubicBezTo>
                  <a:pt x="65329" y="133865"/>
                  <a:pt x="51486" y="120023"/>
                  <a:pt x="51486" y="102973"/>
                </a:cubicBezTo>
                <a:cubicBezTo>
                  <a:pt x="51486" y="85923"/>
                  <a:pt x="65329" y="72081"/>
                  <a:pt x="82378" y="72081"/>
                </a:cubicBezTo>
                <a:close/>
                <a:moveTo>
                  <a:pt x="175054" y="144162"/>
                </a:moveTo>
                <a:cubicBezTo>
                  <a:pt x="180460" y="144162"/>
                  <a:pt x="185416" y="146994"/>
                  <a:pt x="188247" y="151563"/>
                </a:cubicBezTo>
                <a:lnTo>
                  <a:pt x="244883" y="244239"/>
                </a:lnTo>
                <a:cubicBezTo>
                  <a:pt x="247779" y="249002"/>
                  <a:pt x="247907" y="254987"/>
                  <a:pt x="245204" y="259878"/>
                </a:cubicBezTo>
                <a:cubicBezTo>
                  <a:pt x="242501" y="264769"/>
                  <a:pt x="237288" y="267730"/>
                  <a:pt x="231689" y="267730"/>
                </a:cubicBezTo>
                <a:lnTo>
                  <a:pt x="56635" y="267730"/>
                </a:lnTo>
                <a:cubicBezTo>
                  <a:pt x="50907" y="267730"/>
                  <a:pt x="45566" y="264512"/>
                  <a:pt x="42927" y="259428"/>
                </a:cubicBezTo>
                <a:cubicBezTo>
                  <a:pt x="40288" y="254343"/>
                  <a:pt x="40674" y="248165"/>
                  <a:pt x="43957" y="243467"/>
                </a:cubicBezTo>
                <a:lnTo>
                  <a:pt x="79997" y="191980"/>
                </a:lnTo>
                <a:cubicBezTo>
                  <a:pt x="82893" y="187861"/>
                  <a:pt x="87591" y="185416"/>
                  <a:pt x="92676" y="185416"/>
                </a:cubicBezTo>
                <a:cubicBezTo>
                  <a:pt x="97760" y="185416"/>
                  <a:pt x="102458" y="187861"/>
                  <a:pt x="105354" y="191980"/>
                </a:cubicBezTo>
                <a:lnTo>
                  <a:pt x="122345" y="216308"/>
                </a:lnTo>
                <a:lnTo>
                  <a:pt x="161861" y="151628"/>
                </a:lnTo>
                <a:cubicBezTo>
                  <a:pt x="164692" y="147058"/>
                  <a:pt x="169648" y="144227"/>
                  <a:pt x="175054" y="14422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7" name="Text 25"/>
          <p:cNvSpPr/>
          <p:nvPr/>
        </p:nvSpPr>
        <p:spPr>
          <a:xfrm>
            <a:off x="907688" y="5858018"/>
            <a:ext cx="5116613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Interaction Values Visualization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52167" y="1247880"/>
            <a:ext cx="5067796" cy="4472841"/>
          </a:xfrm>
          <a:custGeom>
            <a:avLst/>
            <a:gdLst/>
            <a:ahLst/>
            <a:cxnLst/>
            <a:rect l="l" t="t" r="r" b="b"/>
            <a:pathLst>
              <a:path w="5067796" h="4472841">
                <a:moveTo>
                  <a:pt x="73220" y="0"/>
                </a:moveTo>
                <a:lnTo>
                  <a:pt x="4994575" y="0"/>
                </a:lnTo>
                <a:cubicBezTo>
                  <a:pt x="5035014" y="0"/>
                  <a:pt x="5067796" y="32782"/>
                  <a:pt x="5067796" y="73220"/>
                </a:cubicBezTo>
                <a:lnTo>
                  <a:pt x="5067796" y="4399620"/>
                </a:lnTo>
                <a:cubicBezTo>
                  <a:pt x="5067796" y="4440059"/>
                  <a:pt x="5035014" y="4472841"/>
                  <a:pt x="4994575" y="4472841"/>
                </a:cubicBezTo>
                <a:lnTo>
                  <a:pt x="73220" y="4472841"/>
                </a:lnTo>
                <a:cubicBezTo>
                  <a:pt x="32782" y="4472841"/>
                  <a:pt x="0" y="4440059"/>
                  <a:pt x="0" y="4399620"/>
                </a:cubicBezTo>
                <a:lnTo>
                  <a:pt x="0" y="73220"/>
                </a:lnTo>
                <a:cubicBezTo>
                  <a:pt x="0" y="32809"/>
                  <a:pt x="32809" y="0"/>
                  <a:pt x="7322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4047" y="1470610"/>
            <a:ext cx="137297" cy="183063"/>
          </a:xfrm>
          <a:custGeom>
            <a:avLst/>
            <a:gdLst/>
            <a:ahLst/>
            <a:cxnLst/>
            <a:rect l="l" t="t" r="r" b="b"/>
            <a:pathLst>
              <a:path w="137297" h="183063">
                <a:moveTo>
                  <a:pt x="104725" y="137297"/>
                </a:moveTo>
                <a:cubicBezTo>
                  <a:pt x="107335" y="129324"/>
                  <a:pt x="112555" y="122102"/>
                  <a:pt x="118455" y="115880"/>
                </a:cubicBezTo>
                <a:cubicBezTo>
                  <a:pt x="130146" y="103581"/>
                  <a:pt x="137297" y="86955"/>
                  <a:pt x="137297" y="68649"/>
                </a:cubicBezTo>
                <a:cubicBezTo>
                  <a:pt x="137297" y="30749"/>
                  <a:pt x="106548" y="0"/>
                  <a:pt x="68649" y="0"/>
                </a:cubicBezTo>
                <a:cubicBezTo>
                  <a:pt x="30749" y="0"/>
                  <a:pt x="0" y="30749"/>
                  <a:pt x="0" y="68649"/>
                </a:cubicBezTo>
                <a:cubicBezTo>
                  <a:pt x="0" y="86955"/>
                  <a:pt x="7151" y="103581"/>
                  <a:pt x="18843" y="115880"/>
                </a:cubicBezTo>
                <a:cubicBezTo>
                  <a:pt x="24742" y="122102"/>
                  <a:pt x="29998" y="129324"/>
                  <a:pt x="32572" y="137297"/>
                </a:cubicBezTo>
                <a:lnTo>
                  <a:pt x="104689" y="137297"/>
                </a:lnTo>
                <a:close/>
                <a:moveTo>
                  <a:pt x="102973" y="154459"/>
                </a:moveTo>
                <a:lnTo>
                  <a:pt x="34324" y="154459"/>
                </a:lnTo>
                <a:lnTo>
                  <a:pt x="34324" y="160180"/>
                </a:lnTo>
                <a:cubicBezTo>
                  <a:pt x="34324" y="175984"/>
                  <a:pt x="47124" y="188784"/>
                  <a:pt x="62928" y="188784"/>
                </a:cubicBezTo>
                <a:lnTo>
                  <a:pt x="74369" y="188784"/>
                </a:lnTo>
                <a:cubicBezTo>
                  <a:pt x="90173" y="188784"/>
                  <a:pt x="102973" y="175984"/>
                  <a:pt x="102973" y="160180"/>
                </a:cubicBezTo>
                <a:lnTo>
                  <a:pt x="102973" y="154459"/>
                </a:lnTo>
                <a:close/>
                <a:moveTo>
                  <a:pt x="65788" y="40045"/>
                </a:moveTo>
                <a:cubicBezTo>
                  <a:pt x="51558" y="40045"/>
                  <a:pt x="40045" y="51558"/>
                  <a:pt x="40045" y="65788"/>
                </a:cubicBezTo>
                <a:cubicBezTo>
                  <a:pt x="40045" y="70544"/>
                  <a:pt x="36219" y="74369"/>
                  <a:pt x="31464" y="74369"/>
                </a:cubicBezTo>
                <a:cubicBezTo>
                  <a:pt x="26709" y="74369"/>
                  <a:pt x="22883" y="70544"/>
                  <a:pt x="22883" y="65788"/>
                </a:cubicBezTo>
                <a:cubicBezTo>
                  <a:pt x="22883" y="42083"/>
                  <a:pt x="42083" y="22883"/>
                  <a:pt x="65788" y="22883"/>
                </a:cubicBezTo>
                <a:cubicBezTo>
                  <a:pt x="70544" y="22883"/>
                  <a:pt x="74369" y="26709"/>
                  <a:pt x="74369" y="31464"/>
                </a:cubicBezTo>
                <a:cubicBezTo>
                  <a:pt x="74369" y="36219"/>
                  <a:pt x="70544" y="40045"/>
                  <a:pt x="65788" y="4004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7167110" y="1433997"/>
            <a:ext cx="455827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from SHAP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38281" y="1836736"/>
            <a:ext cx="4695568" cy="659027"/>
          </a:xfrm>
          <a:custGeom>
            <a:avLst/>
            <a:gdLst/>
            <a:ahLst/>
            <a:cxnLst/>
            <a:rect l="l" t="t" r="r" b="b"/>
            <a:pathLst>
              <a:path w="4695568" h="659027">
                <a:moveTo>
                  <a:pt x="73224" y="0"/>
                </a:moveTo>
                <a:lnTo>
                  <a:pt x="4622343" y="0"/>
                </a:lnTo>
                <a:cubicBezTo>
                  <a:pt x="4662784" y="0"/>
                  <a:pt x="4695568" y="32784"/>
                  <a:pt x="4695568" y="73224"/>
                </a:cubicBezTo>
                <a:lnTo>
                  <a:pt x="4695568" y="585803"/>
                </a:lnTo>
                <a:cubicBezTo>
                  <a:pt x="4695568" y="626243"/>
                  <a:pt x="4662784" y="659027"/>
                  <a:pt x="4622343" y="659027"/>
                </a:cubicBezTo>
                <a:lnTo>
                  <a:pt x="73224" y="659027"/>
                </a:lnTo>
                <a:cubicBezTo>
                  <a:pt x="32784" y="659027"/>
                  <a:pt x="0" y="626243"/>
                  <a:pt x="0" y="585803"/>
                </a:cubicBezTo>
                <a:lnTo>
                  <a:pt x="0" y="73224"/>
                </a:lnTo>
                <a:cubicBezTo>
                  <a:pt x="0" y="32811"/>
                  <a:pt x="32811" y="0"/>
                  <a:pt x="732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48119" y="1946574"/>
            <a:ext cx="292901" cy="292901"/>
          </a:xfrm>
          <a:custGeom>
            <a:avLst/>
            <a:gdLst/>
            <a:ahLst/>
            <a:cxnLst/>
            <a:rect l="l" t="t" r="r" b="b"/>
            <a:pathLst>
              <a:path w="292901" h="292901">
                <a:moveTo>
                  <a:pt x="146450" y="0"/>
                </a:moveTo>
                <a:lnTo>
                  <a:pt x="146450" y="0"/>
                </a:lnTo>
                <a:cubicBezTo>
                  <a:pt x="227279" y="0"/>
                  <a:pt x="292901" y="65622"/>
                  <a:pt x="292901" y="146450"/>
                </a:cubicBezTo>
                <a:lnTo>
                  <a:pt x="292901" y="146450"/>
                </a:lnTo>
                <a:cubicBezTo>
                  <a:pt x="292901" y="227279"/>
                  <a:pt x="227279" y="292901"/>
                  <a:pt x="146450" y="292901"/>
                </a:cubicBezTo>
                <a:lnTo>
                  <a:pt x="146450" y="292901"/>
                </a:lnTo>
                <a:cubicBezTo>
                  <a:pt x="65622" y="292901"/>
                  <a:pt x="0" y="227279"/>
                  <a:pt x="0" y="146450"/>
                </a:cubicBezTo>
                <a:lnTo>
                  <a:pt x="0" y="146450"/>
                </a:lnTo>
                <a:cubicBezTo>
                  <a:pt x="0" y="65622"/>
                  <a:pt x="65622" y="0"/>
                  <a:pt x="1464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74165" y="2001492"/>
            <a:ext cx="10068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50858" y="1946574"/>
            <a:ext cx="305715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Delay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50858" y="2202862"/>
            <a:ext cx="3048000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&gt; 3 days significantly increase delay probability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38281" y="2605601"/>
            <a:ext cx="4695568" cy="659027"/>
          </a:xfrm>
          <a:custGeom>
            <a:avLst/>
            <a:gdLst/>
            <a:ahLst/>
            <a:cxnLst/>
            <a:rect l="l" t="t" r="r" b="b"/>
            <a:pathLst>
              <a:path w="4695568" h="659027">
                <a:moveTo>
                  <a:pt x="73224" y="0"/>
                </a:moveTo>
                <a:lnTo>
                  <a:pt x="4622343" y="0"/>
                </a:lnTo>
                <a:cubicBezTo>
                  <a:pt x="4662784" y="0"/>
                  <a:pt x="4695568" y="32784"/>
                  <a:pt x="4695568" y="73224"/>
                </a:cubicBezTo>
                <a:lnTo>
                  <a:pt x="4695568" y="585803"/>
                </a:lnTo>
                <a:cubicBezTo>
                  <a:pt x="4695568" y="626243"/>
                  <a:pt x="4662784" y="659027"/>
                  <a:pt x="4622343" y="659027"/>
                </a:cubicBezTo>
                <a:lnTo>
                  <a:pt x="73224" y="659027"/>
                </a:lnTo>
                <a:cubicBezTo>
                  <a:pt x="32784" y="659027"/>
                  <a:pt x="0" y="626243"/>
                  <a:pt x="0" y="585803"/>
                </a:cubicBezTo>
                <a:lnTo>
                  <a:pt x="0" y="73224"/>
                </a:lnTo>
                <a:cubicBezTo>
                  <a:pt x="0" y="32811"/>
                  <a:pt x="32811" y="0"/>
                  <a:pt x="732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48119" y="2715438"/>
            <a:ext cx="292901" cy="292901"/>
          </a:xfrm>
          <a:custGeom>
            <a:avLst/>
            <a:gdLst/>
            <a:ahLst/>
            <a:cxnLst/>
            <a:rect l="l" t="t" r="r" b="b"/>
            <a:pathLst>
              <a:path w="292901" h="292901">
                <a:moveTo>
                  <a:pt x="146450" y="0"/>
                </a:moveTo>
                <a:lnTo>
                  <a:pt x="146450" y="0"/>
                </a:lnTo>
                <a:cubicBezTo>
                  <a:pt x="227279" y="0"/>
                  <a:pt x="292901" y="65622"/>
                  <a:pt x="292901" y="146450"/>
                </a:cubicBezTo>
                <a:lnTo>
                  <a:pt x="292901" y="146450"/>
                </a:lnTo>
                <a:cubicBezTo>
                  <a:pt x="292901" y="227279"/>
                  <a:pt x="227279" y="292901"/>
                  <a:pt x="146450" y="292901"/>
                </a:cubicBezTo>
                <a:lnTo>
                  <a:pt x="146450" y="292901"/>
                </a:lnTo>
                <a:cubicBezTo>
                  <a:pt x="65622" y="292901"/>
                  <a:pt x="0" y="227279"/>
                  <a:pt x="0" y="146450"/>
                </a:cubicBezTo>
                <a:lnTo>
                  <a:pt x="0" y="146450"/>
                </a:lnTo>
                <a:cubicBezTo>
                  <a:pt x="0" y="65622"/>
                  <a:pt x="65622" y="0"/>
                  <a:pt x="1464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161866" y="2770357"/>
            <a:ext cx="12814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50858" y="2715438"/>
            <a:ext cx="302054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Threshold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50858" y="2971727"/>
            <a:ext cx="3011387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Shipments &gt; 2000 km show exponential risk increase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38281" y="3374465"/>
            <a:ext cx="4695568" cy="659027"/>
          </a:xfrm>
          <a:custGeom>
            <a:avLst/>
            <a:gdLst/>
            <a:ahLst/>
            <a:cxnLst/>
            <a:rect l="l" t="t" r="r" b="b"/>
            <a:pathLst>
              <a:path w="4695568" h="659027">
                <a:moveTo>
                  <a:pt x="73224" y="0"/>
                </a:moveTo>
                <a:lnTo>
                  <a:pt x="4622343" y="0"/>
                </a:lnTo>
                <a:cubicBezTo>
                  <a:pt x="4662784" y="0"/>
                  <a:pt x="4695568" y="32784"/>
                  <a:pt x="4695568" y="73224"/>
                </a:cubicBezTo>
                <a:lnTo>
                  <a:pt x="4695568" y="585803"/>
                </a:lnTo>
                <a:cubicBezTo>
                  <a:pt x="4695568" y="626243"/>
                  <a:pt x="4662784" y="659027"/>
                  <a:pt x="4622343" y="659027"/>
                </a:cubicBezTo>
                <a:lnTo>
                  <a:pt x="73224" y="659027"/>
                </a:lnTo>
                <a:cubicBezTo>
                  <a:pt x="32784" y="659027"/>
                  <a:pt x="0" y="626243"/>
                  <a:pt x="0" y="585803"/>
                </a:cubicBezTo>
                <a:lnTo>
                  <a:pt x="0" y="73224"/>
                </a:lnTo>
                <a:cubicBezTo>
                  <a:pt x="0" y="32811"/>
                  <a:pt x="32811" y="0"/>
                  <a:pt x="732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8119" y="3484303"/>
            <a:ext cx="292901" cy="292901"/>
          </a:xfrm>
          <a:custGeom>
            <a:avLst/>
            <a:gdLst/>
            <a:ahLst/>
            <a:cxnLst/>
            <a:rect l="l" t="t" r="r" b="b"/>
            <a:pathLst>
              <a:path w="292901" h="292901">
                <a:moveTo>
                  <a:pt x="146450" y="0"/>
                </a:moveTo>
                <a:lnTo>
                  <a:pt x="146450" y="0"/>
                </a:lnTo>
                <a:cubicBezTo>
                  <a:pt x="227279" y="0"/>
                  <a:pt x="292901" y="65622"/>
                  <a:pt x="292901" y="146450"/>
                </a:cubicBezTo>
                <a:lnTo>
                  <a:pt x="292901" y="146450"/>
                </a:lnTo>
                <a:cubicBezTo>
                  <a:pt x="292901" y="227279"/>
                  <a:pt x="227279" y="292901"/>
                  <a:pt x="146450" y="292901"/>
                </a:cubicBezTo>
                <a:lnTo>
                  <a:pt x="146450" y="292901"/>
                </a:lnTo>
                <a:cubicBezTo>
                  <a:pt x="65622" y="292901"/>
                  <a:pt x="0" y="227279"/>
                  <a:pt x="0" y="146450"/>
                </a:cubicBezTo>
                <a:lnTo>
                  <a:pt x="0" y="146450"/>
                </a:lnTo>
                <a:cubicBezTo>
                  <a:pt x="0" y="65622"/>
                  <a:pt x="65622" y="0"/>
                  <a:pt x="1464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60245" y="3539222"/>
            <a:ext cx="137297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50858" y="3484303"/>
            <a:ext cx="2956468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Interaction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50858" y="3740592"/>
            <a:ext cx="294731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carrier performance amplifies other risk factors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8281" y="4143330"/>
            <a:ext cx="4695568" cy="659027"/>
          </a:xfrm>
          <a:custGeom>
            <a:avLst/>
            <a:gdLst/>
            <a:ahLst/>
            <a:cxnLst/>
            <a:rect l="l" t="t" r="r" b="b"/>
            <a:pathLst>
              <a:path w="4695568" h="659027">
                <a:moveTo>
                  <a:pt x="73224" y="0"/>
                </a:moveTo>
                <a:lnTo>
                  <a:pt x="4622343" y="0"/>
                </a:lnTo>
                <a:cubicBezTo>
                  <a:pt x="4662784" y="0"/>
                  <a:pt x="4695568" y="32784"/>
                  <a:pt x="4695568" y="73224"/>
                </a:cubicBezTo>
                <a:lnTo>
                  <a:pt x="4695568" y="585803"/>
                </a:lnTo>
                <a:cubicBezTo>
                  <a:pt x="4695568" y="626243"/>
                  <a:pt x="4662784" y="659027"/>
                  <a:pt x="4622343" y="659027"/>
                </a:cubicBezTo>
                <a:lnTo>
                  <a:pt x="73224" y="659027"/>
                </a:lnTo>
                <a:cubicBezTo>
                  <a:pt x="32784" y="659027"/>
                  <a:pt x="0" y="626243"/>
                  <a:pt x="0" y="585803"/>
                </a:cubicBezTo>
                <a:lnTo>
                  <a:pt x="0" y="73224"/>
                </a:lnTo>
                <a:cubicBezTo>
                  <a:pt x="0" y="32811"/>
                  <a:pt x="32811" y="0"/>
                  <a:pt x="732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48119" y="4253168"/>
            <a:ext cx="292901" cy="292901"/>
          </a:xfrm>
          <a:custGeom>
            <a:avLst/>
            <a:gdLst/>
            <a:ahLst/>
            <a:cxnLst/>
            <a:rect l="l" t="t" r="r" b="b"/>
            <a:pathLst>
              <a:path w="292901" h="292901">
                <a:moveTo>
                  <a:pt x="146450" y="0"/>
                </a:moveTo>
                <a:lnTo>
                  <a:pt x="146450" y="0"/>
                </a:lnTo>
                <a:cubicBezTo>
                  <a:pt x="227279" y="0"/>
                  <a:pt x="292901" y="65622"/>
                  <a:pt x="292901" y="146450"/>
                </a:cubicBezTo>
                <a:lnTo>
                  <a:pt x="292901" y="146450"/>
                </a:lnTo>
                <a:cubicBezTo>
                  <a:pt x="292901" y="227279"/>
                  <a:pt x="227279" y="292901"/>
                  <a:pt x="146450" y="292901"/>
                </a:cubicBezTo>
                <a:lnTo>
                  <a:pt x="146450" y="292901"/>
                </a:lnTo>
                <a:cubicBezTo>
                  <a:pt x="65622" y="292901"/>
                  <a:pt x="0" y="227279"/>
                  <a:pt x="0" y="146450"/>
                </a:cubicBezTo>
                <a:lnTo>
                  <a:pt x="0" y="146450"/>
                </a:lnTo>
                <a:cubicBezTo>
                  <a:pt x="0" y="65622"/>
                  <a:pt x="65622" y="0"/>
                  <a:pt x="1464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161961" y="4308087"/>
            <a:ext cx="12814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50858" y="4253168"/>
            <a:ext cx="2462198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Effects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50858" y="4509456"/>
            <a:ext cx="245304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season multiplies baseline risk by 2.3x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52167" y="5873279"/>
            <a:ext cx="5067796" cy="738354"/>
          </a:xfrm>
          <a:custGeom>
            <a:avLst/>
            <a:gdLst/>
            <a:ahLst/>
            <a:cxnLst/>
            <a:rect l="l" t="t" r="r" b="b"/>
            <a:pathLst>
              <a:path w="5067796" h="738354">
                <a:moveTo>
                  <a:pt x="73223" y="0"/>
                </a:moveTo>
                <a:lnTo>
                  <a:pt x="4994573" y="0"/>
                </a:lnTo>
                <a:cubicBezTo>
                  <a:pt x="5035013" y="0"/>
                  <a:pt x="5067796" y="32783"/>
                  <a:pt x="5067796" y="73223"/>
                </a:cubicBezTo>
                <a:lnTo>
                  <a:pt x="5067796" y="665132"/>
                </a:lnTo>
                <a:cubicBezTo>
                  <a:pt x="5067796" y="705571"/>
                  <a:pt x="5035013" y="738354"/>
                  <a:pt x="4994573" y="738354"/>
                </a:cubicBezTo>
                <a:lnTo>
                  <a:pt x="73223" y="738354"/>
                </a:lnTo>
                <a:cubicBezTo>
                  <a:pt x="32783" y="738354"/>
                  <a:pt x="0" y="705571"/>
                  <a:pt x="0" y="665132"/>
                </a:cubicBezTo>
                <a:lnTo>
                  <a:pt x="0" y="73223"/>
                </a:lnTo>
                <a:cubicBezTo>
                  <a:pt x="0" y="32783"/>
                  <a:pt x="32783" y="0"/>
                  <a:pt x="73223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15398" y="6150919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91532" y="183063"/>
                </a:moveTo>
                <a:cubicBezTo>
                  <a:pt x="142049" y="183063"/>
                  <a:pt x="183063" y="142049"/>
                  <a:pt x="183063" y="91532"/>
                </a:cubicBezTo>
                <a:cubicBezTo>
                  <a:pt x="183063" y="41014"/>
                  <a:pt x="142049" y="0"/>
                  <a:pt x="91532" y="0"/>
                </a:cubicBezTo>
                <a:cubicBezTo>
                  <a:pt x="41014" y="0"/>
                  <a:pt x="0" y="41014"/>
                  <a:pt x="0" y="91532"/>
                </a:cubicBezTo>
                <a:cubicBezTo>
                  <a:pt x="0" y="142049"/>
                  <a:pt x="41014" y="183063"/>
                  <a:pt x="91532" y="183063"/>
                </a:cubicBezTo>
                <a:close/>
                <a:moveTo>
                  <a:pt x="121708" y="76050"/>
                </a:moveTo>
                <a:lnTo>
                  <a:pt x="93105" y="121816"/>
                </a:lnTo>
                <a:cubicBezTo>
                  <a:pt x="91603" y="124211"/>
                  <a:pt x="89029" y="125713"/>
                  <a:pt x="86204" y="125856"/>
                </a:cubicBezTo>
                <a:cubicBezTo>
                  <a:pt x="83380" y="125999"/>
                  <a:pt x="80662" y="124712"/>
                  <a:pt x="78982" y="122423"/>
                </a:cubicBezTo>
                <a:lnTo>
                  <a:pt x="61820" y="99541"/>
                </a:lnTo>
                <a:cubicBezTo>
                  <a:pt x="58959" y="95751"/>
                  <a:pt x="59746" y="90387"/>
                  <a:pt x="63536" y="87527"/>
                </a:cubicBezTo>
                <a:cubicBezTo>
                  <a:pt x="67326" y="84667"/>
                  <a:pt x="72689" y="85453"/>
                  <a:pt x="75549" y="89243"/>
                </a:cubicBezTo>
                <a:lnTo>
                  <a:pt x="85203" y="102115"/>
                </a:lnTo>
                <a:lnTo>
                  <a:pt x="107156" y="66968"/>
                </a:lnTo>
                <a:cubicBezTo>
                  <a:pt x="109659" y="62964"/>
                  <a:pt x="114951" y="61712"/>
                  <a:pt x="118991" y="64251"/>
                </a:cubicBezTo>
                <a:cubicBezTo>
                  <a:pt x="123031" y="66789"/>
                  <a:pt x="124247" y="72045"/>
                  <a:pt x="121708" y="7608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459" y="6022775"/>
            <a:ext cx="4521658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Value:</a:t>
            </a:r>
            <a:r>
              <a:rPr lang="en-US" sz="115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 enables actionable insights for </a:t>
            </a:r>
            <a:r>
              <a:rPr lang="en-US" sz="1153" dirty="0">
                <a:solidFill>
                  <a:srgbClr val="F0F0F0"/>
                </a:solidFill>
                <a:highlight>
                  <a:srgbClr val="22C55E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interventions</a:t>
            </a:r>
            <a:endParaRPr lang="en-US" sz="16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FDD8D8-4293-7934-7B3B-43C5682A0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6" y="3866196"/>
            <a:ext cx="6193634" cy="2920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Selection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Machine Learning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3702050" cy="1492250"/>
          </a:xfrm>
          <a:custGeom>
            <a:avLst/>
            <a:gdLst/>
            <a:ahLst/>
            <a:cxnLst/>
            <a:rect l="l" t="t" r="r" b="b"/>
            <a:pathLst>
              <a:path w="3702050" h="1492250">
                <a:moveTo>
                  <a:pt x="76194" y="0"/>
                </a:moveTo>
                <a:lnTo>
                  <a:pt x="3625856" y="0"/>
                </a:lnTo>
                <a:cubicBezTo>
                  <a:pt x="3667937" y="0"/>
                  <a:pt x="3702050" y="34113"/>
                  <a:pt x="3702050" y="76194"/>
                </a:cubicBezTo>
                <a:lnTo>
                  <a:pt x="3702050" y="1416056"/>
                </a:lnTo>
                <a:cubicBezTo>
                  <a:pt x="3702050" y="1458137"/>
                  <a:pt x="3667937" y="1492250"/>
                  <a:pt x="3625856" y="1492250"/>
                </a:cubicBezTo>
                <a:lnTo>
                  <a:pt x="76194" y="1492250"/>
                </a:lnTo>
                <a:cubicBezTo>
                  <a:pt x="34142" y="1492250"/>
                  <a:pt x="0" y="1458108"/>
                  <a:pt x="0" y="14160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750" y="1454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5875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111250" y="1549403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750" y="202565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linear model for multi-class classification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750" y="2292353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5950" y="2368553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Interpretable coefficients, fast training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4975" y="1298575"/>
            <a:ext cx="3702050" cy="1492250"/>
          </a:xfrm>
          <a:custGeom>
            <a:avLst/>
            <a:gdLst/>
            <a:ahLst/>
            <a:cxnLst/>
            <a:rect l="l" t="t" r="r" b="b"/>
            <a:pathLst>
              <a:path w="3702050" h="1492250">
                <a:moveTo>
                  <a:pt x="76194" y="0"/>
                </a:moveTo>
                <a:lnTo>
                  <a:pt x="3625856" y="0"/>
                </a:lnTo>
                <a:cubicBezTo>
                  <a:pt x="3667937" y="0"/>
                  <a:pt x="3702050" y="34113"/>
                  <a:pt x="3702050" y="76194"/>
                </a:cubicBezTo>
                <a:lnTo>
                  <a:pt x="3702050" y="1416056"/>
                </a:lnTo>
                <a:cubicBezTo>
                  <a:pt x="3702050" y="1458137"/>
                  <a:pt x="3667937" y="1492250"/>
                  <a:pt x="3625856" y="1492250"/>
                </a:cubicBezTo>
                <a:lnTo>
                  <a:pt x="76194" y="1492250"/>
                </a:lnTo>
                <a:cubicBezTo>
                  <a:pt x="34142" y="1492250"/>
                  <a:pt x="0" y="1458108"/>
                  <a:pt x="0" y="14160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0550" y="1454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33900" y="15875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4972050" y="1549403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0550" y="202565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 model with clear decision paths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00550" y="2292353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476750" y="2368553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Highly interpretable, handles non-linearity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05775" y="1298575"/>
            <a:ext cx="3702050" cy="1492250"/>
          </a:xfrm>
          <a:custGeom>
            <a:avLst/>
            <a:gdLst/>
            <a:ahLst/>
            <a:cxnLst/>
            <a:rect l="l" t="t" r="r" b="b"/>
            <a:pathLst>
              <a:path w="3702050" h="1492250">
                <a:moveTo>
                  <a:pt x="76194" y="0"/>
                </a:moveTo>
                <a:lnTo>
                  <a:pt x="3625856" y="0"/>
                </a:lnTo>
                <a:cubicBezTo>
                  <a:pt x="3667937" y="0"/>
                  <a:pt x="3702050" y="34113"/>
                  <a:pt x="3702050" y="76194"/>
                </a:cubicBezTo>
                <a:lnTo>
                  <a:pt x="3702050" y="1416056"/>
                </a:lnTo>
                <a:cubicBezTo>
                  <a:pt x="3702050" y="1458137"/>
                  <a:pt x="3667937" y="1492250"/>
                  <a:pt x="3625856" y="1492250"/>
                </a:cubicBezTo>
                <a:lnTo>
                  <a:pt x="76194" y="1492250"/>
                </a:lnTo>
                <a:cubicBezTo>
                  <a:pt x="34142" y="1492250"/>
                  <a:pt x="0" y="1458108"/>
                  <a:pt x="0" y="14160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1350" y="1454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06607" y="158750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832850" y="1549403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1350" y="202565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of decision trees with bagging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61350" y="2292353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37550" y="2368553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overfitting, robust predictions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175" y="2949581"/>
            <a:ext cx="3702050" cy="1682750"/>
          </a:xfrm>
          <a:custGeom>
            <a:avLst/>
            <a:gdLst/>
            <a:ahLst/>
            <a:cxnLst/>
            <a:rect l="l" t="t" r="r" b="b"/>
            <a:pathLst>
              <a:path w="3702050" h="1682750">
                <a:moveTo>
                  <a:pt x="76195" y="0"/>
                </a:moveTo>
                <a:lnTo>
                  <a:pt x="3625855" y="0"/>
                </a:lnTo>
                <a:cubicBezTo>
                  <a:pt x="3667936" y="0"/>
                  <a:pt x="3702050" y="34114"/>
                  <a:pt x="3702050" y="76195"/>
                </a:cubicBezTo>
                <a:lnTo>
                  <a:pt x="3702050" y="1606555"/>
                </a:lnTo>
                <a:cubicBezTo>
                  <a:pt x="3702050" y="1648636"/>
                  <a:pt x="3667936" y="1682750"/>
                  <a:pt x="3625855" y="1682750"/>
                </a:cubicBezTo>
                <a:lnTo>
                  <a:pt x="76195" y="1682750"/>
                </a:lnTo>
                <a:cubicBezTo>
                  <a:pt x="34114" y="1682750"/>
                  <a:pt x="0" y="1648636"/>
                  <a:pt x="0" y="160655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75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3100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1111250" y="32004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 Trees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750" y="36766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Randomized Trees ensemble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3943350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5950" y="40195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Faster training, reduced variance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44975" y="2949581"/>
            <a:ext cx="3702050" cy="1682750"/>
          </a:xfrm>
          <a:custGeom>
            <a:avLst/>
            <a:gdLst/>
            <a:ahLst/>
            <a:cxnLst/>
            <a:rect l="l" t="t" r="r" b="b"/>
            <a:pathLst>
              <a:path w="3702050" h="1682750">
                <a:moveTo>
                  <a:pt x="76195" y="0"/>
                </a:moveTo>
                <a:lnTo>
                  <a:pt x="3625855" y="0"/>
                </a:lnTo>
                <a:cubicBezTo>
                  <a:pt x="3667936" y="0"/>
                  <a:pt x="3702050" y="34114"/>
                  <a:pt x="3702050" y="76195"/>
                </a:cubicBezTo>
                <a:lnTo>
                  <a:pt x="3702050" y="1606555"/>
                </a:lnTo>
                <a:cubicBezTo>
                  <a:pt x="3702050" y="1648636"/>
                  <a:pt x="3667936" y="1682750"/>
                  <a:pt x="3625855" y="1682750"/>
                </a:cubicBezTo>
                <a:lnTo>
                  <a:pt x="76195" y="1682750"/>
                </a:lnTo>
                <a:cubicBezTo>
                  <a:pt x="34114" y="1682750"/>
                  <a:pt x="0" y="1648636"/>
                  <a:pt x="0" y="160655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055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33900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4972050" y="320040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0550" y="36766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with regularization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0550" y="3943350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76750" y="4019550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State-of-the-art performance, handles missing values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5775" y="2949581"/>
            <a:ext cx="3702050" cy="1682750"/>
          </a:xfrm>
          <a:custGeom>
            <a:avLst/>
            <a:gdLst/>
            <a:ahLst/>
            <a:cxnLst/>
            <a:rect l="l" t="t" r="r" b="b"/>
            <a:pathLst>
              <a:path w="3702050" h="1682750">
                <a:moveTo>
                  <a:pt x="76195" y="0"/>
                </a:moveTo>
                <a:lnTo>
                  <a:pt x="3625855" y="0"/>
                </a:lnTo>
                <a:cubicBezTo>
                  <a:pt x="3667936" y="0"/>
                  <a:pt x="3702050" y="34114"/>
                  <a:pt x="3702050" y="76195"/>
                </a:cubicBezTo>
                <a:lnTo>
                  <a:pt x="3702050" y="1606555"/>
                </a:lnTo>
                <a:cubicBezTo>
                  <a:pt x="3702050" y="1648636"/>
                  <a:pt x="3667936" y="1682750"/>
                  <a:pt x="3625855" y="1682750"/>
                </a:cubicBezTo>
                <a:lnTo>
                  <a:pt x="76195" y="1682750"/>
                </a:lnTo>
                <a:cubicBezTo>
                  <a:pt x="34114" y="1682750"/>
                  <a:pt x="0" y="1648636"/>
                  <a:pt x="0" y="160655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135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94700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8832850" y="32004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1350" y="36766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ensemble with gradient descent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1350" y="3943350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337550" y="4019550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Strong predictive power, flexible loss functions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175" y="4791078"/>
            <a:ext cx="11426825" cy="844550"/>
          </a:xfrm>
          <a:custGeom>
            <a:avLst/>
            <a:gdLst/>
            <a:ahLst/>
            <a:cxnLst/>
            <a:rect l="l" t="t" r="r" b="b"/>
            <a:pathLst>
              <a:path w="11426825" h="844550">
                <a:moveTo>
                  <a:pt x="76204" y="0"/>
                </a:moveTo>
                <a:lnTo>
                  <a:pt x="11350621" y="0"/>
                </a:lnTo>
                <a:cubicBezTo>
                  <a:pt x="11392707" y="0"/>
                  <a:pt x="11426825" y="34118"/>
                  <a:pt x="11426825" y="76204"/>
                </a:cubicBezTo>
                <a:lnTo>
                  <a:pt x="11426825" y="768346"/>
                </a:lnTo>
                <a:cubicBezTo>
                  <a:pt x="11426825" y="810432"/>
                  <a:pt x="11392707" y="844550"/>
                  <a:pt x="11350621" y="844550"/>
                </a:cubicBezTo>
                <a:lnTo>
                  <a:pt x="76204" y="844550"/>
                </a:lnTo>
                <a:cubicBezTo>
                  <a:pt x="34118" y="844550"/>
                  <a:pt x="0" y="810432"/>
                  <a:pt x="0" y="7683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2613" y="509905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939800" y="4965706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Model Evaluation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9800" y="5232406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algorithms tested to identify optimal approach for delivery risk prediction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989939" y="4946656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28039" y="5289556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65805" y="4946656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603905" y="5289556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44548" y="4946656"/>
            <a:ext cx="581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82648" y="5289556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65522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16" y="1260179"/>
            <a:ext cx="5626129" cy="2825389"/>
          </a:xfrm>
          <a:custGeom>
            <a:avLst/>
            <a:gdLst/>
            <a:ahLst/>
            <a:cxnLst/>
            <a:rect l="l" t="t" r="r" b="b"/>
            <a:pathLst>
              <a:path w="5626129" h="2825389">
                <a:moveTo>
                  <a:pt x="73940" y="0"/>
                </a:moveTo>
                <a:lnTo>
                  <a:pt x="5552188" y="0"/>
                </a:lnTo>
                <a:cubicBezTo>
                  <a:pt x="5593025" y="0"/>
                  <a:pt x="5626129" y="33104"/>
                  <a:pt x="5626129" y="73940"/>
                </a:cubicBezTo>
                <a:lnTo>
                  <a:pt x="5626129" y="2751449"/>
                </a:lnTo>
                <a:cubicBezTo>
                  <a:pt x="5626129" y="2792285"/>
                  <a:pt x="5593025" y="2825389"/>
                  <a:pt x="5552188" y="2825389"/>
                </a:cubicBezTo>
                <a:lnTo>
                  <a:pt x="73940" y="2825389"/>
                </a:lnTo>
                <a:cubicBezTo>
                  <a:pt x="33104" y="2825389"/>
                  <a:pt x="0" y="2792285"/>
                  <a:pt x="0" y="2751449"/>
                </a:cubicBezTo>
                <a:lnTo>
                  <a:pt x="0" y="73940"/>
                </a:lnTo>
                <a:cubicBezTo>
                  <a:pt x="0" y="33132"/>
                  <a:pt x="33132" y="0"/>
                  <a:pt x="73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0764" y="1448130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73948" y="0"/>
                </a:moveTo>
                <a:lnTo>
                  <a:pt x="443680" y="0"/>
                </a:lnTo>
                <a:cubicBezTo>
                  <a:pt x="484521" y="0"/>
                  <a:pt x="517629" y="33108"/>
                  <a:pt x="517629" y="73948"/>
                </a:cubicBezTo>
                <a:lnTo>
                  <a:pt x="517629" y="443680"/>
                </a:lnTo>
                <a:cubicBezTo>
                  <a:pt x="517629" y="484521"/>
                  <a:pt x="484521" y="517629"/>
                  <a:pt x="443680" y="517629"/>
                </a:cubicBezTo>
                <a:lnTo>
                  <a:pt x="73948" y="517629"/>
                </a:lnTo>
                <a:cubicBezTo>
                  <a:pt x="33108" y="517629"/>
                  <a:pt x="0" y="484521"/>
                  <a:pt x="0" y="443680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8658" y="1596024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83190" y="110920"/>
                </a:moveTo>
                <a:lnTo>
                  <a:pt x="66076" y="128035"/>
                </a:lnTo>
                <a:cubicBezTo>
                  <a:pt x="60616" y="125912"/>
                  <a:pt x="54724" y="124785"/>
                  <a:pt x="48528" y="124785"/>
                </a:cubicBezTo>
                <a:cubicBezTo>
                  <a:pt x="21707" y="124785"/>
                  <a:pt x="0" y="146493"/>
                  <a:pt x="0" y="173313"/>
                </a:cubicBezTo>
                <a:cubicBezTo>
                  <a:pt x="0" y="200133"/>
                  <a:pt x="21707" y="221841"/>
                  <a:pt x="48528" y="221841"/>
                </a:cubicBezTo>
                <a:cubicBezTo>
                  <a:pt x="75348" y="221841"/>
                  <a:pt x="97055" y="200133"/>
                  <a:pt x="97055" y="173313"/>
                </a:cubicBezTo>
                <a:cubicBezTo>
                  <a:pt x="97055" y="167117"/>
                  <a:pt x="95885" y="161225"/>
                  <a:pt x="93806" y="155765"/>
                </a:cubicBezTo>
                <a:lnTo>
                  <a:pt x="216295" y="33276"/>
                </a:lnTo>
                <a:cubicBezTo>
                  <a:pt x="219371" y="30200"/>
                  <a:pt x="219371" y="25260"/>
                  <a:pt x="216295" y="22184"/>
                </a:cubicBezTo>
                <a:cubicBezTo>
                  <a:pt x="204033" y="9922"/>
                  <a:pt x="184189" y="9922"/>
                  <a:pt x="171927" y="22184"/>
                </a:cubicBezTo>
                <a:lnTo>
                  <a:pt x="110920" y="83190"/>
                </a:lnTo>
                <a:lnTo>
                  <a:pt x="93806" y="66076"/>
                </a:lnTo>
                <a:cubicBezTo>
                  <a:pt x="95929" y="60616"/>
                  <a:pt x="97055" y="54724"/>
                  <a:pt x="97055" y="48528"/>
                </a:cubicBezTo>
                <a:cubicBezTo>
                  <a:pt x="97055" y="21707"/>
                  <a:pt x="75348" y="0"/>
                  <a:pt x="48528" y="0"/>
                </a:cubicBezTo>
                <a:cubicBezTo>
                  <a:pt x="21707" y="0"/>
                  <a:pt x="0" y="21707"/>
                  <a:pt x="0" y="48528"/>
                </a:cubicBezTo>
                <a:cubicBezTo>
                  <a:pt x="0" y="75348"/>
                  <a:pt x="21707" y="97055"/>
                  <a:pt x="48528" y="97055"/>
                </a:cubicBezTo>
                <a:cubicBezTo>
                  <a:pt x="54724" y="97055"/>
                  <a:pt x="60616" y="95885"/>
                  <a:pt x="66076" y="93806"/>
                </a:cubicBezTo>
                <a:lnTo>
                  <a:pt x="83190" y="110920"/>
                </a:lnTo>
                <a:close/>
                <a:moveTo>
                  <a:pt x="125609" y="153339"/>
                </a:moveTo>
                <a:lnTo>
                  <a:pt x="171927" y="199657"/>
                </a:lnTo>
                <a:cubicBezTo>
                  <a:pt x="184189" y="211919"/>
                  <a:pt x="204033" y="211919"/>
                  <a:pt x="216295" y="199657"/>
                </a:cubicBezTo>
                <a:cubicBezTo>
                  <a:pt x="219371" y="196580"/>
                  <a:pt x="219371" y="191641"/>
                  <a:pt x="216295" y="188565"/>
                </a:cubicBezTo>
                <a:lnTo>
                  <a:pt x="153339" y="125609"/>
                </a:lnTo>
                <a:lnTo>
                  <a:pt x="125609" y="153339"/>
                </a:lnTo>
                <a:close/>
                <a:moveTo>
                  <a:pt x="27730" y="48528"/>
                </a:moveTo>
                <a:cubicBezTo>
                  <a:pt x="27730" y="37049"/>
                  <a:pt x="37049" y="27730"/>
                  <a:pt x="48528" y="27730"/>
                </a:cubicBezTo>
                <a:cubicBezTo>
                  <a:pt x="60006" y="27730"/>
                  <a:pt x="69325" y="37049"/>
                  <a:pt x="69325" y="48528"/>
                </a:cubicBezTo>
                <a:cubicBezTo>
                  <a:pt x="69325" y="60006"/>
                  <a:pt x="60006" y="69325"/>
                  <a:pt x="48528" y="69325"/>
                </a:cubicBezTo>
                <a:cubicBezTo>
                  <a:pt x="37049" y="69325"/>
                  <a:pt x="27730" y="60006"/>
                  <a:pt x="27730" y="48528"/>
                </a:cubicBezTo>
                <a:close/>
                <a:moveTo>
                  <a:pt x="48528" y="152516"/>
                </a:moveTo>
                <a:cubicBezTo>
                  <a:pt x="60006" y="152516"/>
                  <a:pt x="69325" y="161835"/>
                  <a:pt x="69325" y="173313"/>
                </a:cubicBezTo>
                <a:cubicBezTo>
                  <a:pt x="69325" y="184792"/>
                  <a:pt x="60006" y="194111"/>
                  <a:pt x="48528" y="194111"/>
                </a:cubicBezTo>
                <a:cubicBezTo>
                  <a:pt x="37049" y="194111"/>
                  <a:pt x="27730" y="184792"/>
                  <a:pt x="27730" y="173313"/>
                </a:cubicBezTo>
                <a:cubicBezTo>
                  <a:pt x="27730" y="161835"/>
                  <a:pt x="37049" y="152516"/>
                  <a:pt x="48528" y="15251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189313" y="1559051"/>
            <a:ext cx="162683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Split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008" y="2122896"/>
            <a:ext cx="2532682" cy="1164664"/>
          </a:xfrm>
          <a:custGeom>
            <a:avLst/>
            <a:gdLst/>
            <a:ahLst/>
            <a:cxnLst/>
            <a:rect l="l" t="t" r="r" b="b"/>
            <a:pathLst>
              <a:path w="2532682" h="1164664">
                <a:moveTo>
                  <a:pt x="73945" y="0"/>
                </a:moveTo>
                <a:lnTo>
                  <a:pt x="2458738" y="0"/>
                </a:lnTo>
                <a:cubicBezTo>
                  <a:pt x="2499576" y="0"/>
                  <a:pt x="2532682" y="33106"/>
                  <a:pt x="2532682" y="73945"/>
                </a:cubicBezTo>
                <a:lnTo>
                  <a:pt x="2532682" y="1090720"/>
                </a:lnTo>
                <a:cubicBezTo>
                  <a:pt x="2532682" y="1131558"/>
                  <a:pt x="2499576" y="1164664"/>
                  <a:pt x="2458738" y="1164664"/>
                </a:cubicBezTo>
                <a:lnTo>
                  <a:pt x="73945" y="1164664"/>
                </a:lnTo>
                <a:cubicBezTo>
                  <a:pt x="33106" y="1164664"/>
                  <a:pt x="0" y="1131558"/>
                  <a:pt x="0" y="1090720"/>
                </a:cubicBezTo>
                <a:lnTo>
                  <a:pt x="0" y="73945"/>
                </a:lnTo>
                <a:cubicBezTo>
                  <a:pt x="0" y="33133"/>
                  <a:pt x="33133" y="0"/>
                  <a:pt x="73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171" y="2280033"/>
            <a:ext cx="229235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955" y="2538848"/>
            <a:ext cx="2384788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793" y="2945556"/>
            <a:ext cx="228311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8,799 samples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0033" y="2122896"/>
            <a:ext cx="2532682" cy="1164664"/>
          </a:xfrm>
          <a:custGeom>
            <a:avLst/>
            <a:gdLst/>
            <a:ahLst/>
            <a:cxnLst/>
            <a:rect l="l" t="t" r="r" b="b"/>
            <a:pathLst>
              <a:path w="2532682" h="1164664">
                <a:moveTo>
                  <a:pt x="73945" y="0"/>
                </a:moveTo>
                <a:lnTo>
                  <a:pt x="2458738" y="0"/>
                </a:lnTo>
                <a:cubicBezTo>
                  <a:pt x="2499576" y="0"/>
                  <a:pt x="2532682" y="33106"/>
                  <a:pt x="2532682" y="73945"/>
                </a:cubicBezTo>
                <a:lnTo>
                  <a:pt x="2532682" y="1090720"/>
                </a:lnTo>
                <a:cubicBezTo>
                  <a:pt x="2532682" y="1131558"/>
                  <a:pt x="2499576" y="1164664"/>
                  <a:pt x="2458738" y="1164664"/>
                </a:cubicBezTo>
                <a:lnTo>
                  <a:pt x="73945" y="1164664"/>
                </a:lnTo>
                <a:cubicBezTo>
                  <a:pt x="33106" y="1164664"/>
                  <a:pt x="0" y="1131558"/>
                  <a:pt x="0" y="1090720"/>
                </a:cubicBezTo>
                <a:lnTo>
                  <a:pt x="0" y="73945"/>
                </a:lnTo>
                <a:cubicBezTo>
                  <a:pt x="0" y="33133"/>
                  <a:pt x="33133" y="0"/>
                  <a:pt x="73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0197" y="2280033"/>
            <a:ext cx="229235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43980" y="2538848"/>
            <a:ext cx="2384788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94819" y="2945556"/>
            <a:ext cx="228311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2,200 samples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845" y="3447779"/>
            <a:ext cx="5247151" cy="449844"/>
          </a:xfrm>
          <a:custGeom>
            <a:avLst/>
            <a:gdLst/>
            <a:ahLst/>
            <a:cxnLst/>
            <a:rect l="l" t="t" r="r" b="b"/>
            <a:pathLst>
              <a:path w="5247151" h="449844">
                <a:moveTo>
                  <a:pt x="73945" y="0"/>
                </a:moveTo>
                <a:lnTo>
                  <a:pt x="5173206" y="0"/>
                </a:lnTo>
                <a:cubicBezTo>
                  <a:pt x="5214044" y="0"/>
                  <a:pt x="5247151" y="33106"/>
                  <a:pt x="5247151" y="73945"/>
                </a:cubicBezTo>
                <a:lnTo>
                  <a:pt x="5247151" y="375898"/>
                </a:lnTo>
                <a:cubicBezTo>
                  <a:pt x="5247151" y="416737"/>
                  <a:pt x="5214044" y="449844"/>
                  <a:pt x="5173206" y="449844"/>
                </a:cubicBezTo>
                <a:lnTo>
                  <a:pt x="73945" y="449844"/>
                </a:lnTo>
                <a:cubicBezTo>
                  <a:pt x="33134" y="449844"/>
                  <a:pt x="0" y="416710"/>
                  <a:pt x="0" y="375898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334" y="3592591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916535" y="3561783"/>
            <a:ext cx="485440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Split:</a:t>
            </a: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Maintains class distribution in both 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2816" y="4242708"/>
            <a:ext cx="5626129" cy="2612792"/>
          </a:xfrm>
          <a:custGeom>
            <a:avLst/>
            <a:gdLst/>
            <a:ahLst/>
            <a:cxnLst/>
            <a:rect l="l" t="t" r="r" b="b"/>
            <a:pathLst>
              <a:path w="5626129" h="2612792">
                <a:moveTo>
                  <a:pt x="73942" y="0"/>
                </a:moveTo>
                <a:lnTo>
                  <a:pt x="5552187" y="0"/>
                </a:lnTo>
                <a:cubicBezTo>
                  <a:pt x="5593024" y="0"/>
                  <a:pt x="5626129" y="33105"/>
                  <a:pt x="5626129" y="73942"/>
                </a:cubicBezTo>
                <a:lnTo>
                  <a:pt x="5626129" y="2538850"/>
                </a:lnTo>
                <a:cubicBezTo>
                  <a:pt x="5626129" y="2579687"/>
                  <a:pt x="5593024" y="2612792"/>
                  <a:pt x="5552187" y="2612792"/>
                </a:cubicBezTo>
                <a:lnTo>
                  <a:pt x="73942" y="2612792"/>
                </a:lnTo>
                <a:cubicBezTo>
                  <a:pt x="33105" y="2612792"/>
                  <a:pt x="0" y="2579687"/>
                  <a:pt x="0" y="2538850"/>
                </a:cubicBezTo>
                <a:lnTo>
                  <a:pt x="0" y="73942"/>
                </a:lnTo>
                <a:cubicBezTo>
                  <a:pt x="0" y="33132"/>
                  <a:pt x="33132" y="0"/>
                  <a:pt x="7394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764" y="4430660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73948" y="0"/>
                </a:moveTo>
                <a:lnTo>
                  <a:pt x="443680" y="0"/>
                </a:lnTo>
                <a:cubicBezTo>
                  <a:pt x="484521" y="0"/>
                  <a:pt x="517629" y="33108"/>
                  <a:pt x="517629" y="73948"/>
                </a:cubicBezTo>
                <a:lnTo>
                  <a:pt x="517629" y="443680"/>
                </a:lnTo>
                <a:cubicBezTo>
                  <a:pt x="517629" y="484521"/>
                  <a:pt x="484521" y="517629"/>
                  <a:pt x="443680" y="517629"/>
                </a:cubicBezTo>
                <a:lnTo>
                  <a:pt x="73948" y="517629"/>
                </a:lnTo>
                <a:cubicBezTo>
                  <a:pt x="33108" y="517629"/>
                  <a:pt x="0" y="484521"/>
                  <a:pt x="0" y="443680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8658" y="4578553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74960" y="14905"/>
                </a:moveTo>
                <a:cubicBezTo>
                  <a:pt x="180159" y="12739"/>
                  <a:pt x="186095" y="13952"/>
                  <a:pt x="190081" y="17895"/>
                </a:cubicBezTo>
                <a:lnTo>
                  <a:pt x="217811" y="45625"/>
                </a:lnTo>
                <a:cubicBezTo>
                  <a:pt x="220411" y="48224"/>
                  <a:pt x="221884" y="51734"/>
                  <a:pt x="221884" y="55417"/>
                </a:cubicBezTo>
                <a:cubicBezTo>
                  <a:pt x="221884" y="59100"/>
                  <a:pt x="220411" y="62609"/>
                  <a:pt x="217811" y="65209"/>
                </a:cubicBezTo>
                <a:lnTo>
                  <a:pt x="190081" y="92939"/>
                </a:lnTo>
                <a:cubicBezTo>
                  <a:pt x="186095" y="96925"/>
                  <a:pt x="180159" y="98095"/>
                  <a:pt x="174960" y="95929"/>
                </a:cubicBezTo>
                <a:cubicBezTo>
                  <a:pt x="169760" y="93762"/>
                  <a:pt x="166381" y="88780"/>
                  <a:pt x="166381" y="83190"/>
                </a:cubicBezTo>
                <a:lnTo>
                  <a:pt x="166381" y="69325"/>
                </a:lnTo>
                <a:lnTo>
                  <a:pt x="152516" y="69325"/>
                </a:lnTo>
                <a:cubicBezTo>
                  <a:pt x="148139" y="69325"/>
                  <a:pt x="144023" y="71362"/>
                  <a:pt x="141424" y="74871"/>
                </a:cubicBezTo>
                <a:lnTo>
                  <a:pt x="127385" y="93589"/>
                </a:lnTo>
                <a:lnTo>
                  <a:pt x="110054" y="70495"/>
                </a:lnTo>
                <a:lnTo>
                  <a:pt x="119239" y="58233"/>
                </a:lnTo>
                <a:cubicBezTo>
                  <a:pt x="127082" y="47748"/>
                  <a:pt x="139430" y="41595"/>
                  <a:pt x="152516" y="41595"/>
                </a:cubicBezTo>
                <a:lnTo>
                  <a:pt x="166381" y="41595"/>
                </a:lnTo>
                <a:lnTo>
                  <a:pt x="166381" y="27730"/>
                </a:lnTo>
                <a:cubicBezTo>
                  <a:pt x="166381" y="22141"/>
                  <a:pt x="169760" y="17071"/>
                  <a:pt x="174960" y="14905"/>
                </a:cubicBezTo>
                <a:close/>
                <a:moveTo>
                  <a:pt x="66726" y="128252"/>
                </a:moveTo>
                <a:lnTo>
                  <a:pt x="84057" y="151346"/>
                </a:lnTo>
                <a:lnTo>
                  <a:pt x="74871" y="163608"/>
                </a:lnTo>
                <a:cubicBezTo>
                  <a:pt x="67029" y="174093"/>
                  <a:pt x="54680" y="180246"/>
                  <a:pt x="41595" y="180246"/>
                </a:cubicBezTo>
                <a:lnTo>
                  <a:pt x="13865" y="180246"/>
                </a:lnTo>
                <a:cubicBezTo>
                  <a:pt x="6196" y="180246"/>
                  <a:pt x="0" y="174050"/>
                  <a:pt x="0" y="166381"/>
                </a:cubicBezTo>
                <a:cubicBezTo>
                  <a:pt x="0" y="158711"/>
                  <a:pt x="6196" y="152516"/>
                  <a:pt x="13865" y="152516"/>
                </a:cubicBezTo>
                <a:lnTo>
                  <a:pt x="41595" y="152516"/>
                </a:lnTo>
                <a:cubicBezTo>
                  <a:pt x="45971" y="152516"/>
                  <a:pt x="50087" y="150479"/>
                  <a:pt x="52687" y="146970"/>
                </a:cubicBezTo>
                <a:lnTo>
                  <a:pt x="66726" y="128252"/>
                </a:lnTo>
                <a:close/>
                <a:moveTo>
                  <a:pt x="190038" y="203903"/>
                </a:moveTo>
                <a:cubicBezTo>
                  <a:pt x="186052" y="207889"/>
                  <a:pt x="180116" y="209059"/>
                  <a:pt x="174916" y="206893"/>
                </a:cubicBezTo>
                <a:cubicBezTo>
                  <a:pt x="169717" y="204726"/>
                  <a:pt x="166381" y="199700"/>
                  <a:pt x="166381" y="194111"/>
                </a:cubicBezTo>
                <a:lnTo>
                  <a:pt x="166381" y="180246"/>
                </a:lnTo>
                <a:lnTo>
                  <a:pt x="152516" y="180246"/>
                </a:lnTo>
                <a:cubicBezTo>
                  <a:pt x="139430" y="180246"/>
                  <a:pt x="127082" y="174093"/>
                  <a:pt x="119239" y="163608"/>
                </a:cubicBezTo>
                <a:lnTo>
                  <a:pt x="52687" y="74871"/>
                </a:lnTo>
                <a:cubicBezTo>
                  <a:pt x="50087" y="71362"/>
                  <a:pt x="45971" y="69325"/>
                  <a:pt x="41595" y="69325"/>
                </a:cubicBezTo>
                <a:lnTo>
                  <a:pt x="13865" y="69325"/>
                </a:lnTo>
                <a:cubicBezTo>
                  <a:pt x="6196" y="69325"/>
                  <a:pt x="0" y="63129"/>
                  <a:pt x="0" y="55460"/>
                </a:cubicBezTo>
                <a:cubicBezTo>
                  <a:pt x="0" y="47791"/>
                  <a:pt x="6196" y="41595"/>
                  <a:pt x="13865" y="41595"/>
                </a:cubicBezTo>
                <a:lnTo>
                  <a:pt x="41595" y="41595"/>
                </a:lnTo>
                <a:cubicBezTo>
                  <a:pt x="54680" y="41595"/>
                  <a:pt x="67029" y="47748"/>
                  <a:pt x="74871" y="58233"/>
                </a:cubicBezTo>
                <a:lnTo>
                  <a:pt x="141424" y="146970"/>
                </a:lnTo>
                <a:cubicBezTo>
                  <a:pt x="144023" y="150479"/>
                  <a:pt x="148139" y="152516"/>
                  <a:pt x="152516" y="152516"/>
                </a:cubicBezTo>
                <a:lnTo>
                  <a:pt x="166381" y="152516"/>
                </a:lnTo>
                <a:lnTo>
                  <a:pt x="166381" y="138650"/>
                </a:lnTo>
                <a:cubicBezTo>
                  <a:pt x="166381" y="133061"/>
                  <a:pt x="169760" y="127992"/>
                  <a:pt x="174960" y="125825"/>
                </a:cubicBezTo>
                <a:cubicBezTo>
                  <a:pt x="180159" y="123659"/>
                  <a:pt x="186095" y="124872"/>
                  <a:pt x="190081" y="128815"/>
                </a:cubicBezTo>
                <a:lnTo>
                  <a:pt x="217811" y="156545"/>
                </a:lnTo>
                <a:cubicBezTo>
                  <a:pt x="220411" y="159145"/>
                  <a:pt x="221884" y="162654"/>
                  <a:pt x="221884" y="166337"/>
                </a:cubicBezTo>
                <a:cubicBezTo>
                  <a:pt x="221884" y="170020"/>
                  <a:pt x="220411" y="173530"/>
                  <a:pt x="217811" y="176129"/>
                </a:cubicBezTo>
                <a:lnTo>
                  <a:pt x="190081" y="20386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1189313" y="4541580"/>
            <a:ext cx="1589859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764" y="5096182"/>
            <a:ext cx="5250232" cy="1016770"/>
          </a:xfrm>
          <a:custGeom>
            <a:avLst/>
            <a:gdLst/>
            <a:ahLst/>
            <a:cxnLst/>
            <a:rect l="l" t="t" r="r" b="b"/>
            <a:pathLst>
              <a:path w="5250232" h="1016770">
                <a:moveTo>
                  <a:pt x="73950" y="0"/>
                </a:moveTo>
                <a:lnTo>
                  <a:pt x="5176282" y="0"/>
                </a:lnTo>
                <a:cubicBezTo>
                  <a:pt x="5217124" y="0"/>
                  <a:pt x="5250232" y="33108"/>
                  <a:pt x="5250232" y="73950"/>
                </a:cubicBezTo>
                <a:lnTo>
                  <a:pt x="5250232" y="942821"/>
                </a:lnTo>
                <a:cubicBezTo>
                  <a:pt x="5250232" y="983662"/>
                  <a:pt x="5217124" y="1016770"/>
                  <a:pt x="5176282" y="1016770"/>
                </a:cubicBezTo>
                <a:lnTo>
                  <a:pt x="73950" y="1016770"/>
                </a:lnTo>
                <a:cubicBezTo>
                  <a:pt x="33108" y="1016770"/>
                  <a:pt x="0" y="983662"/>
                  <a:pt x="0" y="942821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8658" y="5244076"/>
            <a:ext cx="502839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random_state = 42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58" y="5539863"/>
            <a:ext cx="5019148" cy="42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a fixed random seed ensures that the train-test split is identical every time the code runs, enabling: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8494" y="6237738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819579" y="6219251"/>
            <a:ext cx="121088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 results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51547" y="6237738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3482631" y="6219251"/>
            <a:ext cx="134953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 model comparison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8494" y="6496552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819579" y="6478065"/>
            <a:ext cx="123861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 capability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51547" y="6496552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3482631" y="6478065"/>
            <a:ext cx="126634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evaluation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997" y="1260179"/>
            <a:ext cx="5626129" cy="4027027"/>
          </a:xfrm>
          <a:custGeom>
            <a:avLst/>
            <a:gdLst/>
            <a:ahLst/>
            <a:cxnLst/>
            <a:rect l="l" t="t" r="r" b="b"/>
            <a:pathLst>
              <a:path w="5626129" h="4027027">
                <a:moveTo>
                  <a:pt x="73936" y="0"/>
                </a:moveTo>
                <a:lnTo>
                  <a:pt x="5552193" y="0"/>
                </a:lnTo>
                <a:cubicBezTo>
                  <a:pt x="5593027" y="0"/>
                  <a:pt x="5626129" y="33102"/>
                  <a:pt x="5626129" y="73936"/>
                </a:cubicBezTo>
                <a:lnTo>
                  <a:pt x="5626129" y="3953090"/>
                </a:lnTo>
                <a:cubicBezTo>
                  <a:pt x="5626129" y="3993924"/>
                  <a:pt x="5593027" y="4027027"/>
                  <a:pt x="5552193" y="4027027"/>
                </a:cubicBezTo>
                <a:lnTo>
                  <a:pt x="73936" y="4027027"/>
                </a:lnTo>
                <a:cubicBezTo>
                  <a:pt x="33102" y="4027027"/>
                  <a:pt x="0" y="3993924"/>
                  <a:pt x="0" y="3953090"/>
                </a:cubicBezTo>
                <a:lnTo>
                  <a:pt x="0" y="73936"/>
                </a:lnTo>
                <a:cubicBezTo>
                  <a:pt x="0" y="33130"/>
                  <a:pt x="33130" y="0"/>
                  <a:pt x="7393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9945" y="1448130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73948" y="0"/>
                </a:moveTo>
                <a:lnTo>
                  <a:pt x="443680" y="0"/>
                </a:lnTo>
                <a:cubicBezTo>
                  <a:pt x="484521" y="0"/>
                  <a:pt x="517629" y="33108"/>
                  <a:pt x="517629" y="73948"/>
                </a:cubicBezTo>
                <a:lnTo>
                  <a:pt x="517629" y="443680"/>
                </a:lnTo>
                <a:cubicBezTo>
                  <a:pt x="517629" y="484521"/>
                  <a:pt x="484521" y="517629"/>
                  <a:pt x="443680" y="517629"/>
                </a:cubicBezTo>
                <a:lnTo>
                  <a:pt x="73948" y="517629"/>
                </a:lnTo>
                <a:cubicBezTo>
                  <a:pt x="33108" y="517629"/>
                  <a:pt x="0" y="484521"/>
                  <a:pt x="0" y="443680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00108" y="1596024"/>
            <a:ext cx="277301" cy="221841"/>
          </a:xfrm>
          <a:custGeom>
            <a:avLst/>
            <a:gdLst/>
            <a:ahLst/>
            <a:cxnLst/>
            <a:rect l="l" t="t" r="r" b="b"/>
            <a:pathLst>
              <a:path w="277301" h="221841">
                <a:moveTo>
                  <a:pt x="180202" y="91206"/>
                </a:moveTo>
                <a:cubicBezTo>
                  <a:pt x="185488" y="89776"/>
                  <a:pt x="191034" y="92289"/>
                  <a:pt x="193417" y="97185"/>
                </a:cubicBezTo>
                <a:lnTo>
                  <a:pt x="201476" y="113477"/>
                </a:lnTo>
                <a:cubicBezTo>
                  <a:pt x="205939" y="114083"/>
                  <a:pt x="210315" y="115297"/>
                  <a:pt x="214432" y="116986"/>
                </a:cubicBezTo>
                <a:lnTo>
                  <a:pt x="229597" y="106891"/>
                </a:lnTo>
                <a:cubicBezTo>
                  <a:pt x="234146" y="103858"/>
                  <a:pt x="240169" y="104464"/>
                  <a:pt x="244025" y="108321"/>
                </a:cubicBezTo>
                <a:lnTo>
                  <a:pt x="252344" y="116640"/>
                </a:lnTo>
                <a:cubicBezTo>
                  <a:pt x="256200" y="120496"/>
                  <a:pt x="256807" y="126562"/>
                  <a:pt x="253774" y="131068"/>
                </a:cubicBezTo>
                <a:lnTo>
                  <a:pt x="243678" y="146190"/>
                </a:lnTo>
                <a:cubicBezTo>
                  <a:pt x="244501" y="148226"/>
                  <a:pt x="245238" y="150349"/>
                  <a:pt x="245845" y="152559"/>
                </a:cubicBezTo>
                <a:cubicBezTo>
                  <a:pt x="246451" y="154769"/>
                  <a:pt x="246841" y="156935"/>
                  <a:pt x="247145" y="159145"/>
                </a:cubicBezTo>
                <a:lnTo>
                  <a:pt x="263479" y="167204"/>
                </a:lnTo>
                <a:cubicBezTo>
                  <a:pt x="268375" y="169630"/>
                  <a:pt x="270888" y="175176"/>
                  <a:pt x="269459" y="180419"/>
                </a:cubicBezTo>
                <a:lnTo>
                  <a:pt x="266426" y="191771"/>
                </a:lnTo>
                <a:cubicBezTo>
                  <a:pt x="264996" y="197014"/>
                  <a:pt x="260100" y="200567"/>
                  <a:pt x="254640" y="200220"/>
                </a:cubicBezTo>
                <a:lnTo>
                  <a:pt x="236442" y="199050"/>
                </a:lnTo>
                <a:cubicBezTo>
                  <a:pt x="233713" y="202560"/>
                  <a:pt x="230550" y="205809"/>
                  <a:pt x="226954" y="208582"/>
                </a:cubicBezTo>
                <a:lnTo>
                  <a:pt x="228123" y="226737"/>
                </a:lnTo>
                <a:cubicBezTo>
                  <a:pt x="228470" y="232196"/>
                  <a:pt x="224917" y="237136"/>
                  <a:pt x="219674" y="238522"/>
                </a:cubicBezTo>
                <a:lnTo>
                  <a:pt x="208322" y="241555"/>
                </a:lnTo>
                <a:cubicBezTo>
                  <a:pt x="203036" y="242985"/>
                  <a:pt x="197534" y="240472"/>
                  <a:pt x="195107" y="235576"/>
                </a:cubicBezTo>
                <a:lnTo>
                  <a:pt x="187048" y="219284"/>
                </a:lnTo>
                <a:cubicBezTo>
                  <a:pt x="182585" y="218678"/>
                  <a:pt x="178209" y="217465"/>
                  <a:pt x="174093" y="215775"/>
                </a:cubicBezTo>
                <a:lnTo>
                  <a:pt x="158928" y="225870"/>
                </a:lnTo>
                <a:cubicBezTo>
                  <a:pt x="154379" y="228903"/>
                  <a:pt x="148356" y="228297"/>
                  <a:pt x="144500" y="224440"/>
                </a:cubicBezTo>
                <a:lnTo>
                  <a:pt x="136181" y="216121"/>
                </a:lnTo>
                <a:cubicBezTo>
                  <a:pt x="132325" y="212265"/>
                  <a:pt x="131718" y="206243"/>
                  <a:pt x="134751" y="201693"/>
                </a:cubicBezTo>
                <a:lnTo>
                  <a:pt x="144846" y="186528"/>
                </a:lnTo>
                <a:cubicBezTo>
                  <a:pt x="144023" y="184492"/>
                  <a:pt x="143287" y="182369"/>
                  <a:pt x="142680" y="180159"/>
                </a:cubicBezTo>
                <a:cubicBezTo>
                  <a:pt x="142073" y="177949"/>
                  <a:pt x="141683" y="175739"/>
                  <a:pt x="141380" y="173573"/>
                </a:cubicBezTo>
                <a:lnTo>
                  <a:pt x="125045" y="165514"/>
                </a:lnTo>
                <a:cubicBezTo>
                  <a:pt x="120149" y="163088"/>
                  <a:pt x="117680" y="157542"/>
                  <a:pt x="119066" y="152299"/>
                </a:cubicBezTo>
                <a:lnTo>
                  <a:pt x="122099" y="140947"/>
                </a:lnTo>
                <a:cubicBezTo>
                  <a:pt x="123529" y="135704"/>
                  <a:pt x="128425" y="132151"/>
                  <a:pt x="133884" y="132498"/>
                </a:cubicBezTo>
                <a:lnTo>
                  <a:pt x="152039" y="133668"/>
                </a:lnTo>
                <a:cubicBezTo>
                  <a:pt x="154769" y="130158"/>
                  <a:pt x="157932" y="126909"/>
                  <a:pt x="161528" y="124136"/>
                </a:cubicBezTo>
                <a:lnTo>
                  <a:pt x="160358" y="106024"/>
                </a:lnTo>
                <a:cubicBezTo>
                  <a:pt x="160011" y="100565"/>
                  <a:pt x="163564" y="95626"/>
                  <a:pt x="168807" y="94239"/>
                </a:cubicBezTo>
                <a:lnTo>
                  <a:pt x="180159" y="91206"/>
                </a:lnTo>
                <a:close/>
                <a:moveTo>
                  <a:pt x="194284" y="147316"/>
                </a:moveTo>
                <a:cubicBezTo>
                  <a:pt x="183762" y="147328"/>
                  <a:pt x="175229" y="155880"/>
                  <a:pt x="175241" y="166402"/>
                </a:cubicBezTo>
                <a:cubicBezTo>
                  <a:pt x="175253" y="176924"/>
                  <a:pt x="183805" y="185457"/>
                  <a:pt x="194327" y="185445"/>
                </a:cubicBezTo>
                <a:cubicBezTo>
                  <a:pt x="204849" y="185433"/>
                  <a:pt x="213382" y="176881"/>
                  <a:pt x="213370" y="166359"/>
                </a:cubicBezTo>
                <a:cubicBezTo>
                  <a:pt x="213358" y="155837"/>
                  <a:pt x="204806" y="147304"/>
                  <a:pt x="194284" y="147316"/>
                </a:cubicBezTo>
                <a:close/>
                <a:moveTo>
                  <a:pt x="97445" y="-19714"/>
                </a:moveTo>
                <a:lnTo>
                  <a:pt x="108797" y="-16681"/>
                </a:lnTo>
                <a:cubicBezTo>
                  <a:pt x="114040" y="-15252"/>
                  <a:pt x="117593" y="-10312"/>
                  <a:pt x="117246" y="-4896"/>
                </a:cubicBezTo>
                <a:lnTo>
                  <a:pt x="116076" y="13215"/>
                </a:lnTo>
                <a:cubicBezTo>
                  <a:pt x="119673" y="15988"/>
                  <a:pt x="122836" y="19194"/>
                  <a:pt x="125565" y="22747"/>
                </a:cubicBezTo>
                <a:lnTo>
                  <a:pt x="143763" y="21577"/>
                </a:lnTo>
                <a:cubicBezTo>
                  <a:pt x="149179" y="21231"/>
                  <a:pt x="154119" y="24784"/>
                  <a:pt x="155549" y="30026"/>
                </a:cubicBezTo>
                <a:lnTo>
                  <a:pt x="158582" y="41379"/>
                </a:lnTo>
                <a:cubicBezTo>
                  <a:pt x="159968" y="46621"/>
                  <a:pt x="157498" y="52167"/>
                  <a:pt x="152602" y="54594"/>
                </a:cubicBezTo>
                <a:lnTo>
                  <a:pt x="136267" y="62653"/>
                </a:lnTo>
                <a:cubicBezTo>
                  <a:pt x="135964" y="64862"/>
                  <a:pt x="135531" y="67072"/>
                  <a:pt x="134968" y="69239"/>
                </a:cubicBezTo>
                <a:cubicBezTo>
                  <a:pt x="134404" y="71405"/>
                  <a:pt x="133624" y="73571"/>
                  <a:pt x="132801" y="75608"/>
                </a:cubicBezTo>
                <a:lnTo>
                  <a:pt x="142897" y="90773"/>
                </a:lnTo>
                <a:cubicBezTo>
                  <a:pt x="145930" y="95322"/>
                  <a:pt x="145323" y="101345"/>
                  <a:pt x="141467" y="105201"/>
                </a:cubicBezTo>
                <a:lnTo>
                  <a:pt x="133148" y="113520"/>
                </a:lnTo>
                <a:cubicBezTo>
                  <a:pt x="129292" y="117376"/>
                  <a:pt x="123269" y="117983"/>
                  <a:pt x="118719" y="114950"/>
                </a:cubicBezTo>
                <a:lnTo>
                  <a:pt x="103555" y="104854"/>
                </a:lnTo>
                <a:cubicBezTo>
                  <a:pt x="99438" y="106544"/>
                  <a:pt x="95062" y="107757"/>
                  <a:pt x="90599" y="108364"/>
                </a:cubicBezTo>
                <a:lnTo>
                  <a:pt x="82540" y="124655"/>
                </a:lnTo>
                <a:cubicBezTo>
                  <a:pt x="80114" y="129552"/>
                  <a:pt x="74568" y="132021"/>
                  <a:pt x="69325" y="130635"/>
                </a:cubicBezTo>
                <a:lnTo>
                  <a:pt x="57973" y="127602"/>
                </a:lnTo>
                <a:cubicBezTo>
                  <a:pt x="52687" y="126172"/>
                  <a:pt x="49178" y="121233"/>
                  <a:pt x="49524" y="115816"/>
                </a:cubicBezTo>
                <a:lnTo>
                  <a:pt x="50694" y="97662"/>
                </a:lnTo>
                <a:cubicBezTo>
                  <a:pt x="47098" y="94889"/>
                  <a:pt x="43935" y="91683"/>
                  <a:pt x="41205" y="88130"/>
                </a:cubicBezTo>
                <a:lnTo>
                  <a:pt x="23007" y="89300"/>
                </a:lnTo>
                <a:cubicBezTo>
                  <a:pt x="17591" y="89646"/>
                  <a:pt x="12652" y="86093"/>
                  <a:pt x="11222" y="80851"/>
                </a:cubicBezTo>
                <a:lnTo>
                  <a:pt x="8189" y="69499"/>
                </a:lnTo>
                <a:cubicBezTo>
                  <a:pt x="6803" y="64256"/>
                  <a:pt x="9272" y="58710"/>
                  <a:pt x="14168" y="56283"/>
                </a:cubicBezTo>
                <a:lnTo>
                  <a:pt x="30503" y="48224"/>
                </a:lnTo>
                <a:cubicBezTo>
                  <a:pt x="30806" y="46015"/>
                  <a:pt x="31240" y="43848"/>
                  <a:pt x="31803" y="41638"/>
                </a:cubicBezTo>
                <a:cubicBezTo>
                  <a:pt x="32410" y="39429"/>
                  <a:pt x="33103" y="37306"/>
                  <a:pt x="33969" y="35269"/>
                </a:cubicBezTo>
                <a:lnTo>
                  <a:pt x="23874" y="20148"/>
                </a:lnTo>
                <a:cubicBezTo>
                  <a:pt x="20841" y="15598"/>
                  <a:pt x="21447" y="9576"/>
                  <a:pt x="25304" y="5719"/>
                </a:cubicBezTo>
                <a:lnTo>
                  <a:pt x="33623" y="-2600"/>
                </a:lnTo>
                <a:cubicBezTo>
                  <a:pt x="37479" y="-6456"/>
                  <a:pt x="43502" y="-7063"/>
                  <a:pt x="48051" y="-4030"/>
                </a:cubicBezTo>
                <a:lnTo>
                  <a:pt x="63216" y="6066"/>
                </a:lnTo>
                <a:cubicBezTo>
                  <a:pt x="67332" y="4376"/>
                  <a:pt x="71708" y="3163"/>
                  <a:pt x="76171" y="2556"/>
                </a:cubicBezTo>
                <a:lnTo>
                  <a:pt x="84230" y="-13735"/>
                </a:lnTo>
                <a:cubicBezTo>
                  <a:pt x="86657" y="-18631"/>
                  <a:pt x="92159" y="-21101"/>
                  <a:pt x="97445" y="-19714"/>
                </a:cubicBezTo>
                <a:close/>
                <a:moveTo>
                  <a:pt x="83364" y="36396"/>
                </a:moveTo>
                <a:cubicBezTo>
                  <a:pt x="72842" y="36396"/>
                  <a:pt x="64299" y="44938"/>
                  <a:pt x="64299" y="55460"/>
                </a:cubicBezTo>
                <a:cubicBezTo>
                  <a:pt x="64299" y="65982"/>
                  <a:pt x="72842" y="74525"/>
                  <a:pt x="83364" y="74525"/>
                </a:cubicBezTo>
                <a:cubicBezTo>
                  <a:pt x="93886" y="74525"/>
                  <a:pt x="102428" y="65982"/>
                  <a:pt x="102428" y="55460"/>
                </a:cubicBezTo>
                <a:cubicBezTo>
                  <a:pt x="102428" y="44938"/>
                  <a:pt x="93886" y="36396"/>
                  <a:pt x="83364" y="3639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5"/>
          <p:cNvSpPr/>
          <p:nvPr/>
        </p:nvSpPr>
        <p:spPr>
          <a:xfrm>
            <a:off x="7008494" y="1559051"/>
            <a:ext cx="1756240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79945" y="2113653"/>
            <a:ext cx="532417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cross-validation ensures robust performance estimation by training on different data subsets and averaging results.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9945" y="2742202"/>
            <a:ext cx="5250232" cy="2116731"/>
          </a:xfrm>
          <a:custGeom>
            <a:avLst/>
            <a:gdLst/>
            <a:ahLst/>
            <a:cxnLst/>
            <a:rect l="l" t="t" r="r" b="b"/>
            <a:pathLst>
              <a:path w="5250232" h="2116731">
                <a:moveTo>
                  <a:pt x="73937" y="0"/>
                </a:moveTo>
                <a:lnTo>
                  <a:pt x="5176295" y="0"/>
                </a:lnTo>
                <a:cubicBezTo>
                  <a:pt x="5217129" y="0"/>
                  <a:pt x="5250232" y="33103"/>
                  <a:pt x="5250232" y="73937"/>
                </a:cubicBezTo>
                <a:lnTo>
                  <a:pt x="5250232" y="2042793"/>
                </a:lnTo>
                <a:cubicBezTo>
                  <a:pt x="5250232" y="2083628"/>
                  <a:pt x="5217129" y="2116731"/>
                  <a:pt x="5176295" y="2116731"/>
                </a:cubicBezTo>
                <a:lnTo>
                  <a:pt x="73937" y="2116731"/>
                </a:lnTo>
                <a:cubicBezTo>
                  <a:pt x="33130" y="2116731"/>
                  <a:pt x="0" y="2083601"/>
                  <a:pt x="0" y="2042793"/>
                </a:cubicBezTo>
                <a:lnTo>
                  <a:pt x="0" y="73937"/>
                </a:lnTo>
                <a:cubicBezTo>
                  <a:pt x="0" y="33103"/>
                  <a:pt x="33103" y="0"/>
                  <a:pt x="7393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27839" y="2890096"/>
            <a:ext cx="43443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03113" y="2890096"/>
            <a:ext cx="45292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87.2%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27839" y="3185883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82027" y="3185883"/>
            <a:ext cx="48065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86.8%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7839" y="3481671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98876" y="3481671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87.5%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27839" y="3777459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82893" y="3777459"/>
            <a:ext cx="47141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86.9%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7839" y="4073246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99261" y="4073246"/>
            <a:ext cx="4621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87.3%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27839" y="4369034"/>
            <a:ext cx="4954444" cy="9243"/>
          </a:xfrm>
          <a:custGeom>
            <a:avLst/>
            <a:gdLst/>
            <a:ahLst/>
            <a:cxnLst/>
            <a:rect l="l" t="t" r="r" b="b"/>
            <a:pathLst>
              <a:path w="4954444" h="9243">
                <a:moveTo>
                  <a:pt x="0" y="0"/>
                </a:moveTo>
                <a:lnTo>
                  <a:pt x="4954444" y="0"/>
                </a:lnTo>
                <a:lnTo>
                  <a:pt x="4954444" y="9243"/>
                </a:lnTo>
                <a:lnTo>
                  <a:pt x="0" y="924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527839" y="4470711"/>
            <a:ext cx="106298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CV Score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04749" y="4452224"/>
            <a:ext cx="47141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87.1%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1997" y="5439724"/>
            <a:ext cx="5626129" cy="1411154"/>
          </a:xfrm>
          <a:custGeom>
            <a:avLst/>
            <a:gdLst/>
            <a:ahLst/>
            <a:cxnLst/>
            <a:rect l="l" t="t" r="r" b="b"/>
            <a:pathLst>
              <a:path w="5626129" h="1411154">
                <a:moveTo>
                  <a:pt x="73944" y="0"/>
                </a:moveTo>
                <a:lnTo>
                  <a:pt x="5552184" y="0"/>
                </a:lnTo>
                <a:cubicBezTo>
                  <a:pt x="5593023" y="0"/>
                  <a:pt x="5626129" y="33106"/>
                  <a:pt x="5626129" y="73944"/>
                </a:cubicBezTo>
                <a:lnTo>
                  <a:pt x="5626129" y="1337209"/>
                </a:lnTo>
                <a:cubicBezTo>
                  <a:pt x="5626129" y="1378048"/>
                  <a:pt x="5593023" y="1411154"/>
                  <a:pt x="5552184" y="1411154"/>
                </a:cubicBezTo>
                <a:lnTo>
                  <a:pt x="73944" y="1411154"/>
                </a:lnTo>
                <a:cubicBezTo>
                  <a:pt x="33106" y="1411154"/>
                  <a:pt x="0" y="1378048"/>
                  <a:pt x="0" y="1337209"/>
                </a:cubicBezTo>
                <a:lnTo>
                  <a:pt x="0" y="73944"/>
                </a:lnTo>
                <a:cubicBezTo>
                  <a:pt x="0" y="33133"/>
                  <a:pt x="33133" y="0"/>
                  <a:pt x="7394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9945" y="5627675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73948" y="0"/>
                </a:moveTo>
                <a:lnTo>
                  <a:pt x="369733" y="0"/>
                </a:lnTo>
                <a:cubicBezTo>
                  <a:pt x="410574" y="0"/>
                  <a:pt x="443682" y="33108"/>
                  <a:pt x="443682" y="73948"/>
                </a:cubicBezTo>
                <a:lnTo>
                  <a:pt x="443682" y="369733"/>
                </a:lnTo>
                <a:cubicBezTo>
                  <a:pt x="443682" y="410574"/>
                  <a:pt x="410574" y="443682"/>
                  <a:pt x="36973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09352" y="5757083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1554" y="23108"/>
                </a:moveTo>
                <a:cubicBezTo>
                  <a:pt x="5163" y="23108"/>
                  <a:pt x="0" y="28272"/>
                  <a:pt x="0" y="34663"/>
                </a:cubicBezTo>
                <a:cubicBezTo>
                  <a:pt x="0" y="41054"/>
                  <a:pt x="5163" y="46217"/>
                  <a:pt x="11554" y="46217"/>
                </a:cubicBezTo>
                <a:lnTo>
                  <a:pt x="42859" y="46217"/>
                </a:lnTo>
                <a:cubicBezTo>
                  <a:pt x="47300" y="56435"/>
                  <a:pt x="57482" y="63548"/>
                  <a:pt x="69325" y="63548"/>
                </a:cubicBezTo>
                <a:cubicBezTo>
                  <a:pt x="81168" y="63548"/>
                  <a:pt x="91350" y="56435"/>
                  <a:pt x="95792" y="46217"/>
                </a:cubicBezTo>
                <a:lnTo>
                  <a:pt x="173313" y="46217"/>
                </a:lnTo>
                <a:cubicBezTo>
                  <a:pt x="179704" y="46217"/>
                  <a:pt x="184867" y="41054"/>
                  <a:pt x="184867" y="34663"/>
                </a:cubicBezTo>
                <a:cubicBezTo>
                  <a:pt x="184867" y="28272"/>
                  <a:pt x="179704" y="23108"/>
                  <a:pt x="173313" y="23108"/>
                </a:cubicBezTo>
                <a:lnTo>
                  <a:pt x="95792" y="23108"/>
                </a:lnTo>
                <a:cubicBezTo>
                  <a:pt x="91350" y="12890"/>
                  <a:pt x="81168" y="5777"/>
                  <a:pt x="69325" y="5777"/>
                </a:cubicBezTo>
                <a:cubicBezTo>
                  <a:pt x="57482" y="5777"/>
                  <a:pt x="47300" y="12890"/>
                  <a:pt x="42859" y="23108"/>
                </a:cubicBezTo>
                <a:lnTo>
                  <a:pt x="11554" y="23108"/>
                </a:lnTo>
                <a:close/>
                <a:moveTo>
                  <a:pt x="11554" y="80879"/>
                </a:moveTo>
                <a:cubicBezTo>
                  <a:pt x="5163" y="80879"/>
                  <a:pt x="0" y="86043"/>
                  <a:pt x="0" y="92434"/>
                </a:cubicBezTo>
                <a:cubicBezTo>
                  <a:pt x="0" y="98825"/>
                  <a:pt x="5163" y="103988"/>
                  <a:pt x="11554" y="103988"/>
                </a:cubicBezTo>
                <a:lnTo>
                  <a:pt x="100630" y="103988"/>
                </a:lnTo>
                <a:cubicBezTo>
                  <a:pt x="105071" y="114206"/>
                  <a:pt x="115253" y="121319"/>
                  <a:pt x="127096" y="121319"/>
                </a:cubicBezTo>
                <a:cubicBezTo>
                  <a:pt x="138939" y="121319"/>
                  <a:pt x="149121" y="114206"/>
                  <a:pt x="153563" y="103988"/>
                </a:cubicBezTo>
                <a:lnTo>
                  <a:pt x="173313" y="103988"/>
                </a:lnTo>
                <a:cubicBezTo>
                  <a:pt x="179704" y="103988"/>
                  <a:pt x="184867" y="98825"/>
                  <a:pt x="184867" y="92434"/>
                </a:cubicBezTo>
                <a:cubicBezTo>
                  <a:pt x="184867" y="86043"/>
                  <a:pt x="179704" y="80879"/>
                  <a:pt x="173313" y="80879"/>
                </a:cubicBezTo>
                <a:lnTo>
                  <a:pt x="153563" y="80879"/>
                </a:lnTo>
                <a:cubicBezTo>
                  <a:pt x="149121" y="70661"/>
                  <a:pt x="138939" y="63548"/>
                  <a:pt x="127096" y="63548"/>
                </a:cubicBezTo>
                <a:cubicBezTo>
                  <a:pt x="115253" y="63548"/>
                  <a:pt x="105071" y="70661"/>
                  <a:pt x="100630" y="80879"/>
                </a:cubicBezTo>
                <a:lnTo>
                  <a:pt x="11554" y="80879"/>
                </a:lnTo>
                <a:close/>
                <a:moveTo>
                  <a:pt x="11554" y="138650"/>
                </a:moveTo>
                <a:cubicBezTo>
                  <a:pt x="5163" y="138650"/>
                  <a:pt x="0" y="143814"/>
                  <a:pt x="0" y="150205"/>
                </a:cubicBezTo>
                <a:cubicBezTo>
                  <a:pt x="0" y="156596"/>
                  <a:pt x="5163" y="161759"/>
                  <a:pt x="11554" y="161759"/>
                </a:cubicBezTo>
                <a:lnTo>
                  <a:pt x="31305" y="161759"/>
                </a:lnTo>
                <a:cubicBezTo>
                  <a:pt x="35746" y="171977"/>
                  <a:pt x="45928" y="179090"/>
                  <a:pt x="57771" y="179090"/>
                </a:cubicBezTo>
                <a:cubicBezTo>
                  <a:pt x="69614" y="179090"/>
                  <a:pt x="79796" y="171977"/>
                  <a:pt x="84237" y="161759"/>
                </a:cubicBezTo>
                <a:lnTo>
                  <a:pt x="173313" y="161759"/>
                </a:lnTo>
                <a:cubicBezTo>
                  <a:pt x="179704" y="161759"/>
                  <a:pt x="184867" y="156596"/>
                  <a:pt x="184867" y="150205"/>
                </a:cubicBezTo>
                <a:cubicBezTo>
                  <a:pt x="184867" y="143814"/>
                  <a:pt x="179704" y="138650"/>
                  <a:pt x="173313" y="138650"/>
                </a:cubicBezTo>
                <a:lnTo>
                  <a:pt x="84237" y="138650"/>
                </a:lnTo>
                <a:cubicBezTo>
                  <a:pt x="79796" y="128432"/>
                  <a:pt x="69614" y="121319"/>
                  <a:pt x="57771" y="121319"/>
                </a:cubicBezTo>
                <a:cubicBezTo>
                  <a:pt x="45928" y="121319"/>
                  <a:pt x="35746" y="128432"/>
                  <a:pt x="31305" y="138650"/>
                </a:cubicBezTo>
                <a:lnTo>
                  <a:pt x="11554" y="1386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6" name="Text 54"/>
          <p:cNvSpPr/>
          <p:nvPr/>
        </p:nvSpPr>
        <p:spPr>
          <a:xfrm>
            <a:off x="6934547" y="5720109"/>
            <a:ext cx="203354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79945" y="6182277"/>
            <a:ext cx="532417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Search CV used to optimize model parameters, testing 50+ combinations per algorithm to find optimal configuration.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6892925" cy="5178425"/>
          </a:xfrm>
          <a:custGeom>
            <a:avLst/>
            <a:gdLst/>
            <a:ahLst/>
            <a:cxnLst/>
            <a:rect l="l" t="t" r="r" b="b"/>
            <a:pathLst>
              <a:path w="6892925" h="5178425">
                <a:moveTo>
                  <a:pt x="76175" y="0"/>
                </a:moveTo>
                <a:lnTo>
                  <a:pt x="6816750" y="0"/>
                </a:lnTo>
                <a:cubicBezTo>
                  <a:pt x="6858820" y="0"/>
                  <a:pt x="6892925" y="34105"/>
                  <a:pt x="6892925" y="76175"/>
                </a:cubicBezTo>
                <a:lnTo>
                  <a:pt x="6892925" y="5102250"/>
                </a:lnTo>
                <a:cubicBezTo>
                  <a:pt x="6892925" y="5144320"/>
                  <a:pt x="6858820" y="5178425"/>
                  <a:pt x="6816750" y="5178425"/>
                </a:cubicBezTo>
                <a:lnTo>
                  <a:pt x="76175" y="5178425"/>
                </a:lnTo>
                <a:cubicBezTo>
                  <a:pt x="34105" y="5178425"/>
                  <a:pt x="0" y="5144320"/>
                  <a:pt x="0" y="5102250"/>
                </a:cubicBezTo>
                <a:lnTo>
                  <a:pt x="0" y="76175"/>
                </a:lnTo>
                <a:cubicBezTo>
                  <a:pt x="0" y="34133"/>
                  <a:pt x="34133" y="0"/>
                  <a:pt x="7617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1663" y="1530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815975" y="1492253"/>
            <a:ext cx="636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Metrics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1025" y="5813425"/>
            <a:ext cx="6502400" cy="463550"/>
          </a:xfrm>
          <a:custGeom>
            <a:avLst/>
            <a:gdLst/>
            <a:ahLst/>
            <a:cxnLst/>
            <a:rect l="l" t="t" r="r" b="b"/>
            <a:pathLst>
              <a:path w="6502400" h="463550">
                <a:moveTo>
                  <a:pt x="76198" y="0"/>
                </a:moveTo>
                <a:lnTo>
                  <a:pt x="6426202" y="0"/>
                </a:lnTo>
                <a:cubicBezTo>
                  <a:pt x="6468285" y="0"/>
                  <a:pt x="6502400" y="34115"/>
                  <a:pt x="6502400" y="76198"/>
                </a:cubicBezTo>
                <a:lnTo>
                  <a:pt x="6502400" y="387352"/>
                </a:lnTo>
                <a:cubicBezTo>
                  <a:pt x="6502400" y="429435"/>
                  <a:pt x="6468285" y="463550"/>
                  <a:pt x="6426202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7550" y="596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946150" y="5930903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XGBoost achieves highest scores across all metrics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75835" y="1298575"/>
            <a:ext cx="4330700" cy="3587750"/>
          </a:xfrm>
          <a:custGeom>
            <a:avLst/>
            <a:gdLst/>
            <a:ahLst/>
            <a:cxnLst/>
            <a:rect l="l" t="t" r="r" b="b"/>
            <a:pathLst>
              <a:path w="4330700" h="3587750">
                <a:moveTo>
                  <a:pt x="76204" y="0"/>
                </a:moveTo>
                <a:lnTo>
                  <a:pt x="4254496" y="0"/>
                </a:lnTo>
                <a:cubicBezTo>
                  <a:pt x="4296582" y="0"/>
                  <a:pt x="4330700" y="34118"/>
                  <a:pt x="4330700" y="76204"/>
                </a:cubicBezTo>
                <a:lnTo>
                  <a:pt x="4330700" y="3511546"/>
                </a:lnTo>
                <a:cubicBezTo>
                  <a:pt x="4330700" y="3553632"/>
                  <a:pt x="4296582" y="3587750"/>
                  <a:pt x="4254496" y="3587750"/>
                </a:cubicBezTo>
                <a:lnTo>
                  <a:pt x="76204" y="3587750"/>
                </a:lnTo>
                <a:cubicBezTo>
                  <a:pt x="34118" y="3587750"/>
                  <a:pt x="0" y="3553632"/>
                  <a:pt x="0" y="35115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1410" y="1454153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Ranking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50460" y="18351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50460" y="18351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5" name="Shape 12"/>
          <p:cNvSpPr/>
          <p:nvPr/>
        </p:nvSpPr>
        <p:spPr>
          <a:xfrm>
            <a:off x="7764760" y="19685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6" name="Text 13"/>
          <p:cNvSpPr/>
          <p:nvPr/>
        </p:nvSpPr>
        <p:spPr>
          <a:xfrm>
            <a:off x="8012410" y="1930403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XGBoost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81656" y="1911353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91.2%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50460" y="23304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0C0C0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650460" y="23304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/>
        </p:spPr>
      </p:sp>
      <p:sp>
        <p:nvSpPr>
          <p:cNvPr id="20" name="Shape 17"/>
          <p:cNvSpPr/>
          <p:nvPr/>
        </p:nvSpPr>
        <p:spPr>
          <a:xfrm>
            <a:off x="7774285" y="24638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764" y="38100"/>
                </a:moveTo>
                <a:lnTo>
                  <a:pt x="41583" y="-3840"/>
                </a:lnTo>
                <a:cubicBezTo>
                  <a:pt x="39648" y="-7054"/>
                  <a:pt x="35600" y="-8215"/>
                  <a:pt x="32266" y="-6548"/>
                </a:cubicBezTo>
                <a:lnTo>
                  <a:pt x="6489" y="6340"/>
                </a:lnTo>
                <a:cubicBezTo>
                  <a:pt x="2947" y="8096"/>
                  <a:pt x="1518" y="12383"/>
                  <a:pt x="3274" y="15925"/>
                </a:cubicBezTo>
                <a:lnTo>
                  <a:pt x="23991" y="57329"/>
                </a:lnTo>
                <a:cubicBezTo>
                  <a:pt x="15032" y="67419"/>
                  <a:pt x="9614" y="80695"/>
                  <a:pt x="9614" y="95250"/>
                </a:cubicBezTo>
                <a:cubicBezTo>
                  <a:pt x="9614" y="126802"/>
                  <a:pt x="35213" y="152400"/>
                  <a:pt x="66764" y="152400"/>
                </a:cubicBezTo>
                <a:cubicBezTo>
                  <a:pt x="98316" y="152400"/>
                  <a:pt x="123914" y="126802"/>
                  <a:pt x="123914" y="95250"/>
                </a:cubicBezTo>
                <a:cubicBezTo>
                  <a:pt x="123914" y="80695"/>
                  <a:pt x="118467" y="67419"/>
                  <a:pt x="109537" y="57329"/>
                </a:cubicBezTo>
                <a:lnTo>
                  <a:pt x="130254" y="15925"/>
                </a:lnTo>
                <a:cubicBezTo>
                  <a:pt x="132011" y="12383"/>
                  <a:pt x="130582" y="8096"/>
                  <a:pt x="127069" y="6340"/>
                </a:cubicBezTo>
                <a:lnTo>
                  <a:pt x="101263" y="-6578"/>
                </a:lnTo>
                <a:cubicBezTo>
                  <a:pt x="97929" y="-8245"/>
                  <a:pt x="93851" y="-7054"/>
                  <a:pt x="91946" y="-3870"/>
                </a:cubicBezTo>
                <a:lnTo>
                  <a:pt x="66764" y="38100"/>
                </a:lnTo>
                <a:close/>
                <a:moveTo>
                  <a:pt x="75932" y="80516"/>
                </a:moveTo>
                <a:cubicBezTo>
                  <a:pt x="76349" y="81349"/>
                  <a:pt x="77123" y="81915"/>
                  <a:pt x="78016" y="82034"/>
                </a:cubicBezTo>
                <a:lnTo>
                  <a:pt x="92928" y="84207"/>
                </a:lnTo>
                <a:cubicBezTo>
                  <a:pt x="95220" y="84534"/>
                  <a:pt x="96113" y="87332"/>
                  <a:pt x="94476" y="88969"/>
                </a:cubicBezTo>
                <a:lnTo>
                  <a:pt x="83671" y="99506"/>
                </a:lnTo>
                <a:cubicBezTo>
                  <a:pt x="83016" y="100161"/>
                  <a:pt x="82719" y="101054"/>
                  <a:pt x="82868" y="101977"/>
                </a:cubicBezTo>
                <a:lnTo>
                  <a:pt x="85427" y="116830"/>
                </a:lnTo>
                <a:cubicBezTo>
                  <a:pt x="85814" y="119092"/>
                  <a:pt x="83433" y="120848"/>
                  <a:pt x="81379" y="119777"/>
                </a:cubicBezTo>
                <a:lnTo>
                  <a:pt x="68044" y="112752"/>
                </a:lnTo>
                <a:cubicBezTo>
                  <a:pt x="67241" y="112335"/>
                  <a:pt x="66258" y="112335"/>
                  <a:pt x="65455" y="112752"/>
                </a:cubicBezTo>
                <a:lnTo>
                  <a:pt x="52120" y="119777"/>
                </a:lnTo>
                <a:cubicBezTo>
                  <a:pt x="50066" y="120848"/>
                  <a:pt x="47685" y="119122"/>
                  <a:pt x="48071" y="116830"/>
                </a:cubicBezTo>
                <a:lnTo>
                  <a:pt x="50631" y="101977"/>
                </a:lnTo>
                <a:cubicBezTo>
                  <a:pt x="50780" y="101084"/>
                  <a:pt x="50483" y="100161"/>
                  <a:pt x="49828" y="99506"/>
                </a:cubicBezTo>
                <a:lnTo>
                  <a:pt x="39023" y="88969"/>
                </a:lnTo>
                <a:cubicBezTo>
                  <a:pt x="37356" y="87362"/>
                  <a:pt x="38279" y="84564"/>
                  <a:pt x="40571" y="84207"/>
                </a:cubicBezTo>
                <a:lnTo>
                  <a:pt x="55483" y="82034"/>
                </a:lnTo>
                <a:cubicBezTo>
                  <a:pt x="56376" y="81915"/>
                  <a:pt x="57180" y="81320"/>
                  <a:pt x="57567" y="80516"/>
                </a:cubicBezTo>
                <a:lnTo>
                  <a:pt x="64234" y="67002"/>
                </a:lnTo>
                <a:cubicBezTo>
                  <a:pt x="65246" y="64919"/>
                  <a:pt x="68193" y="64919"/>
                  <a:pt x="69235" y="67002"/>
                </a:cubicBezTo>
                <a:lnTo>
                  <a:pt x="75902" y="80516"/>
                </a:lnTo>
                <a:close/>
              </a:path>
            </a:pathLst>
          </a:custGeom>
          <a:solidFill>
            <a:srgbClr val="C0C0C0"/>
          </a:solidFill>
          <a:ln/>
        </p:spPr>
      </p:sp>
      <p:sp>
        <p:nvSpPr>
          <p:cNvPr id="21" name="Text 18"/>
          <p:cNvSpPr/>
          <p:nvPr/>
        </p:nvSpPr>
        <p:spPr>
          <a:xfrm>
            <a:off x="8012410" y="2425703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Random Forest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140678" y="2406653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C0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89.5%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50460" y="28257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D7F32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50460" y="28257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D7F32"/>
          </a:solidFill>
          <a:ln/>
        </p:spPr>
      </p:sp>
      <p:sp>
        <p:nvSpPr>
          <p:cNvPr id="25" name="Shape 22"/>
          <p:cNvSpPr/>
          <p:nvPr/>
        </p:nvSpPr>
        <p:spPr>
          <a:xfrm>
            <a:off x="7774285" y="29591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764" y="38100"/>
                </a:moveTo>
                <a:lnTo>
                  <a:pt x="41583" y="-3840"/>
                </a:lnTo>
                <a:cubicBezTo>
                  <a:pt x="39648" y="-7054"/>
                  <a:pt x="35600" y="-8215"/>
                  <a:pt x="32266" y="-6548"/>
                </a:cubicBezTo>
                <a:lnTo>
                  <a:pt x="6489" y="6340"/>
                </a:lnTo>
                <a:cubicBezTo>
                  <a:pt x="2947" y="8096"/>
                  <a:pt x="1518" y="12383"/>
                  <a:pt x="3274" y="15925"/>
                </a:cubicBezTo>
                <a:lnTo>
                  <a:pt x="23991" y="57329"/>
                </a:lnTo>
                <a:cubicBezTo>
                  <a:pt x="15032" y="67419"/>
                  <a:pt x="9614" y="80695"/>
                  <a:pt x="9614" y="95250"/>
                </a:cubicBezTo>
                <a:cubicBezTo>
                  <a:pt x="9614" y="126802"/>
                  <a:pt x="35213" y="152400"/>
                  <a:pt x="66764" y="152400"/>
                </a:cubicBezTo>
                <a:cubicBezTo>
                  <a:pt x="98316" y="152400"/>
                  <a:pt x="123914" y="126802"/>
                  <a:pt x="123914" y="95250"/>
                </a:cubicBezTo>
                <a:cubicBezTo>
                  <a:pt x="123914" y="80695"/>
                  <a:pt x="118467" y="67419"/>
                  <a:pt x="109537" y="57329"/>
                </a:cubicBezTo>
                <a:lnTo>
                  <a:pt x="130254" y="15925"/>
                </a:lnTo>
                <a:cubicBezTo>
                  <a:pt x="132011" y="12383"/>
                  <a:pt x="130582" y="8096"/>
                  <a:pt x="127069" y="6340"/>
                </a:cubicBezTo>
                <a:lnTo>
                  <a:pt x="101263" y="-6578"/>
                </a:lnTo>
                <a:cubicBezTo>
                  <a:pt x="97929" y="-8245"/>
                  <a:pt x="93851" y="-7054"/>
                  <a:pt x="91946" y="-3870"/>
                </a:cubicBezTo>
                <a:lnTo>
                  <a:pt x="66764" y="38100"/>
                </a:lnTo>
                <a:close/>
                <a:moveTo>
                  <a:pt x="75932" y="80516"/>
                </a:moveTo>
                <a:cubicBezTo>
                  <a:pt x="76349" y="81349"/>
                  <a:pt x="77123" y="81915"/>
                  <a:pt x="78016" y="82034"/>
                </a:cubicBezTo>
                <a:lnTo>
                  <a:pt x="92928" y="84207"/>
                </a:lnTo>
                <a:cubicBezTo>
                  <a:pt x="95220" y="84534"/>
                  <a:pt x="96113" y="87332"/>
                  <a:pt x="94476" y="88969"/>
                </a:cubicBezTo>
                <a:lnTo>
                  <a:pt x="83671" y="99506"/>
                </a:lnTo>
                <a:cubicBezTo>
                  <a:pt x="83016" y="100161"/>
                  <a:pt x="82719" y="101054"/>
                  <a:pt x="82868" y="101977"/>
                </a:cubicBezTo>
                <a:lnTo>
                  <a:pt x="85427" y="116830"/>
                </a:lnTo>
                <a:cubicBezTo>
                  <a:pt x="85814" y="119092"/>
                  <a:pt x="83433" y="120848"/>
                  <a:pt x="81379" y="119777"/>
                </a:cubicBezTo>
                <a:lnTo>
                  <a:pt x="68044" y="112752"/>
                </a:lnTo>
                <a:cubicBezTo>
                  <a:pt x="67241" y="112335"/>
                  <a:pt x="66258" y="112335"/>
                  <a:pt x="65455" y="112752"/>
                </a:cubicBezTo>
                <a:lnTo>
                  <a:pt x="52120" y="119777"/>
                </a:lnTo>
                <a:cubicBezTo>
                  <a:pt x="50066" y="120848"/>
                  <a:pt x="47685" y="119122"/>
                  <a:pt x="48071" y="116830"/>
                </a:cubicBezTo>
                <a:lnTo>
                  <a:pt x="50631" y="101977"/>
                </a:lnTo>
                <a:cubicBezTo>
                  <a:pt x="50780" y="101084"/>
                  <a:pt x="50483" y="100161"/>
                  <a:pt x="49828" y="99506"/>
                </a:cubicBezTo>
                <a:lnTo>
                  <a:pt x="39023" y="88969"/>
                </a:lnTo>
                <a:cubicBezTo>
                  <a:pt x="37356" y="87362"/>
                  <a:pt x="38279" y="84564"/>
                  <a:pt x="40571" y="84207"/>
                </a:cubicBezTo>
                <a:lnTo>
                  <a:pt x="55483" y="82034"/>
                </a:lnTo>
                <a:cubicBezTo>
                  <a:pt x="56376" y="81915"/>
                  <a:pt x="57180" y="81320"/>
                  <a:pt x="57567" y="80516"/>
                </a:cubicBezTo>
                <a:lnTo>
                  <a:pt x="64234" y="67002"/>
                </a:lnTo>
                <a:cubicBezTo>
                  <a:pt x="65246" y="64919"/>
                  <a:pt x="68193" y="64919"/>
                  <a:pt x="69235" y="67002"/>
                </a:cubicBezTo>
                <a:lnTo>
                  <a:pt x="75902" y="80516"/>
                </a:lnTo>
                <a:close/>
              </a:path>
            </a:pathLst>
          </a:custGeom>
          <a:solidFill>
            <a:srgbClr val="CD7F32"/>
          </a:solidFill>
          <a:ln/>
        </p:spPr>
      </p:sp>
      <p:sp>
        <p:nvSpPr>
          <p:cNvPr id="26" name="Text 23"/>
          <p:cNvSpPr/>
          <p:nvPr/>
        </p:nvSpPr>
        <p:spPr>
          <a:xfrm>
            <a:off x="8012410" y="2921003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Extra Trees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142961" y="2901953"/>
            <a:ext cx="52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D7F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88.7%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50460" y="33210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650460" y="33210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7"/>
          <p:cNvSpPr/>
          <p:nvPr/>
        </p:nvSpPr>
        <p:spPr>
          <a:xfrm>
            <a:off x="7745710" y="3416303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Gradient Boosting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188898" y="3397253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87.9%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650460" y="38163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650460" y="38163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1"/>
          <p:cNvSpPr/>
          <p:nvPr/>
        </p:nvSpPr>
        <p:spPr>
          <a:xfrm>
            <a:off x="7745710" y="3911603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Decision Tree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177390" y="3892553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84.3%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650460" y="4311653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0" y="0"/>
                </a:moveTo>
                <a:lnTo>
                  <a:pt x="3924299" y="0"/>
                </a:lnTo>
                <a:cubicBezTo>
                  <a:pt x="3966384" y="0"/>
                  <a:pt x="4000500" y="34116"/>
                  <a:pt x="4000500" y="76201"/>
                </a:cubicBezTo>
                <a:lnTo>
                  <a:pt x="4000500" y="342899"/>
                </a:lnTo>
                <a:cubicBezTo>
                  <a:pt x="4000500" y="384984"/>
                  <a:pt x="3966384" y="419100"/>
                  <a:pt x="39242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7650460" y="43116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5"/>
          <p:cNvSpPr/>
          <p:nvPr/>
        </p:nvSpPr>
        <p:spPr>
          <a:xfrm>
            <a:off x="7745710" y="4406903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Logistic Regression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18565" y="4387853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82.1%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75835" y="5006981"/>
            <a:ext cx="4330700" cy="1187450"/>
          </a:xfrm>
          <a:custGeom>
            <a:avLst/>
            <a:gdLst/>
            <a:ahLst/>
            <a:cxnLst/>
            <a:rect l="l" t="t" r="r" b="b"/>
            <a:pathLst>
              <a:path w="4330700" h="1187450">
                <a:moveTo>
                  <a:pt x="76199" y="0"/>
                </a:moveTo>
                <a:lnTo>
                  <a:pt x="4254501" y="0"/>
                </a:lnTo>
                <a:cubicBezTo>
                  <a:pt x="4296585" y="0"/>
                  <a:pt x="4330700" y="34115"/>
                  <a:pt x="4330700" y="76199"/>
                </a:cubicBezTo>
                <a:lnTo>
                  <a:pt x="4330700" y="1111251"/>
                </a:lnTo>
                <a:cubicBezTo>
                  <a:pt x="4330700" y="1153335"/>
                  <a:pt x="4296585" y="1187450"/>
                  <a:pt x="4254501" y="1187450"/>
                </a:cubicBezTo>
                <a:lnTo>
                  <a:pt x="76199" y="1187450"/>
                </a:lnTo>
                <a:cubicBezTo>
                  <a:pt x="34115" y="1187450"/>
                  <a:pt x="0" y="1153335"/>
                  <a:pt x="0" y="1111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12360" y="5162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2" name="Text 39"/>
          <p:cNvSpPr/>
          <p:nvPr/>
        </p:nvSpPr>
        <p:spPr>
          <a:xfrm>
            <a:off x="7783810" y="512445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593310" y="5429250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Ensemble methods outperform single models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593310" y="5657850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Tree-based models excel at capturing non-linear patterns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93310" y="5886450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XGBoost's regularization prevents overfitting</a:t>
            </a:r>
            <a:endParaRPr lang="en-US" sz="16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1FEE030-B1C9-E187-FC72-57349B4F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60" y="1758953"/>
            <a:ext cx="6093123" cy="39588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kern="0" spc="5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Discrimination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ROC Curve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109" y="1223988"/>
            <a:ext cx="6371323" cy="5455576"/>
          </a:xfrm>
          <a:custGeom>
            <a:avLst/>
            <a:gdLst/>
            <a:ahLst/>
            <a:cxnLst/>
            <a:rect l="l" t="t" r="r" b="b"/>
            <a:pathLst>
              <a:path w="6371323" h="5455576">
                <a:moveTo>
                  <a:pt x="71850" y="0"/>
                </a:moveTo>
                <a:lnTo>
                  <a:pt x="6299473" y="0"/>
                </a:lnTo>
                <a:cubicBezTo>
                  <a:pt x="6339128" y="0"/>
                  <a:pt x="6371323" y="32195"/>
                  <a:pt x="6371323" y="71850"/>
                </a:cubicBezTo>
                <a:lnTo>
                  <a:pt x="6371323" y="5383726"/>
                </a:lnTo>
                <a:cubicBezTo>
                  <a:pt x="6371323" y="5423381"/>
                  <a:pt x="6339128" y="5455576"/>
                  <a:pt x="6299473" y="5455576"/>
                </a:cubicBezTo>
                <a:lnTo>
                  <a:pt x="71850" y="5455576"/>
                </a:lnTo>
                <a:cubicBezTo>
                  <a:pt x="32195" y="5455576"/>
                  <a:pt x="0" y="5423381"/>
                  <a:pt x="0" y="5383726"/>
                </a:cubicBezTo>
                <a:lnTo>
                  <a:pt x="0" y="71850"/>
                </a:lnTo>
                <a:cubicBezTo>
                  <a:pt x="0" y="32195"/>
                  <a:pt x="32195" y="0"/>
                  <a:pt x="7185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7105" y="1442454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22445" y="22445"/>
                </a:moveTo>
                <a:cubicBezTo>
                  <a:pt x="22445" y="16237"/>
                  <a:pt x="17430" y="11222"/>
                  <a:pt x="11222" y="11222"/>
                </a:cubicBezTo>
                <a:cubicBezTo>
                  <a:pt x="5015" y="11222"/>
                  <a:pt x="0" y="16237"/>
                  <a:pt x="0" y="22445"/>
                </a:cubicBezTo>
                <a:lnTo>
                  <a:pt x="0" y="140280"/>
                </a:lnTo>
                <a:cubicBezTo>
                  <a:pt x="0" y="155781"/>
                  <a:pt x="12555" y="168336"/>
                  <a:pt x="28056" y="168336"/>
                </a:cubicBezTo>
                <a:lnTo>
                  <a:pt x="168336" y="168336"/>
                </a:lnTo>
                <a:cubicBezTo>
                  <a:pt x="174543" y="168336"/>
                  <a:pt x="179558" y="163321"/>
                  <a:pt x="179558" y="157113"/>
                </a:cubicBezTo>
                <a:cubicBezTo>
                  <a:pt x="179558" y="150906"/>
                  <a:pt x="174543" y="145891"/>
                  <a:pt x="168336" y="145891"/>
                </a:cubicBezTo>
                <a:lnTo>
                  <a:pt x="28056" y="145891"/>
                </a:lnTo>
                <a:cubicBezTo>
                  <a:pt x="24970" y="145891"/>
                  <a:pt x="22445" y="143366"/>
                  <a:pt x="22445" y="140280"/>
                </a:cubicBezTo>
                <a:lnTo>
                  <a:pt x="22445" y="22445"/>
                </a:lnTo>
                <a:close/>
                <a:moveTo>
                  <a:pt x="165039" y="52815"/>
                </a:moveTo>
                <a:cubicBezTo>
                  <a:pt x="169423" y="48432"/>
                  <a:pt x="169423" y="41312"/>
                  <a:pt x="165039" y="36929"/>
                </a:cubicBezTo>
                <a:cubicBezTo>
                  <a:pt x="160655" y="32545"/>
                  <a:pt x="153536" y="32545"/>
                  <a:pt x="149153" y="36929"/>
                </a:cubicBezTo>
                <a:lnTo>
                  <a:pt x="112224" y="73892"/>
                </a:lnTo>
                <a:lnTo>
                  <a:pt x="92094" y="53797"/>
                </a:lnTo>
                <a:cubicBezTo>
                  <a:pt x="87710" y="49414"/>
                  <a:pt x="80591" y="49414"/>
                  <a:pt x="76207" y="53797"/>
                </a:cubicBezTo>
                <a:lnTo>
                  <a:pt x="42540" y="87464"/>
                </a:lnTo>
                <a:cubicBezTo>
                  <a:pt x="38156" y="91848"/>
                  <a:pt x="38156" y="98967"/>
                  <a:pt x="42540" y="103351"/>
                </a:cubicBezTo>
                <a:cubicBezTo>
                  <a:pt x="46924" y="107735"/>
                  <a:pt x="54043" y="107735"/>
                  <a:pt x="58427" y="103351"/>
                </a:cubicBezTo>
                <a:lnTo>
                  <a:pt x="84168" y="77610"/>
                </a:lnTo>
                <a:lnTo>
                  <a:pt x="104298" y="97740"/>
                </a:lnTo>
                <a:cubicBezTo>
                  <a:pt x="108682" y="102124"/>
                  <a:pt x="115801" y="102124"/>
                  <a:pt x="120185" y="97740"/>
                </a:cubicBezTo>
                <a:lnTo>
                  <a:pt x="165074" y="528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769108" y="1406542"/>
            <a:ext cx="587155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ROC Curve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660" y="1765658"/>
            <a:ext cx="6006221" cy="3887434"/>
          </a:xfrm>
          <a:custGeom>
            <a:avLst/>
            <a:gdLst/>
            <a:ahLst/>
            <a:cxnLst/>
            <a:rect l="l" t="t" r="r" b="b"/>
            <a:pathLst>
              <a:path w="6006221" h="3887434">
                <a:moveTo>
                  <a:pt x="71840" y="0"/>
                </a:moveTo>
                <a:lnTo>
                  <a:pt x="5934381" y="0"/>
                </a:lnTo>
                <a:cubicBezTo>
                  <a:pt x="5974057" y="0"/>
                  <a:pt x="6006221" y="32164"/>
                  <a:pt x="6006221" y="71840"/>
                </a:cubicBezTo>
                <a:lnTo>
                  <a:pt x="6006221" y="3815595"/>
                </a:lnTo>
                <a:cubicBezTo>
                  <a:pt x="6006221" y="3855271"/>
                  <a:pt x="5974057" y="3887434"/>
                  <a:pt x="5934381" y="3887434"/>
                </a:cubicBezTo>
                <a:lnTo>
                  <a:pt x="71840" y="3887434"/>
                </a:lnTo>
                <a:cubicBezTo>
                  <a:pt x="32164" y="3887434"/>
                  <a:pt x="0" y="3855271"/>
                  <a:pt x="0" y="3815595"/>
                </a:cubicBezTo>
                <a:lnTo>
                  <a:pt x="0" y="71840"/>
                </a:lnTo>
                <a:cubicBezTo>
                  <a:pt x="0" y="32190"/>
                  <a:pt x="32190" y="0"/>
                  <a:pt x="7184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2395" y="2741261"/>
            <a:ext cx="579075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YOUR MULTI-CLASS ROC CURVE HERE]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7284" y="3073443"/>
            <a:ext cx="5700972" cy="1598068"/>
          </a:xfrm>
          <a:custGeom>
            <a:avLst/>
            <a:gdLst/>
            <a:ahLst/>
            <a:cxnLst/>
            <a:rect l="l" t="t" r="r" b="b"/>
            <a:pathLst>
              <a:path w="5700972" h="1598068">
                <a:moveTo>
                  <a:pt x="71817" y="0"/>
                </a:moveTo>
                <a:lnTo>
                  <a:pt x="5629155" y="0"/>
                </a:lnTo>
                <a:cubicBezTo>
                  <a:pt x="5668818" y="0"/>
                  <a:pt x="5700972" y="32154"/>
                  <a:pt x="5700972" y="71817"/>
                </a:cubicBezTo>
                <a:lnTo>
                  <a:pt x="5700972" y="1526251"/>
                </a:lnTo>
                <a:cubicBezTo>
                  <a:pt x="5700972" y="1565914"/>
                  <a:pt x="5668818" y="1598068"/>
                  <a:pt x="5629155" y="1598068"/>
                </a:cubicBezTo>
                <a:lnTo>
                  <a:pt x="71817" y="1598068"/>
                </a:lnTo>
                <a:cubicBezTo>
                  <a:pt x="32154" y="1598068"/>
                  <a:pt x="0" y="1565914"/>
                  <a:pt x="0" y="1526251"/>
                </a:cubicBezTo>
                <a:lnTo>
                  <a:pt x="0" y="71817"/>
                </a:lnTo>
                <a:cubicBezTo>
                  <a:pt x="0" y="32180"/>
                  <a:pt x="32180" y="0"/>
                  <a:pt x="718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A6D8C">
                <a:alpha val="4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33610" y="3369714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26934" y="26934"/>
                </a:moveTo>
                <a:cubicBezTo>
                  <a:pt x="41831" y="26934"/>
                  <a:pt x="53867" y="38970"/>
                  <a:pt x="53867" y="53867"/>
                </a:cubicBezTo>
                <a:lnTo>
                  <a:pt x="53867" y="336672"/>
                </a:lnTo>
                <a:cubicBezTo>
                  <a:pt x="53867" y="344078"/>
                  <a:pt x="59928" y="350138"/>
                  <a:pt x="67334" y="350138"/>
                </a:cubicBezTo>
                <a:lnTo>
                  <a:pt x="404006" y="350138"/>
                </a:lnTo>
                <a:cubicBezTo>
                  <a:pt x="418904" y="350138"/>
                  <a:pt x="430940" y="362174"/>
                  <a:pt x="430940" y="377072"/>
                </a:cubicBezTo>
                <a:cubicBezTo>
                  <a:pt x="430940" y="391970"/>
                  <a:pt x="418904" y="404006"/>
                  <a:pt x="404006" y="404006"/>
                </a:cubicBezTo>
                <a:lnTo>
                  <a:pt x="67334" y="404006"/>
                </a:lnTo>
                <a:cubicBezTo>
                  <a:pt x="30132" y="404006"/>
                  <a:pt x="0" y="373874"/>
                  <a:pt x="0" y="336672"/>
                </a:cubicBezTo>
                <a:lnTo>
                  <a:pt x="0" y="53867"/>
                </a:lnTo>
                <a:cubicBezTo>
                  <a:pt x="0" y="38970"/>
                  <a:pt x="12036" y="26934"/>
                  <a:pt x="26934" y="26934"/>
                </a:cubicBezTo>
                <a:close/>
                <a:moveTo>
                  <a:pt x="202003" y="80801"/>
                </a:moveTo>
                <a:cubicBezTo>
                  <a:pt x="207642" y="80801"/>
                  <a:pt x="213029" y="83158"/>
                  <a:pt x="216901" y="87366"/>
                </a:cubicBezTo>
                <a:lnTo>
                  <a:pt x="276744" y="152596"/>
                </a:lnTo>
                <a:lnTo>
                  <a:pt x="315630" y="113627"/>
                </a:lnTo>
                <a:cubicBezTo>
                  <a:pt x="323541" y="105715"/>
                  <a:pt x="336335" y="105715"/>
                  <a:pt x="344163" y="113627"/>
                </a:cubicBezTo>
                <a:lnTo>
                  <a:pt x="398030" y="167494"/>
                </a:lnTo>
                <a:cubicBezTo>
                  <a:pt x="401818" y="171282"/>
                  <a:pt x="403922" y="176416"/>
                  <a:pt x="403922" y="181803"/>
                </a:cubicBezTo>
                <a:lnTo>
                  <a:pt x="403922" y="276071"/>
                </a:lnTo>
                <a:cubicBezTo>
                  <a:pt x="403922" y="287265"/>
                  <a:pt x="394916" y="296271"/>
                  <a:pt x="383721" y="296271"/>
                </a:cubicBezTo>
                <a:lnTo>
                  <a:pt x="127851" y="296271"/>
                </a:lnTo>
                <a:cubicBezTo>
                  <a:pt x="116657" y="296271"/>
                  <a:pt x="107651" y="287265"/>
                  <a:pt x="107651" y="276071"/>
                </a:cubicBezTo>
                <a:lnTo>
                  <a:pt x="107651" y="181803"/>
                </a:lnTo>
                <a:cubicBezTo>
                  <a:pt x="107651" y="176753"/>
                  <a:pt x="109587" y="171871"/>
                  <a:pt x="112953" y="168167"/>
                </a:cubicBezTo>
                <a:lnTo>
                  <a:pt x="187021" y="87366"/>
                </a:lnTo>
                <a:cubicBezTo>
                  <a:pt x="190809" y="83158"/>
                  <a:pt x="196280" y="80801"/>
                  <a:pt x="201919" y="8080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Text 9"/>
          <p:cNvSpPr/>
          <p:nvPr/>
        </p:nvSpPr>
        <p:spPr>
          <a:xfrm>
            <a:off x="957644" y="3908389"/>
            <a:ext cx="518025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 Curve with AUC Scores for All Three Classes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2133" y="4195682"/>
            <a:ext cx="517127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On-Time, At Risk, Delayed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7652" y="5766810"/>
            <a:ext cx="1927258" cy="724218"/>
          </a:xfrm>
          <a:custGeom>
            <a:avLst/>
            <a:gdLst/>
            <a:ahLst/>
            <a:cxnLst/>
            <a:rect l="l" t="t" r="r" b="b"/>
            <a:pathLst>
              <a:path w="1927258" h="724218">
                <a:moveTo>
                  <a:pt x="71821" y="0"/>
                </a:moveTo>
                <a:lnTo>
                  <a:pt x="1855437" y="0"/>
                </a:lnTo>
                <a:cubicBezTo>
                  <a:pt x="1895103" y="0"/>
                  <a:pt x="1927258" y="32155"/>
                  <a:pt x="1927258" y="71821"/>
                </a:cubicBezTo>
                <a:lnTo>
                  <a:pt x="1927258" y="652397"/>
                </a:lnTo>
                <a:cubicBezTo>
                  <a:pt x="1927258" y="692063"/>
                  <a:pt x="1895103" y="724218"/>
                  <a:pt x="1855437" y="724218"/>
                </a:cubicBezTo>
                <a:lnTo>
                  <a:pt x="71821" y="724218"/>
                </a:lnTo>
                <a:cubicBezTo>
                  <a:pt x="32155" y="724218"/>
                  <a:pt x="0" y="692063"/>
                  <a:pt x="0" y="652397"/>
                </a:cubicBezTo>
                <a:lnTo>
                  <a:pt x="0" y="71821"/>
                </a:lnTo>
                <a:cubicBezTo>
                  <a:pt x="0" y="32155"/>
                  <a:pt x="32155" y="0"/>
                  <a:pt x="7182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957" y="5877540"/>
            <a:ext cx="176864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 AUC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4513" y="6093010"/>
            <a:ext cx="18135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0.94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86480" y="5766810"/>
            <a:ext cx="1927258" cy="724218"/>
          </a:xfrm>
          <a:custGeom>
            <a:avLst/>
            <a:gdLst/>
            <a:ahLst/>
            <a:cxnLst/>
            <a:rect l="l" t="t" r="r" b="b"/>
            <a:pathLst>
              <a:path w="1927258" h="724218">
                <a:moveTo>
                  <a:pt x="71821" y="0"/>
                </a:moveTo>
                <a:lnTo>
                  <a:pt x="1855437" y="0"/>
                </a:lnTo>
                <a:cubicBezTo>
                  <a:pt x="1895103" y="0"/>
                  <a:pt x="1927258" y="32155"/>
                  <a:pt x="1927258" y="71821"/>
                </a:cubicBezTo>
                <a:lnTo>
                  <a:pt x="1927258" y="652397"/>
                </a:lnTo>
                <a:cubicBezTo>
                  <a:pt x="1927258" y="692063"/>
                  <a:pt x="1895103" y="724218"/>
                  <a:pt x="1855437" y="724218"/>
                </a:cubicBezTo>
                <a:lnTo>
                  <a:pt x="71821" y="724218"/>
                </a:lnTo>
                <a:cubicBezTo>
                  <a:pt x="32155" y="724218"/>
                  <a:pt x="0" y="692063"/>
                  <a:pt x="0" y="652397"/>
                </a:cubicBezTo>
                <a:lnTo>
                  <a:pt x="0" y="71821"/>
                </a:lnTo>
                <a:cubicBezTo>
                  <a:pt x="0" y="32155"/>
                  <a:pt x="32155" y="0"/>
                  <a:pt x="7182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8467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5784" y="5877540"/>
            <a:ext cx="176864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Risk 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43340" y="6093010"/>
            <a:ext cx="18135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F59E0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0.89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25307" y="5766810"/>
            <a:ext cx="1927258" cy="724218"/>
          </a:xfrm>
          <a:custGeom>
            <a:avLst/>
            <a:gdLst/>
            <a:ahLst/>
            <a:cxnLst/>
            <a:rect l="l" t="t" r="r" b="b"/>
            <a:pathLst>
              <a:path w="1927258" h="724218">
                <a:moveTo>
                  <a:pt x="71821" y="0"/>
                </a:moveTo>
                <a:lnTo>
                  <a:pt x="1855437" y="0"/>
                </a:lnTo>
                <a:cubicBezTo>
                  <a:pt x="1895103" y="0"/>
                  <a:pt x="1927258" y="32155"/>
                  <a:pt x="1927258" y="71821"/>
                </a:cubicBezTo>
                <a:lnTo>
                  <a:pt x="1927258" y="652397"/>
                </a:lnTo>
                <a:cubicBezTo>
                  <a:pt x="1927258" y="692063"/>
                  <a:pt x="1895103" y="724218"/>
                  <a:pt x="1855437" y="724218"/>
                </a:cubicBezTo>
                <a:lnTo>
                  <a:pt x="71821" y="724218"/>
                </a:lnTo>
                <a:cubicBezTo>
                  <a:pt x="32155" y="724218"/>
                  <a:pt x="0" y="692063"/>
                  <a:pt x="0" y="652397"/>
                </a:cubicBezTo>
                <a:lnTo>
                  <a:pt x="0" y="71821"/>
                </a:lnTo>
                <a:cubicBezTo>
                  <a:pt x="0" y="32155"/>
                  <a:pt x="32155" y="0"/>
                  <a:pt x="7182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8467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4612" y="5877540"/>
            <a:ext cx="176864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AUC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82167" y="6093010"/>
            <a:ext cx="18135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EF444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0.91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21594" y="1223988"/>
            <a:ext cx="4907923" cy="2519800"/>
          </a:xfrm>
          <a:custGeom>
            <a:avLst/>
            <a:gdLst/>
            <a:ahLst/>
            <a:cxnLst/>
            <a:rect l="l" t="t" r="r" b="b"/>
            <a:pathLst>
              <a:path w="4907923" h="2519800">
                <a:moveTo>
                  <a:pt x="71814" y="0"/>
                </a:moveTo>
                <a:lnTo>
                  <a:pt x="4836109" y="0"/>
                </a:lnTo>
                <a:cubicBezTo>
                  <a:pt x="4875771" y="0"/>
                  <a:pt x="4907923" y="32152"/>
                  <a:pt x="4907923" y="71814"/>
                </a:cubicBezTo>
                <a:lnTo>
                  <a:pt x="4907923" y="2447985"/>
                </a:lnTo>
                <a:cubicBezTo>
                  <a:pt x="4907923" y="2487647"/>
                  <a:pt x="4875771" y="2519800"/>
                  <a:pt x="4836109" y="2519800"/>
                </a:cubicBezTo>
                <a:lnTo>
                  <a:pt x="71814" y="2519800"/>
                </a:lnTo>
                <a:cubicBezTo>
                  <a:pt x="32152" y="2519800"/>
                  <a:pt x="0" y="2487647"/>
                  <a:pt x="0" y="2447985"/>
                </a:cubicBezTo>
                <a:lnTo>
                  <a:pt x="0" y="71814"/>
                </a:lnTo>
                <a:cubicBezTo>
                  <a:pt x="0" y="32152"/>
                  <a:pt x="32152" y="0"/>
                  <a:pt x="7181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26589" y="1442454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78557" y="56112"/>
                </a:moveTo>
                <a:cubicBezTo>
                  <a:pt x="78557" y="49918"/>
                  <a:pt x="83585" y="44890"/>
                  <a:pt x="89779" y="44890"/>
                </a:cubicBezTo>
                <a:cubicBezTo>
                  <a:pt x="95973" y="44890"/>
                  <a:pt x="101001" y="49918"/>
                  <a:pt x="101001" y="56112"/>
                </a:cubicBezTo>
                <a:cubicBezTo>
                  <a:pt x="101001" y="62306"/>
                  <a:pt x="95973" y="67334"/>
                  <a:pt x="89779" y="67334"/>
                </a:cubicBezTo>
                <a:cubicBezTo>
                  <a:pt x="83585" y="67334"/>
                  <a:pt x="78557" y="62306"/>
                  <a:pt x="78557" y="56112"/>
                </a:cubicBezTo>
                <a:close/>
                <a:moveTo>
                  <a:pt x="75751" y="78557"/>
                </a:moveTo>
                <a:lnTo>
                  <a:pt x="92585" y="78557"/>
                </a:lnTo>
                <a:cubicBezTo>
                  <a:pt x="97249" y="78557"/>
                  <a:pt x="101001" y="82309"/>
                  <a:pt x="101001" y="86973"/>
                </a:cubicBezTo>
                <a:lnTo>
                  <a:pt x="101001" y="117835"/>
                </a:lnTo>
                <a:lnTo>
                  <a:pt x="103807" y="117835"/>
                </a:lnTo>
                <a:cubicBezTo>
                  <a:pt x="108471" y="117835"/>
                  <a:pt x="112224" y="121588"/>
                  <a:pt x="112224" y="126252"/>
                </a:cubicBezTo>
                <a:cubicBezTo>
                  <a:pt x="112224" y="130916"/>
                  <a:pt x="108471" y="134669"/>
                  <a:pt x="103807" y="134669"/>
                </a:cubicBezTo>
                <a:lnTo>
                  <a:pt x="75751" y="134669"/>
                </a:lnTo>
                <a:cubicBezTo>
                  <a:pt x="71087" y="134669"/>
                  <a:pt x="67334" y="130916"/>
                  <a:pt x="67334" y="126252"/>
                </a:cubicBezTo>
                <a:cubicBezTo>
                  <a:pt x="67334" y="121588"/>
                  <a:pt x="71087" y="117835"/>
                  <a:pt x="75751" y="117835"/>
                </a:cubicBezTo>
                <a:lnTo>
                  <a:pt x="84168" y="117835"/>
                </a:lnTo>
                <a:lnTo>
                  <a:pt x="84168" y="95390"/>
                </a:lnTo>
                <a:lnTo>
                  <a:pt x="75751" y="95390"/>
                </a:lnTo>
                <a:cubicBezTo>
                  <a:pt x="71087" y="95390"/>
                  <a:pt x="67334" y="91638"/>
                  <a:pt x="67334" y="86973"/>
                </a:cubicBezTo>
                <a:cubicBezTo>
                  <a:pt x="67334" y="82309"/>
                  <a:pt x="71087" y="78557"/>
                  <a:pt x="75751" y="7855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7328592" y="1406542"/>
            <a:ext cx="440815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ROC-AUC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04145" y="1801570"/>
            <a:ext cx="4542822" cy="646409"/>
          </a:xfrm>
          <a:custGeom>
            <a:avLst/>
            <a:gdLst/>
            <a:ahLst/>
            <a:cxnLst/>
            <a:rect l="l" t="t" r="r" b="b"/>
            <a:pathLst>
              <a:path w="4542822" h="646409">
                <a:moveTo>
                  <a:pt x="71823" y="0"/>
                </a:moveTo>
                <a:lnTo>
                  <a:pt x="4470999" y="0"/>
                </a:lnTo>
                <a:cubicBezTo>
                  <a:pt x="4510666" y="0"/>
                  <a:pt x="4542822" y="32156"/>
                  <a:pt x="4542822" y="71823"/>
                </a:cubicBezTo>
                <a:lnTo>
                  <a:pt x="4542822" y="574587"/>
                </a:lnTo>
                <a:cubicBezTo>
                  <a:pt x="4542822" y="614253"/>
                  <a:pt x="4510666" y="646409"/>
                  <a:pt x="4470999" y="646409"/>
                </a:cubicBezTo>
                <a:lnTo>
                  <a:pt x="71823" y="646409"/>
                </a:lnTo>
                <a:cubicBezTo>
                  <a:pt x="32156" y="646409"/>
                  <a:pt x="0" y="614253"/>
                  <a:pt x="0" y="574587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11879" y="1909305"/>
            <a:ext cx="439917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AUC?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11879" y="2160686"/>
            <a:ext cx="439019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Under the Curve measures model's ability to distinguish between classes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04145" y="2555714"/>
            <a:ext cx="4542822" cy="1005526"/>
          </a:xfrm>
          <a:custGeom>
            <a:avLst/>
            <a:gdLst/>
            <a:ahLst/>
            <a:cxnLst/>
            <a:rect l="l" t="t" r="r" b="b"/>
            <a:pathLst>
              <a:path w="4542822" h="1005526">
                <a:moveTo>
                  <a:pt x="71825" y="0"/>
                </a:moveTo>
                <a:lnTo>
                  <a:pt x="4470997" y="0"/>
                </a:lnTo>
                <a:cubicBezTo>
                  <a:pt x="4510665" y="0"/>
                  <a:pt x="4542822" y="32157"/>
                  <a:pt x="4542822" y="71825"/>
                </a:cubicBezTo>
                <a:lnTo>
                  <a:pt x="4542822" y="933701"/>
                </a:lnTo>
                <a:cubicBezTo>
                  <a:pt x="4542822" y="973369"/>
                  <a:pt x="4510665" y="1005526"/>
                  <a:pt x="4470997" y="1005526"/>
                </a:cubicBezTo>
                <a:lnTo>
                  <a:pt x="71825" y="1005526"/>
                </a:lnTo>
                <a:cubicBezTo>
                  <a:pt x="32157" y="1005526"/>
                  <a:pt x="0" y="973369"/>
                  <a:pt x="0" y="933701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211879" y="2663449"/>
            <a:ext cx="439917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1879" y="2914831"/>
            <a:ext cx="4390197" cy="53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0.9-1.0:</a:t>
            </a: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Excellent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0.8-0.9:</a:t>
            </a: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Good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0.5-0.7:</a:t>
            </a: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21594" y="3893426"/>
            <a:ext cx="4907923" cy="2124772"/>
          </a:xfrm>
          <a:custGeom>
            <a:avLst/>
            <a:gdLst/>
            <a:ahLst/>
            <a:cxnLst/>
            <a:rect l="l" t="t" r="r" b="b"/>
            <a:pathLst>
              <a:path w="4907923" h="2124772">
                <a:moveTo>
                  <a:pt x="71817" y="0"/>
                </a:moveTo>
                <a:lnTo>
                  <a:pt x="4836106" y="0"/>
                </a:lnTo>
                <a:cubicBezTo>
                  <a:pt x="4875770" y="0"/>
                  <a:pt x="4907923" y="32154"/>
                  <a:pt x="4907923" y="71817"/>
                </a:cubicBezTo>
                <a:lnTo>
                  <a:pt x="4907923" y="2052954"/>
                </a:lnTo>
                <a:cubicBezTo>
                  <a:pt x="4907923" y="2092618"/>
                  <a:pt x="4875770" y="2124772"/>
                  <a:pt x="4836106" y="2124772"/>
                </a:cubicBezTo>
                <a:lnTo>
                  <a:pt x="71817" y="2124772"/>
                </a:lnTo>
                <a:cubicBezTo>
                  <a:pt x="32154" y="2124772"/>
                  <a:pt x="0" y="2092618"/>
                  <a:pt x="0" y="2052954"/>
                </a:cubicBezTo>
                <a:lnTo>
                  <a:pt x="0" y="71817"/>
                </a:lnTo>
                <a:cubicBezTo>
                  <a:pt x="0" y="32180"/>
                  <a:pt x="32180" y="0"/>
                  <a:pt x="7181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4145" y="4075971"/>
            <a:ext cx="463260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26589" y="4470999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7413882" y="4435087"/>
            <a:ext cx="303453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Discrimination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13882" y="4650557"/>
            <a:ext cx="302555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AUC scores &gt; 0.89 indicate strong predictive power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26589" y="4973761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7413882" y="4937850"/>
            <a:ext cx="286395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Performance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13882" y="5153320"/>
            <a:ext cx="285497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performance across all three risk classes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26589" y="5476524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7413882" y="5440613"/>
            <a:ext cx="32140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Model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13882" y="5656082"/>
            <a:ext cx="32051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AUC indicates model generalizes well to unseen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21594" y="6167826"/>
            <a:ext cx="4907923" cy="508748"/>
          </a:xfrm>
          <a:custGeom>
            <a:avLst/>
            <a:gdLst/>
            <a:ahLst/>
            <a:cxnLst/>
            <a:rect l="l" t="t" r="r" b="b"/>
            <a:pathLst>
              <a:path w="4907923" h="508748">
                <a:moveTo>
                  <a:pt x="71825" y="0"/>
                </a:moveTo>
                <a:lnTo>
                  <a:pt x="4836098" y="0"/>
                </a:lnTo>
                <a:cubicBezTo>
                  <a:pt x="4875766" y="0"/>
                  <a:pt x="4907923" y="32157"/>
                  <a:pt x="4907923" y="71825"/>
                </a:cubicBezTo>
                <a:lnTo>
                  <a:pt x="4907923" y="436923"/>
                </a:lnTo>
                <a:cubicBezTo>
                  <a:pt x="4907923" y="476591"/>
                  <a:pt x="4875766" y="508748"/>
                  <a:pt x="4836098" y="508748"/>
                </a:cubicBezTo>
                <a:lnTo>
                  <a:pt x="71825" y="508748"/>
                </a:lnTo>
                <a:cubicBezTo>
                  <a:pt x="32157" y="508748"/>
                  <a:pt x="0" y="476591"/>
                  <a:pt x="0" y="436923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6410" y="6278557"/>
            <a:ext cx="475829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AUC:</a:t>
            </a:r>
            <a:r>
              <a:rPr lang="en-US" sz="1697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0.91</a:t>
            </a:r>
            <a:r>
              <a:rPr lang="en-US" sz="113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Outstanding overall performance</a:t>
            </a:r>
            <a:endParaRPr lang="en-US" sz="1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85044F5-EB85-A762-AC92-C8AACAD3A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70" y="1711029"/>
            <a:ext cx="5736885" cy="3968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945" y="334945"/>
            <a:ext cx="1158909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5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945" y="602901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Processing Delay vs Risk Level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736" y="1141604"/>
            <a:ext cx="6394659" cy="5708022"/>
          </a:xfrm>
          <a:custGeom>
            <a:avLst/>
            <a:gdLst/>
            <a:ahLst/>
            <a:cxnLst/>
            <a:rect l="l" t="t" r="r" b="b"/>
            <a:pathLst>
              <a:path w="6394659" h="5708022">
                <a:moveTo>
                  <a:pt x="67012" y="0"/>
                </a:moveTo>
                <a:lnTo>
                  <a:pt x="6327647" y="0"/>
                </a:lnTo>
                <a:cubicBezTo>
                  <a:pt x="6364657" y="0"/>
                  <a:pt x="6394659" y="30002"/>
                  <a:pt x="6394659" y="67012"/>
                </a:cubicBezTo>
                <a:lnTo>
                  <a:pt x="6394659" y="5641010"/>
                </a:lnTo>
                <a:cubicBezTo>
                  <a:pt x="6394659" y="5678020"/>
                  <a:pt x="6364657" y="5708022"/>
                  <a:pt x="6327647" y="5708022"/>
                </a:cubicBezTo>
                <a:lnTo>
                  <a:pt x="67012" y="5708022"/>
                </a:lnTo>
                <a:cubicBezTo>
                  <a:pt x="30002" y="5708022"/>
                  <a:pt x="0" y="5678020"/>
                  <a:pt x="0" y="5641010"/>
                </a:cubicBezTo>
                <a:lnTo>
                  <a:pt x="0" y="67012"/>
                </a:lnTo>
                <a:cubicBezTo>
                  <a:pt x="0" y="30002"/>
                  <a:pt x="30002" y="0"/>
                  <a:pt x="6701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8934" y="1345365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20934" y="20934"/>
                </a:moveTo>
                <a:cubicBezTo>
                  <a:pt x="20934" y="15144"/>
                  <a:pt x="16257" y="10467"/>
                  <a:pt x="10467" y="10467"/>
                </a:cubicBezTo>
                <a:cubicBezTo>
                  <a:pt x="4677" y="10467"/>
                  <a:pt x="0" y="15144"/>
                  <a:pt x="0" y="20934"/>
                </a:cubicBezTo>
                <a:lnTo>
                  <a:pt x="0" y="130838"/>
                </a:lnTo>
                <a:cubicBezTo>
                  <a:pt x="0" y="145296"/>
                  <a:pt x="11710" y="157005"/>
                  <a:pt x="26168" y="157005"/>
                </a:cubicBezTo>
                <a:lnTo>
                  <a:pt x="157005" y="157005"/>
                </a:lnTo>
                <a:cubicBezTo>
                  <a:pt x="162795" y="157005"/>
                  <a:pt x="167473" y="152328"/>
                  <a:pt x="167473" y="146538"/>
                </a:cubicBezTo>
                <a:cubicBezTo>
                  <a:pt x="167473" y="140749"/>
                  <a:pt x="162795" y="136071"/>
                  <a:pt x="157005" y="136071"/>
                </a:cubicBezTo>
                <a:lnTo>
                  <a:pt x="26168" y="136071"/>
                </a:lnTo>
                <a:cubicBezTo>
                  <a:pt x="23289" y="136071"/>
                  <a:pt x="20934" y="133716"/>
                  <a:pt x="20934" y="130838"/>
                </a:cubicBezTo>
                <a:lnTo>
                  <a:pt x="20934" y="20934"/>
                </a:lnTo>
                <a:close/>
                <a:moveTo>
                  <a:pt x="153931" y="49260"/>
                </a:moveTo>
                <a:cubicBezTo>
                  <a:pt x="158019" y="45172"/>
                  <a:pt x="158019" y="38532"/>
                  <a:pt x="153931" y="34443"/>
                </a:cubicBezTo>
                <a:cubicBezTo>
                  <a:pt x="149842" y="30354"/>
                  <a:pt x="143202" y="30354"/>
                  <a:pt x="139113" y="34443"/>
                </a:cubicBezTo>
                <a:lnTo>
                  <a:pt x="104670" y="68919"/>
                </a:lnTo>
                <a:lnTo>
                  <a:pt x="85895" y="50176"/>
                </a:lnTo>
                <a:cubicBezTo>
                  <a:pt x="81806" y="46088"/>
                  <a:pt x="75166" y="46088"/>
                  <a:pt x="71078" y="50176"/>
                </a:cubicBezTo>
                <a:lnTo>
                  <a:pt x="39677" y="81577"/>
                </a:lnTo>
                <a:cubicBezTo>
                  <a:pt x="35588" y="85666"/>
                  <a:pt x="35588" y="92306"/>
                  <a:pt x="39677" y="96395"/>
                </a:cubicBezTo>
                <a:cubicBezTo>
                  <a:pt x="43765" y="100484"/>
                  <a:pt x="50405" y="100484"/>
                  <a:pt x="54494" y="96395"/>
                </a:cubicBezTo>
                <a:lnTo>
                  <a:pt x="78503" y="72386"/>
                </a:lnTo>
                <a:lnTo>
                  <a:pt x="97278" y="91161"/>
                </a:lnTo>
                <a:cubicBezTo>
                  <a:pt x="101367" y="95250"/>
                  <a:pt x="108007" y="95250"/>
                  <a:pt x="112095" y="91161"/>
                </a:cubicBezTo>
                <a:lnTo>
                  <a:pt x="153964" y="4929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717341" y="1311871"/>
            <a:ext cx="5928527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Delay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646816"/>
            <a:ext cx="6054132" cy="4521758"/>
          </a:xfrm>
          <a:custGeom>
            <a:avLst/>
            <a:gdLst/>
            <a:ahLst/>
            <a:cxnLst/>
            <a:rect l="l" t="t" r="r" b="b"/>
            <a:pathLst>
              <a:path w="6054132" h="4521758">
                <a:moveTo>
                  <a:pt x="66967" y="0"/>
                </a:moveTo>
                <a:lnTo>
                  <a:pt x="5987165" y="0"/>
                </a:lnTo>
                <a:cubicBezTo>
                  <a:pt x="6024150" y="0"/>
                  <a:pt x="6054132" y="29982"/>
                  <a:pt x="6054132" y="66967"/>
                </a:cubicBezTo>
                <a:lnTo>
                  <a:pt x="6054132" y="4454791"/>
                </a:lnTo>
                <a:cubicBezTo>
                  <a:pt x="6054132" y="4491776"/>
                  <a:pt x="6024150" y="4521758"/>
                  <a:pt x="5987165" y="4521758"/>
                </a:cubicBezTo>
                <a:lnTo>
                  <a:pt x="66967" y="4521758"/>
                </a:lnTo>
                <a:cubicBezTo>
                  <a:pt x="29982" y="4521758"/>
                  <a:pt x="0" y="4491776"/>
                  <a:pt x="0" y="4454791"/>
                </a:cubicBezTo>
                <a:lnTo>
                  <a:pt x="0" y="66967"/>
                </a:lnTo>
                <a:cubicBezTo>
                  <a:pt x="0" y="30007"/>
                  <a:pt x="30007" y="0"/>
                  <a:pt x="669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08484" y="3003343"/>
            <a:ext cx="585316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YOUR PROCESSING DELAY VS RISK LEVEL GRAPH HERE]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0352" y="3313168"/>
            <a:ext cx="5769429" cy="1490505"/>
          </a:xfrm>
          <a:custGeom>
            <a:avLst/>
            <a:gdLst/>
            <a:ahLst/>
            <a:cxnLst/>
            <a:rect l="l" t="t" r="r" b="b"/>
            <a:pathLst>
              <a:path w="5769429" h="1490505">
                <a:moveTo>
                  <a:pt x="66983" y="0"/>
                </a:moveTo>
                <a:lnTo>
                  <a:pt x="5702445" y="0"/>
                </a:lnTo>
                <a:cubicBezTo>
                  <a:pt x="5739439" y="0"/>
                  <a:pt x="5769429" y="29989"/>
                  <a:pt x="5769429" y="66983"/>
                </a:cubicBezTo>
                <a:lnTo>
                  <a:pt x="5769429" y="1423522"/>
                </a:lnTo>
                <a:cubicBezTo>
                  <a:pt x="5769429" y="1460516"/>
                  <a:pt x="5739439" y="1490505"/>
                  <a:pt x="5702445" y="1490505"/>
                </a:cubicBezTo>
                <a:lnTo>
                  <a:pt x="66983" y="1490505"/>
                </a:lnTo>
                <a:cubicBezTo>
                  <a:pt x="29989" y="1490505"/>
                  <a:pt x="0" y="1460516"/>
                  <a:pt x="0" y="1423522"/>
                </a:cubicBezTo>
                <a:lnTo>
                  <a:pt x="0" y="66983"/>
                </a:lnTo>
                <a:cubicBezTo>
                  <a:pt x="0" y="30014"/>
                  <a:pt x="30014" y="0"/>
                  <a:pt x="6698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A6D8C">
                <a:alpha val="4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34361" y="3589497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25121" y="25121"/>
                </a:moveTo>
                <a:cubicBezTo>
                  <a:pt x="39016" y="25121"/>
                  <a:pt x="50242" y="36347"/>
                  <a:pt x="50242" y="50242"/>
                </a:cubicBezTo>
                <a:lnTo>
                  <a:pt x="50242" y="314011"/>
                </a:lnTo>
                <a:cubicBezTo>
                  <a:pt x="50242" y="320919"/>
                  <a:pt x="55894" y="326571"/>
                  <a:pt x="62802" y="326571"/>
                </a:cubicBezTo>
                <a:lnTo>
                  <a:pt x="376813" y="326571"/>
                </a:lnTo>
                <a:cubicBezTo>
                  <a:pt x="390708" y="326571"/>
                  <a:pt x="401934" y="337797"/>
                  <a:pt x="401934" y="351692"/>
                </a:cubicBezTo>
                <a:cubicBezTo>
                  <a:pt x="401934" y="365587"/>
                  <a:pt x="390708" y="376813"/>
                  <a:pt x="376813" y="376813"/>
                </a:cubicBezTo>
                <a:lnTo>
                  <a:pt x="62802" y="376813"/>
                </a:lnTo>
                <a:cubicBezTo>
                  <a:pt x="28104" y="376813"/>
                  <a:pt x="0" y="348709"/>
                  <a:pt x="0" y="314011"/>
                </a:cubicBezTo>
                <a:lnTo>
                  <a:pt x="0" y="50242"/>
                </a:lnTo>
                <a:cubicBezTo>
                  <a:pt x="0" y="36347"/>
                  <a:pt x="11226" y="25121"/>
                  <a:pt x="25121" y="25121"/>
                </a:cubicBezTo>
                <a:close/>
                <a:moveTo>
                  <a:pt x="100484" y="75363"/>
                </a:moveTo>
                <a:cubicBezTo>
                  <a:pt x="100484" y="61468"/>
                  <a:pt x="111709" y="50242"/>
                  <a:pt x="125604" y="50242"/>
                </a:cubicBezTo>
                <a:lnTo>
                  <a:pt x="276330" y="50242"/>
                </a:lnTo>
                <a:cubicBezTo>
                  <a:pt x="290225" y="50242"/>
                  <a:pt x="301451" y="61468"/>
                  <a:pt x="301451" y="75363"/>
                </a:cubicBezTo>
                <a:cubicBezTo>
                  <a:pt x="301451" y="89258"/>
                  <a:pt x="290225" y="100484"/>
                  <a:pt x="276330" y="100484"/>
                </a:cubicBezTo>
                <a:lnTo>
                  <a:pt x="125604" y="100484"/>
                </a:lnTo>
                <a:cubicBezTo>
                  <a:pt x="111709" y="100484"/>
                  <a:pt x="100484" y="89258"/>
                  <a:pt x="100484" y="75363"/>
                </a:cubicBezTo>
                <a:close/>
                <a:moveTo>
                  <a:pt x="125604" y="138165"/>
                </a:moveTo>
                <a:lnTo>
                  <a:pt x="226088" y="138165"/>
                </a:lnTo>
                <a:cubicBezTo>
                  <a:pt x="239983" y="138165"/>
                  <a:pt x="251209" y="149391"/>
                  <a:pt x="251209" y="163286"/>
                </a:cubicBezTo>
                <a:cubicBezTo>
                  <a:pt x="251209" y="177181"/>
                  <a:pt x="239983" y="188407"/>
                  <a:pt x="226088" y="188407"/>
                </a:cubicBezTo>
                <a:lnTo>
                  <a:pt x="125604" y="188407"/>
                </a:lnTo>
                <a:cubicBezTo>
                  <a:pt x="111709" y="188407"/>
                  <a:pt x="100484" y="177181"/>
                  <a:pt x="100484" y="163286"/>
                </a:cubicBezTo>
                <a:cubicBezTo>
                  <a:pt x="100484" y="149391"/>
                  <a:pt x="111709" y="138165"/>
                  <a:pt x="125604" y="138165"/>
                </a:cubicBezTo>
                <a:close/>
                <a:moveTo>
                  <a:pt x="125604" y="226088"/>
                </a:moveTo>
                <a:lnTo>
                  <a:pt x="326571" y="226088"/>
                </a:lnTo>
                <a:cubicBezTo>
                  <a:pt x="340466" y="226088"/>
                  <a:pt x="351692" y="237314"/>
                  <a:pt x="351692" y="251209"/>
                </a:cubicBezTo>
                <a:cubicBezTo>
                  <a:pt x="351692" y="265104"/>
                  <a:pt x="340466" y="276330"/>
                  <a:pt x="326571" y="276330"/>
                </a:cubicBezTo>
                <a:lnTo>
                  <a:pt x="125604" y="276330"/>
                </a:lnTo>
                <a:cubicBezTo>
                  <a:pt x="111709" y="276330"/>
                  <a:pt x="100484" y="265104"/>
                  <a:pt x="100484" y="251209"/>
                </a:cubicBezTo>
                <a:cubicBezTo>
                  <a:pt x="100484" y="237314"/>
                  <a:pt x="111709" y="226088"/>
                  <a:pt x="125604" y="22608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Text 9"/>
          <p:cNvSpPr/>
          <p:nvPr/>
        </p:nvSpPr>
        <p:spPr>
          <a:xfrm>
            <a:off x="893187" y="4091915"/>
            <a:ext cx="528375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Delay vs Risk Level Visualization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7374" y="4359871"/>
            <a:ext cx="527538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Plot / Violin Plot / Scatter Plot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791" y="6271849"/>
            <a:ext cx="6051341" cy="407516"/>
          </a:xfrm>
          <a:custGeom>
            <a:avLst/>
            <a:gdLst/>
            <a:ahLst/>
            <a:cxnLst/>
            <a:rect l="l" t="t" r="r" b="b"/>
            <a:pathLst>
              <a:path w="6051341" h="407516">
                <a:moveTo>
                  <a:pt x="66988" y="0"/>
                </a:moveTo>
                <a:lnTo>
                  <a:pt x="5984353" y="0"/>
                </a:lnTo>
                <a:cubicBezTo>
                  <a:pt x="6021349" y="0"/>
                  <a:pt x="6051341" y="29991"/>
                  <a:pt x="6051341" y="66988"/>
                </a:cubicBezTo>
                <a:lnTo>
                  <a:pt x="6051341" y="340529"/>
                </a:lnTo>
                <a:cubicBezTo>
                  <a:pt x="6051341" y="377525"/>
                  <a:pt x="6021349" y="407516"/>
                  <a:pt x="5984353" y="407516"/>
                </a:cubicBezTo>
                <a:lnTo>
                  <a:pt x="66988" y="407516"/>
                </a:lnTo>
                <a:cubicBezTo>
                  <a:pt x="30016" y="407516"/>
                  <a:pt x="0" y="377500"/>
                  <a:pt x="0" y="340529"/>
                </a:cubicBezTo>
                <a:lnTo>
                  <a:pt x="0" y="66988"/>
                </a:lnTo>
                <a:cubicBezTo>
                  <a:pt x="0" y="30016"/>
                  <a:pt x="30016" y="0"/>
                  <a:pt x="6698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560" y="6403036"/>
            <a:ext cx="100484" cy="133978"/>
          </a:xfrm>
          <a:custGeom>
            <a:avLst/>
            <a:gdLst/>
            <a:ahLst/>
            <a:cxnLst/>
            <a:rect l="l" t="t" r="r" b="b"/>
            <a:pathLst>
              <a:path w="100484" h="133978">
                <a:moveTo>
                  <a:pt x="76645" y="100484"/>
                </a:moveTo>
                <a:cubicBezTo>
                  <a:pt x="78555" y="94648"/>
                  <a:pt x="82376" y="89362"/>
                  <a:pt x="86693" y="84809"/>
                </a:cubicBezTo>
                <a:cubicBezTo>
                  <a:pt x="95250" y="75807"/>
                  <a:pt x="100484" y="63640"/>
                  <a:pt x="100484" y="50242"/>
                </a:cubicBezTo>
                <a:cubicBezTo>
                  <a:pt x="100484" y="22504"/>
                  <a:pt x="77979" y="0"/>
                  <a:pt x="50242" y="0"/>
                </a:cubicBezTo>
                <a:cubicBezTo>
                  <a:pt x="22504" y="0"/>
                  <a:pt x="0" y="22504"/>
                  <a:pt x="0" y="50242"/>
                </a:cubicBezTo>
                <a:cubicBezTo>
                  <a:pt x="0" y="63640"/>
                  <a:pt x="5234" y="75807"/>
                  <a:pt x="13790" y="84809"/>
                </a:cubicBezTo>
                <a:cubicBezTo>
                  <a:pt x="18108" y="89362"/>
                  <a:pt x="21955" y="94648"/>
                  <a:pt x="23839" y="100484"/>
                </a:cubicBezTo>
                <a:lnTo>
                  <a:pt x="76619" y="100484"/>
                </a:lnTo>
                <a:close/>
                <a:moveTo>
                  <a:pt x="75363" y="113044"/>
                </a:moveTo>
                <a:lnTo>
                  <a:pt x="25121" y="113044"/>
                </a:lnTo>
                <a:lnTo>
                  <a:pt x="25121" y="117231"/>
                </a:lnTo>
                <a:cubicBezTo>
                  <a:pt x="25121" y="128797"/>
                  <a:pt x="34489" y="138165"/>
                  <a:pt x="46055" y="138165"/>
                </a:cubicBezTo>
                <a:lnTo>
                  <a:pt x="54429" y="138165"/>
                </a:lnTo>
                <a:cubicBezTo>
                  <a:pt x="65995" y="138165"/>
                  <a:pt x="75363" y="128797"/>
                  <a:pt x="75363" y="117231"/>
                </a:cubicBezTo>
                <a:lnTo>
                  <a:pt x="75363" y="113044"/>
                </a:lnTo>
                <a:close/>
                <a:moveTo>
                  <a:pt x="48148" y="29308"/>
                </a:moveTo>
                <a:cubicBezTo>
                  <a:pt x="37734" y="29308"/>
                  <a:pt x="29308" y="37734"/>
                  <a:pt x="29308" y="48148"/>
                </a:cubicBezTo>
                <a:cubicBezTo>
                  <a:pt x="29308" y="51629"/>
                  <a:pt x="26508" y="54429"/>
                  <a:pt x="23027" y="54429"/>
                </a:cubicBezTo>
                <a:cubicBezTo>
                  <a:pt x="19547" y="54429"/>
                  <a:pt x="16747" y="51629"/>
                  <a:pt x="16747" y="48148"/>
                </a:cubicBezTo>
                <a:cubicBezTo>
                  <a:pt x="16747" y="30799"/>
                  <a:pt x="30799" y="16747"/>
                  <a:pt x="48148" y="16747"/>
                </a:cubicBezTo>
                <a:cubicBezTo>
                  <a:pt x="51629" y="16747"/>
                  <a:pt x="54429" y="19547"/>
                  <a:pt x="54429" y="23027"/>
                </a:cubicBezTo>
                <a:cubicBezTo>
                  <a:pt x="54429" y="26508"/>
                  <a:pt x="51629" y="29308"/>
                  <a:pt x="48148" y="2930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825707" y="6375126"/>
            <a:ext cx="570013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05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 delay is the strongest predictor of delivery risk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5974" y="1141604"/>
            <a:ext cx="4946022" cy="3522505"/>
          </a:xfrm>
          <a:custGeom>
            <a:avLst/>
            <a:gdLst/>
            <a:ahLst/>
            <a:cxnLst/>
            <a:rect l="l" t="t" r="r" b="b"/>
            <a:pathLst>
              <a:path w="4946022" h="3522505">
                <a:moveTo>
                  <a:pt x="66998" y="0"/>
                </a:moveTo>
                <a:lnTo>
                  <a:pt x="4879024" y="0"/>
                </a:lnTo>
                <a:cubicBezTo>
                  <a:pt x="4916026" y="0"/>
                  <a:pt x="4946022" y="29996"/>
                  <a:pt x="4946022" y="66998"/>
                </a:cubicBezTo>
                <a:lnTo>
                  <a:pt x="4946022" y="3455507"/>
                </a:lnTo>
                <a:cubicBezTo>
                  <a:pt x="4946022" y="3492509"/>
                  <a:pt x="4916026" y="3522505"/>
                  <a:pt x="4879024" y="3522505"/>
                </a:cubicBezTo>
                <a:lnTo>
                  <a:pt x="66998" y="3522505"/>
                </a:lnTo>
                <a:cubicBezTo>
                  <a:pt x="29996" y="3522505"/>
                  <a:pt x="0" y="3492509"/>
                  <a:pt x="0" y="3455507"/>
                </a:cubicBezTo>
                <a:lnTo>
                  <a:pt x="0" y="66998"/>
                </a:lnTo>
                <a:cubicBezTo>
                  <a:pt x="0" y="30021"/>
                  <a:pt x="30021" y="0"/>
                  <a:pt x="6699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8106" y="1345365"/>
            <a:ext cx="125604" cy="167473"/>
          </a:xfrm>
          <a:custGeom>
            <a:avLst/>
            <a:gdLst/>
            <a:ahLst/>
            <a:cxnLst/>
            <a:rect l="l" t="t" r="r" b="b"/>
            <a:pathLst>
              <a:path w="125604" h="167473">
                <a:moveTo>
                  <a:pt x="20934" y="0"/>
                </a:moveTo>
                <a:cubicBezTo>
                  <a:pt x="9388" y="0"/>
                  <a:pt x="0" y="9388"/>
                  <a:pt x="0" y="20934"/>
                </a:cubicBezTo>
                <a:lnTo>
                  <a:pt x="0" y="146538"/>
                </a:lnTo>
                <a:cubicBezTo>
                  <a:pt x="0" y="158085"/>
                  <a:pt x="9388" y="167473"/>
                  <a:pt x="20934" y="167473"/>
                </a:cubicBezTo>
                <a:lnTo>
                  <a:pt x="104670" y="167473"/>
                </a:lnTo>
                <a:cubicBezTo>
                  <a:pt x="116217" y="167473"/>
                  <a:pt x="125604" y="158085"/>
                  <a:pt x="125604" y="146538"/>
                </a:cubicBezTo>
                <a:lnTo>
                  <a:pt x="125604" y="20934"/>
                </a:lnTo>
                <a:cubicBezTo>
                  <a:pt x="125604" y="9388"/>
                  <a:pt x="116217" y="0"/>
                  <a:pt x="104670" y="0"/>
                </a:cubicBezTo>
                <a:lnTo>
                  <a:pt x="20934" y="0"/>
                </a:lnTo>
                <a:close/>
                <a:moveTo>
                  <a:pt x="31401" y="20934"/>
                </a:moveTo>
                <a:lnTo>
                  <a:pt x="94203" y="20934"/>
                </a:lnTo>
                <a:cubicBezTo>
                  <a:pt x="99993" y="20934"/>
                  <a:pt x="104670" y="25612"/>
                  <a:pt x="104670" y="31401"/>
                </a:cubicBezTo>
                <a:lnTo>
                  <a:pt x="104670" y="41868"/>
                </a:lnTo>
                <a:cubicBezTo>
                  <a:pt x="104670" y="47658"/>
                  <a:pt x="99993" y="52335"/>
                  <a:pt x="94203" y="52335"/>
                </a:cubicBezTo>
                <a:lnTo>
                  <a:pt x="31401" y="52335"/>
                </a:lnTo>
                <a:cubicBezTo>
                  <a:pt x="25612" y="52335"/>
                  <a:pt x="20934" y="47658"/>
                  <a:pt x="20934" y="41868"/>
                </a:cubicBezTo>
                <a:lnTo>
                  <a:pt x="20934" y="31401"/>
                </a:lnTo>
                <a:cubicBezTo>
                  <a:pt x="20934" y="25612"/>
                  <a:pt x="25612" y="20934"/>
                  <a:pt x="31401" y="20934"/>
                </a:cubicBezTo>
                <a:close/>
                <a:moveTo>
                  <a:pt x="36635" y="75886"/>
                </a:moveTo>
                <a:cubicBezTo>
                  <a:pt x="36635" y="80219"/>
                  <a:pt x="33117" y="83736"/>
                  <a:pt x="28784" y="83736"/>
                </a:cubicBezTo>
                <a:cubicBezTo>
                  <a:pt x="24452" y="83736"/>
                  <a:pt x="20934" y="80219"/>
                  <a:pt x="20934" y="75886"/>
                </a:cubicBezTo>
                <a:cubicBezTo>
                  <a:pt x="20934" y="71553"/>
                  <a:pt x="24452" y="68036"/>
                  <a:pt x="28784" y="68036"/>
                </a:cubicBezTo>
                <a:cubicBezTo>
                  <a:pt x="33117" y="68036"/>
                  <a:pt x="36635" y="71553"/>
                  <a:pt x="36635" y="75886"/>
                </a:cubicBezTo>
                <a:close/>
                <a:moveTo>
                  <a:pt x="62802" y="83736"/>
                </a:moveTo>
                <a:cubicBezTo>
                  <a:pt x="58470" y="83736"/>
                  <a:pt x="54952" y="80219"/>
                  <a:pt x="54952" y="75886"/>
                </a:cubicBezTo>
                <a:cubicBezTo>
                  <a:pt x="54952" y="71553"/>
                  <a:pt x="58470" y="68036"/>
                  <a:pt x="62802" y="68036"/>
                </a:cubicBezTo>
                <a:cubicBezTo>
                  <a:pt x="67135" y="68036"/>
                  <a:pt x="70652" y="71553"/>
                  <a:pt x="70652" y="75886"/>
                </a:cubicBezTo>
                <a:cubicBezTo>
                  <a:pt x="70652" y="80219"/>
                  <a:pt x="67135" y="83736"/>
                  <a:pt x="62802" y="83736"/>
                </a:cubicBezTo>
                <a:close/>
                <a:moveTo>
                  <a:pt x="104670" y="75886"/>
                </a:moveTo>
                <a:cubicBezTo>
                  <a:pt x="104670" y="80219"/>
                  <a:pt x="101153" y="83736"/>
                  <a:pt x="96820" y="83736"/>
                </a:cubicBezTo>
                <a:cubicBezTo>
                  <a:pt x="92487" y="83736"/>
                  <a:pt x="88970" y="80219"/>
                  <a:pt x="88970" y="75886"/>
                </a:cubicBezTo>
                <a:cubicBezTo>
                  <a:pt x="88970" y="71553"/>
                  <a:pt x="92487" y="68036"/>
                  <a:pt x="96820" y="68036"/>
                </a:cubicBezTo>
                <a:cubicBezTo>
                  <a:pt x="101153" y="68036"/>
                  <a:pt x="104670" y="71553"/>
                  <a:pt x="104670" y="75886"/>
                </a:cubicBezTo>
                <a:close/>
                <a:moveTo>
                  <a:pt x="28784" y="115137"/>
                </a:moveTo>
                <a:cubicBezTo>
                  <a:pt x="24452" y="115137"/>
                  <a:pt x="20934" y="111620"/>
                  <a:pt x="20934" y="107287"/>
                </a:cubicBezTo>
                <a:cubicBezTo>
                  <a:pt x="20934" y="102954"/>
                  <a:pt x="24452" y="99437"/>
                  <a:pt x="28784" y="99437"/>
                </a:cubicBezTo>
                <a:cubicBezTo>
                  <a:pt x="33117" y="99437"/>
                  <a:pt x="36635" y="102954"/>
                  <a:pt x="36635" y="107287"/>
                </a:cubicBezTo>
                <a:cubicBezTo>
                  <a:pt x="36635" y="111620"/>
                  <a:pt x="33117" y="115137"/>
                  <a:pt x="28784" y="115137"/>
                </a:cubicBezTo>
                <a:close/>
                <a:moveTo>
                  <a:pt x="70652" y="107287"/>
                </a:moveTo>
                <a:cubicBezTo>
                  <a:pt x="70652" y="111620"/>
                  <a:pt x="67135" y="115137"/>
                  <a:pt x="62802" y="115137"/>
                </a:cubicBezTo>
                <a:cubicBezTo>
                  <a:pt x="58470" y="115137"/>
                  <a:pt x="54952" y="111620"/>
                  <a:pt x="54952" y="107287"/>
                </a:cubicBezTo>
                <a:cubicBezTo>
                  <a:pt x="54952" y="102954"/>
                  <a:pt x="58470" y="99437"/>
                  <a:pt x="62802" y="99437"/>
                </a:cubicBezTo>
                <a:cubicBezTo>
                  <a:pt x="67135" y="99437"/>
                  <a:pt x="70652" y="102954"/>
                  <a:pt x="70652" y="107287"/>
                </a:cubicBezTo>
                <a:close/>
                <a:moveTo>
                  <a:pt x="96820" y="115137"/>
                </a:moveTo>
                <a:cubicBezTo>
                  <a:pt x="92487" y="115137"/>
                  <a:pt x="88970" y="111620"/>
                  <a:pt x="88970" y="107287"/>
                </a:cubicBezTo>
                <a:cubicBezTo>
                  <a:pt x="88970" y="102954"/>
                  <a:pt x="92487" y="99437"/>
                  <a:pt x="96820" y="99437"/>
                </a:cubicBezTo>
                <a:cubicBezTo>
                  <a:pt x="101153" y="99437"/>
                  <a:pt x="104670" y="102954"/>
                  <a:pt x="104670" y="107287"/>
                </a:cubicBezTo>
                <a:cubicBezTo>
                  <a:pt x="104670" y="111620"/>
                  <a:pt x="101153" y="115137"/>
                  <a:pt x="96820" y="115137"/>
                </a:cubicBezTo>
                <a:close/>
                <a:moveTo>
                  <a:pt x="20934" y="138688"/>
                </a:moveTo>
                <a:cubicBezTo>
                  <a:pt x="20934" y="134338"/>
                  <a:pt x="24434" y="130838"/>
                  <a:pt x="28784" y="130838"/>
                </a:cubicBezTo>
                <a:lnTo>
                  <a:pt x="65419" y="130838"/>
                </a:lnTo>
                <a:cubicBezTo>
                  <a:pt x="69769" y="130838"/>
                  <a:pt x="73269" y="134338"/>
                  <a:pt x="73269" y="138688"/>
                </a:cubicBezTo>
                <a:cubicBezTo>
                  <a:pt x="73269" y="143039"/>
                  <a:pt x="69769" y="146538"/>
                  <a:pt x="65419" y="146538"/>
                </a:cubicBezTo>
                <a:lnTo>
                  <a:pt x="28784" y="146538"/>
                </a:lnTo>
                <a:cubicBezTo>
                  <a:pt x="24434" y="146538"/>
                  <a:pt x="20934" y="143039"/>
                  <a:pt x="20934" y="138688"/>
                </a:cubicBezTo>
                <a:close/>
                <a:moveTo>
                  <a:pt x="96820" y="130838"/>
                </a:moveTo>
                <a:cubicBezTo>
                  <a:pt x="101170" y="130838"/>
                  <a:pt x="104670" y="134338"/>
                  <a:pt x="104670" y="138688"/>
                </a:cubicBezTo>
                <a:cubicBezTo>
                  <a:pt x="104670" y="143039"/>
                  <a:pt x="101170" y="146538"/>
                  <a:pt x="96820" y="146538"/>
                </a:cubicBezTo>
                <a:cubicBezTo>
                  <a:pt x="92470" y="146538"/>
                  <a:pt x="88970" y="143039"/>
                  <a:pt x="88970" y="138688"/>
                </a:cubicBezTo>
                <a:cubicBezTo>
                  <a:pt x="88970" y="134338"/>
                  <a:pt x="92470" y="130838"/>
                  <a:pt x="96820" y="1308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7285578" y="1311871"/>
            <a:ext cx="447989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Summary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84611" y="1680310"/>
            <a:ext cx="4597121" cy="870857"/>
          </a:xfrm>
          <a:custGeom>
            <a:avLst/>
            <a:gdLst/>
            <a:ahLst/>
            <a:cxnLst/>
            <a:rect l="l" t="t" r="r" b="b"/>
            <a:pathLst>
              <a:path w="4597121" h="870857">
                <a:moveTo>
                  <a:pt x="0" y="0"/>
                </a:moveTo>
                <a:lnTo>
                  <a:pt x="4530135" y="0"/>
                </a:lnTo>
                <a:cubicBezTo>
                  <a:pt x="4567130" y="0"/>
                  <a:pt x="4597121" y="29991"/>
                  <a:pt x="4597121" y="66986"/>
                </a:cubicBezTo>
                <a:lnTo>
                  <a:pt x="4597121" y="803871"/>
                </a:lnTo>
                <a:cubicBezTo>
                  <a:pt x="4597121" y="840866"/>
                  <a:pt x="4567130" y="870857"/>
                  <a:pt x="4530135" y="870857"/>
                </a:cubicBez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84611" y="1680310"/>
            <a:ext cx="16747" cy="870857"/>
          </a:xfrm>
          <a:custGeom>
            <a:avLst/>
            <a:gdLst/>
            <a:ahLst/>
            <a:cxnLst/>
            <a:rect l="l" t="t" r="r" b="b"/>
            <a:pathLst>
              <a:path w="16747" h="870857">
                <a:moveTo>
                  <a:pt x="0" y="0"/>
                </a:moveTo>
                <a:lnTo>
                  <a:pt x="16747" y="0"/>
                </a:lnTo>
                <a:lnTo>
                  <a:pt x="16747" y="870857"/>
                </a:ln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193468" y="1780794"/>
            <a:ext cx="445476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 Deliveries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93468" y="2048750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Delay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3468" y="2216223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 days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21988" y="2048750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Dev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21988" y="2216223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 days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4611" y="2651651"/>
            <a:ext cx="4597121" cy="870857"/>
          </a:xfrm>
          <a:custGeom>
            <a:avLst/>
            <a:gdLst/>
            <a:ahLst/>
            <a:cxnLst/>
            <a:rect l="l" t="t" r="r" b="b"/>
            <a:pathLst>
              <a:path w="4597121" h="870857">
                <a:moveTo>
                  <a:pt x="0" y="0"/>
                </a:moveTo>
                <a:lnTo>
                  <a:pt x="4530135" y="0"/>
                </a:lnTo>
                <a:cubicBezTo>
                  <a:pt x="4567130" y="0"/>
                  <a:pt x="4597121" y="29991"/>
                  <a:pt x="4597121" y="66986"/>
                </a:cubicBezTo>
                <a:lnTo>
                  <a:pt x="4597121" y="803871"/>
                </a:lnTo>
                <a:cubicBezTo>
                  <a:pt x="4597121" y="840866"/>
                  <a:pt x="4567130" y="870857"/>
                  <a:pt x="4530135" y="870857"/>
                </a:cubicBez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084611" y="2651651"/>
            <a:ext cx="16747" cy="870857"/>
          </a:xfrm>
          <a:custGeom>
            <a:avLst/>
            <a:gdLst/>
            <a:ahLst/>
            <a:cxnLst/>
            <a:rect l="l" t="t" r="r" b="b"/>
            <a:pathLst>
              <a:path w="16747" h="870857">
                <a:moveTo>
                  <a:pt x="0" y="0"/>
                </a:moveTo>
                <a:lnTo>
                  <a:pt x="16747" y="0"/>
                </a:lnTo>
                <a:lnTo>
                  <a:pt x="16747" y="870857"/>
                </a:ln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193468" y="2752135"/>
            <a:ext cx="445476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Risk Deliveries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3468" y="3020091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Delay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93468" y="3187563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 days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21988" y="3020091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Dev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21988" y="3187563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 days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84611" y="3622992"/>
            <a:ext cx="4597121" cy="870857"/>
          </a:xfrm>
          <a:custGeom>
            <a:avLst/>
            <a:gdLst/>
            <a:ahLst/>
            <a:cxnLst/>
            <a:rect l="l" t="t" r="r" b="b"/>
            <a:pathLst>
              <a:path w="4597121" h="870857">
                <a:moveTo>
                  <a:pt x="0" y="0"/>
                </a:moveTo>
                <a:lnTo>
                  <a:pt x="4530135" y="0"/>
                </a:lnTo>
                <a:cubicBezTo>
                  <a:pt x="4567130" y="0"/>
                  <a:pt x="4597121" y="29991"/>
                  <a:pt x="4597121" y="66986"/>
                </a:cubicBezTo>
                <a:lnTo>
                  <a:pt x="4597121" y="803871"/>
                </a:lnTo>
                <a:cubicBezTo>
                  <a:pt x="4597121" y="840866"/>
                  <a:pt x="4567130" y="870857"/>
                  <a:pt x="4530135" y="870857"/>
                </a:cubicBez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84611" y="3622992"/>
            <a:ext cx="16747" cy="870857"/>
          </a:xfrm>
          <a:custGeom>
            <a:avLst/>
            <a:gdLst/>
            <a:ahLst/>
            <a:cxnLst/>
            <a:rect l="l" t="t" r="r" b="b"/>
            <a:pathLst>
              <a:path w="16747" h="870857">
                <a:moveTo>
                  <a:pt x="0" y="0"/>
                </a:moveTo>
                <a:lnTo>
                  <a:pt x="16747" y="0"/>
                </a:lnTo>
                <a:lnTo>
                  <a:pt x="16747" y="870857"/>
                </a:lnTo>
                <a:lnTo>
                  <a:pt x="0" y="870857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193468" y="3723475"/>
            <a:ext cx="445476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Deliveries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93468" y="3991431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Delay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3468" y="4158904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6.4 days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21988" y="3991431"/>
            <a:ext cx="221901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Dev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21988" y="4158904"/>
            <a:ext cx="2235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 days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05974" y="4803676"/>
            <a:ext cx="4946022" cy="2048747"/>
          </a:xfrm>
          <a:custGeom>
            <a:avLst/>
            <a:gdLst/>
            <a:ahLst/>
            <a:cxnLst/>
            <a:rect l="l" t="t" r="r" b="b"/>
            <a:pathLst>
              <a:path w="4946022" h="2048747">
                <a:moveTo>
                  <a:pt x="66994" y="0"/>
                </a:moveTo>
                <a:lnTo>
                  <a:pt x="4879028" y="0"/>
                </a:lnTo>
                <a:cubicBezTo>
                  <a:pt x="4916028" y="0"/>
                  <a:pt x="4946022" y="29994"/>
                  <a:pt x="4946022" y="66994"/>
                </a:cubicBezTo>
                <a:lnTo>
                  <a:pt x="4946022" y="1981753"/>
                </a:lnTo>
                <a:cubicBezTo>
                  <a:pt x="4946022" y="2018753"/>
                  <a:pt x="4916028" y="2048747"/>
                  <a:pt x="4879028" y="2048747"/>
                </a:cubicBezTo>
                <a:lnTo>
                  <a:pt x="66994" y="2048747"/>
                </a:lnTo>
                <a:cubicBezTo>
                  <a:pt x="29994" y="2048747"/>
                  <a:pt x="0" y="2018753"/>
                  <a:pt x="0" y="1981753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6238" y="4973934"/>
            <a:ext cx="4689231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Thresholds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76238" y="5359121"/>
            <a:ext cx="100484" cy="100484"/>
          </a:xfrm>
          <a:custGeom>
            <a:avLst/>
            <a:gdLst/>
            <a:ahLst/>
            <a:cxnLst/>
            <a:rect l="l" t="t" r="r" b="b"/>
            <a:pathLst>
              <a:path w="100484" h="100484">
                <a:moveTo>
                  <a:pt x="50242" y="0"/>
                </a:moveTo>
                <a:lnTo>
                  <a:pt x="50242" y="0"/>
                </a:lnTo>
                <a:cubicBezTo>
                  <a:pt x="77971" y="0"/>
                  <a:pt x="100484" y="22513"/>
                  <a:pt x="100484" y="50242"/>
                </a:cubicBezTo>
                <a:lnTo>
                  <a:pt x="100484" y="50242"/>
                </a:lnTo>
                <a:cubicBezTo>
                  <a:pt x="100484" y="77971"/>
                  <a:pt x="77971" y="100484"/>
                  <a:pt x="50242" y="100484"/>
                </a:cubicBezTo>
                <a:lnTo>
                  <a:pt x="50242" y="100484"/>
                </a:lnTo>
                <a:cubicBezTo>
                  <a:pt x="22513" y="100484"/>
                  <a:pt x="0" y="77971"/>
                  <a:pt x="0" y="50242"/>
                </a:cubicBezTo>
                <a:lnTo>
                  <a:pt x="0" y="50242"/>
                </a:lnTo>
                <a:cubicBezTo>
                  <a:pt x="0" y="22513"/>
                  <a:pt x="22513" y="0"/>
                  <a:pt x="50242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77205" y="5308879"/>
            <a:ext cx="1448637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0-2 days:</a:t>
            </a:r>
            <a:r>
              <a:rPr lang="en-US" sz="105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risk zone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76238" y="5660571"/>
            <a:ext cx="100484" cy="100484"/>
          </a:xfrm>
          <a:custGeom>
            <a:avLst/>
            <a:gdLst/>
            <a:ahLst/>
            <a:cxnLst/>
            <a:rect l="l" t="t" r="r" b="b"/>
            <a:pathLst>
              <a:path w="100484" h="100484">
                <a:moveTo>
                  <a:pt x="50242" y="0"/>
                </a:moveTo>
                <a:lnTo>
                  <a:pt x="50242" y="0"/>
                </a:lnTo>
                <a:cubicBezTo>
                  <a:pt x="77971" y="0"/>
                  <a:pt x="100484" y="22513"/>
                  <a:pt x="100484" y="50242"/>
                </a:cubicBezTo>
                <a:lnTo>
                  <a:pt x="100484" y="50242"/>
                </a:lnTo>
                <a:cubicBezTo>
                  <a:pt x="100484" y="77971"/>
                  <a:pt x="77971" y="100484"/>
                  <a:pt x="50242" y="100484"/>
                </a:cubicBezTo>
                <a:lnTo>
                  <a:pt x="50242" y="100484"/>
                </a:lnTo>
                <a:cubicBezTo>
                  <a:pt x="22513" y="100484"/>
                  <a:pt x="0" y="77971"/>
                  <a:pt x="0" y="50242"/>
                </a:cubicBezTo>
                <a:lnTo>
                  <a:pt x="0" y="50242"/>
                </a:lnTo>
                <a:cubicBezTo>
                  <a:pt x="0" y="22513"/>
                  <a:pt x="22513" y="0"/>
                  <a:pt x="5024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277205" y="5610330"/>
            <a:ext cx="175008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3-5 days:</a:t>
            </a:r>
            <a:r>
              <a:rPr lang="en-US" sz="105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Moderate risk zone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76238" y="5962022"/>
            <a:ext cx="100484" cy="100484"/>
          </a:xfrm>
          <a:custGeom>
            <a:avLst/>
            <a:gdLst/>
            <a:ahLst/>
            <a:cxnLst/>
            <a:rect l="l" t="t" r="r" b="b"/>
            <a:pathLst>
              <a:path w="100484" h="100484">
                <a:moveTo>
                  <a:pt x="50242" y="0"/>
                </a:moveTo>
                <a:lnTo>
                  <a:pt x="50242" y="0"/>
                </a:lnTo>
                <a:cubicBezTo>
                  <a:pt x="77971" y="0"/>
                  <a:pt x="100484" y="22513"/>
                  <a:pt x="100484" y="50242"/>
                </a:cubicBezTo>
                <a:lnTo>
                  <a:pt x="100484" y="50242"/>
                </a:lnTo>
                <a:cubicBezTo>
                  <a:pt x="100484" y="77971"/>
                  <a:pt x="77971" y="100484"/>
                  <a:pt x="50242" y="100484"/>
                </a:cubicBezTo>
                <a:lnTo>
                  <a:pt x="50242" y="100484"/>
                </a:lnTo>
                <a:cubicBezTo>
                  <a:pt x="22513" y="100484"/>
                  <a:pt x="0" y="77971"/>
                  <a:pt x="0" y="50242"/>
                </a:cubicBezTo>
                <a:lnTo>
                  <a:pt x="0" y="50242"/>
                </a:lnTo>
                <a:cubicBezTo>
                  <a:pt x="0" y="22513"/>
                  <a:pt x="22513" y="0"/>
                  <a:pt x="50242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7277205" y="5911780"/>
            <a:ext cx="138164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6+ days:</a:t>
            </a:r>
            <a:r>
              <a:rPr lang="en-US" sz="105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risk zone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76238" y="6246725"/>
            <a:ext cx="4605495" cy="435429"/>
          </a:xfrm>
          <a:custGeom>
            <a:avLst/>
            <a:gdLst/>
            <a:ahLst/>
            <a:cxnLst/>
            <a:rect l="l" t="t" r="r" b="b"/>
            <a:pathLst>
              <a:path w="4605495" h="435429">
                <a:moveTo>
                  <a:pt x="66991" y="0"/>
                </a:moveTo>
                <a:lnTo>
                  <a:pt x="4538504" y="0"/>
                </a:lnTo>
                <a:cubicBezTo>
                  <a:pt x="4575502" y="0"/>
                  <a:pt x="4605495" y="29993"/>
                  <a:pt x="4605495" y="66991"/>
                </a:cubicBezTo>
                <a:lnTo>
                  <a:pt x="4605495" y="368438"/>
                </a:lnTo>
                <a:cubicBezTo>
                  <a:pt x="4605495" y="405436"/>
                  <a:pt x="4575502" y="435429"/>
                  <a:pt x="4538504" y="435429"/>
                </a:cubicBezTo>
                <a:lnTo>
                  <a:pt x="66991" y="435429"/>
                </a:lnTo>
                <a:cubicBezTo>
                  <a:pt x="29993" y="435429"/>
                  <a:pt x="0" y="405436"/>
                  <a:pt x="0" y="368438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176721" y="6347209"/>
            <a:ext cx="446314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Coefficient:</a:t>
            </a:r>
            <a:r>
              <a:rPr lang="en-US" sz="131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0.78</a:t>
            </a:r>
            <a:r>
              <a:rPr lang="en-US" sz="92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(Strong positive correlation)</a:t>
            </a:r>
            <a:endParaRPr lang="en-US" sz="16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0F523FE-84BE-9ED2-59C5-C80826C9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95727"/>
            <a:ext cx="6083747" cy="41811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 Selection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Best Model &amp; Key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304925"/>
            <a:ext cx="5600700" cy="3105150"/>
          </a:xfrm>
          <a:custGeom>
            <a:avLst/>
            <a:gdLst/>
            <a:ahLst/>
            <a:cxnLst/>
            <a:rect l="l" t="t" r="r" b="b"/>
            <a:pathLst>
              <a:path w="5600700" h="3105150">
                <a:moveTo>
                  <a:pt x="114301" y="0"/>
                </a:moveTo>
                <a:lnTo>
                  <a:pt x="5486399" y="0"/>
                </a:lnTo>
                <a:cubicBezTo>
                  <a:pt x="5549526" y="0"/>
                  <a:pt x="5600700" y="51174"/>
                  <a:pt x="5600700" y="114301"/>
                </a:cubicBezTo>
                <a:lnTo>
                  <a:pt x="5600700" y="2990849"/>
                </a:lnTo>
                <a:cubicBezTo>
                  <a:pt x="5600700" y="3053976"/>
                  <a:pt x="5549526" y="3105150"/>
                  <a:pt x="5486399" y="3105150"/>
                </a:cubicBezTo>
                <a:lnTo>
                  <a:pt x="114301" y="3105150"/>
                </a:lnTo>
                <a:cubicBezTo>
                  <a:pt x="51174" y="3105150"/>
                  <a:pt x="0" y="3053976"/>
                  <a:pt x="0" y="29908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700">
                  <a:alpha val="20000"/>
                </a:srgbClr>
              </a:gs>
              <a:gs pos="100000">
                <a:srgbClr val="FFD700">
                  <a:alpha val="5000"/>
                </a:srgbClr>
              </a:gs>
            </a:gsLst>
            <a:lin ang="2700000" scaled="1"/>
          </a:gradFill>
          <a:ln w="2540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650" y="15430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8200" y="17526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543050" y="161925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43050" y="19621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Performing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457450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09613" y="25717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513" y="2800350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91.2%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8025" y="2457450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28988" y="25717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0888" y="2800350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90.8%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" y="3371850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9613" y="34861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513" y="3714750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90.3%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8025" y="3371850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28988" y="34861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0888" y="3714750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7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90.5%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175" y="4575175"/>
            <a:ext cx="5616575" cy="1911350"/>
          </a:xfrm>
          <a:custGeom>
            <a:avLst/>
            <a:gdLst/>
            <a:ahLst/>
            <a:cxnLst/>
            <a:rect l="l" t="t" r="r" b="b"/>
            <a:pathLst>
              <a:path w="5616575" h="1911350">
                <a:moveTo>
                  <a:pt x="76206" y="0"/>
                </a:moveTo>
                <a:lnTo>
                  <a:pt x="5540369" y="0"/>
                </a:lnTo>
                <a:cubicBezTo>
                  <a:pt x="5582457" y="0"/>
                  <a:pt x="5616575" y="34118"/>
                  <a:pt x="5616575" y="76206"/>
                </a:cubicBezTo>
                <a:lnTo>
                  <a:pt x="5616575" y="1835144"/>
                </a:lnTo>
                <a:cubicBezTo>
                  <a:pt x="5616575" y="1877232"/>
                  <a:pt x="5582457" y="1911350"/>
                  <a:pt x="5540369" y="1911350"/>
                </a:cubicBezTo>
                <a:lnTo>
                  <a:pt x="76206" y="1911350"/>
                </a:lnTo>
                <a:cubicBezTo>
                  <a:pt x="34118" y="1911350"/>
                  <a:pt x="0" y="1877232"/>
                  <a:pt x="0" y="18351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56" y="48069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815975" y="47688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XGBoost Won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6425" y="51879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844550" y="514985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Regularization: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L1/L2 prevents overfitting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6425" y="54927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844550" y="545465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Sequential error correction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6425" y="57975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844550" y="5759453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Native handling capability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6425" y="61023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844550" y="6064253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4425" y="1298575"/>
            <a:ext cx="5616575" cy="4083050"/>
          </a:xfrm>
          <a:custGeom>
            <a:avLst/>
            <a:gdLst/>
            <a:ahLst/>
            <a:cxnLst/>
            <a:rect l="l" t="t" r="r" b="b"/>
            <a:pathLst>
              <a:path w="5616575" h="4083050">
                <a:moveTo>
                  <a:pt x="76190" y="0"/>
                </a:moveTo>
                <a:lnTo>
                  <a:pt x="5540385" y="0"/>
                </a:lnTo>
                <a:cubicBezTo>
                  <a:pt x="5582464" y="0"/>
                  <a:pt x="5616575" y="34111"/>
                  <a:pt x="5616575" y="76190"/>
                </a:cubicBezTo>
                <a:lnTo>
                  <a:pt x="5616575" y="4006860"/>
                </a:lnTo>
                <a:cubicBezTo>
                  <a:pt x="5616575" y="4048939"/>
                  <a:pt x="5582464" y="4083050"/>
                  <a:pt x="5540385" y="4083050"/>
                </a:cubicBezTo>
                <a:lnTo>
                  <a:pt x="76190" y="4083050"/>
                </a:lnTo>
                <a:cubicBezTo>
                  <a:pt x="34111" y="4083050"/>
                  <a:pt x="0" y="4048939"/>
                  <a:pt x="0" y="400686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5725" y="153035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6626225" y="14922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Implications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8100" y="1911353"/>
            <a:ext cx="5229225" cy="876300"/>
          </a:xfrm>
          <a:custGeom>
            <a:avLst/>
            <a:gdLst/>
            <a:ahLst/>
            <a:cxnLst/>
            <a:rect l="l" t="t" r="r" b="b"/>
            <a:pathLst>
              <a:path w="5229225" h="876300">
                <a:moveTo>
                  <a:pt x="76203" y="0"/>
                </a:moveTo>
                <a:lnTo>
                  <a:pt x="5153022" y="0"/>
                </a:lnTo>
                <a:cubicBezTo>
                  <a:pt x="5195108" y="0"/>
                  <a:pt x="5229225" y="34117"/>
                  <a:pt x="5229225" y="76203"/>
                </a:cubicBezTo>
                <a:lnTo>
                  <a:pt x="5229225" y="800097"/>
                </a:lnTo>
                <a:cubicBezTo>
                  <a:pt x="5229225" y="842183"/>
                  <a:pt x="5195108" y="876300"/>
                  <a:pt x="5153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02400" y="20256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33567" y="2082803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21500" y="2025653"/>
            <a:ext cx="465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System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21500" y="2292353"/>
            <a:ext cx="464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at-risk shipments 24-48 hours in advance, enabling proactive intervention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8100" y="2901953"/>
            <a:ext cx="5229225" cy="685800"/>
          </a:xfrm>
          <a:custGeom>
            <a:avLst/>
            <a:gdLst/>
            <a:ahLst/>
            <a:cxnLst/>
            <a:rect l="l" t="t" r="r" b="b"/>
            <a:pathLst>
              <a:path w="5229225" h="685800">
                <a:moveTo>
                  <a:pt x="76199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609601"/>
                </a:lnTo>
                <a:cubicBezTo>
                  <a:pt x="5229225" y="651684"/>
                  <a:pt x="5195109" y="685800"/>
                  <a:pt x="5153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02400" y="30162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20768" y="3073403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21500" y="3016253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21500" y="3282953"/>
            <a:ext cx="454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 expedited shipping resources only to high-risk orders, reducing costs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8100" y="3702053"/>
            <a:ext cx="5229225" cy="685800"/>
          </a:xfrm>
          <a:custGeom>
            <a:avLst/>
            <a:gdLst/>
            <a:ahLst/>
            <a:cxnLst/>
            <a:rect l="l" t="t" r="r" b="b"/>
            <a:pathLst>
              <a:path w="5229225" h="685800">
                <a:moveTo>
                  <a:pt x="76199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609601"/>
                </a:lnTo>
                <a:cubicBezTo>
                  <a:pt x="5229225" y="651684"/>
                  <a:pt x="5195109" y="685800"/>
                  <a:pt x="5153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02400" y="38163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619081" y="387350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21500" y="3816353"/>
            <a:ext cx="420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21500" y="4083053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communication reduces customer anxiety and support tickets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8100" y="4502153"/>
            <a:ext cx="5229225" cy="685800"/>
          </a:xfrm>
          <a:custGeom>
            <a:avLst/>
            <a:gdLst/>
            <a:ahLst/>
            <a:cxnLst/>
            <a:rect l="l" t="t" r="r" b="b"/>
            <a:pathLst>
              <a:path w="5229225" h="685800">
                <a:moveTo>
                  <a:pt x="76199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609601"/>
                </a:lnTo>
                <a:cubicBezTo>
                  <a:pt x="5229225" y="651684"/>
                  <a:pt x="5195109" y="685800"/>
                  <a:pt x="5153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02400" y="46164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0867" y="4673603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21500" y="4616453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Management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21500" y="4883153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underperforming carriers and optimize partnerships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4425" y="5540381"/>
            <a:ext cx="5616575" cy="958850"/>
          </a:xfrm>
          <a:custGeom>
            <a:avLst/>
            <a:gdLst/>
            <a:ahLst/>
            <a:cxnLst/>
            <a:rect l="l" t="t" r="r" b="b"/>
            <a:pathLst>
              <a:path w="5616575" h="958850">
                <a:moveTo>
                  <a:pt x="76200" y="0"/>
                </a:moveTo>
                <a:lnTo>
                  <a:pt x="5540375" y="0"/>
                </a:lnTo>
                <a:cubicBezTo>
                  <a:pt x="5582459" y="0"/>
                  <a:pt x="5616575" y="34116"/>
                  <a:pt x="5616575" y="76200"/>
                </a:cubicBezTo>
                <a:lnTo>
                  <a:pt x="5616575" y="882650"/>
                </a:lnTo>
                <a:cubicBezTo>
                  <a:pt x="5616575" y="924734"/>
                  <a:pt x="5582459" y="958850"/>
                  <a:pt x="5540375" y="958850"/>
                </a:cubicBezTo>
                <a:lnTo>
                  <a:pt x="76200" y="958850"/>
                </a:lnTo>
                <a:cubicBezTo>
                  <a:pt x="34116" y="958850"/>
                  <a:pt x="0" y="924734"/>
                  <a:pt x="0" y="882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0000" y="569595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Annual Savings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0000" y="596265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$2.3M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42229" y="569595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46979" y="5962650"/>
            <a:ext cx="90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420%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98575"/>
            <a:ext cx="11426825" cy="3940175"/>
          </a:xfrm>
          <a:custGeom>
            <a:avLst/>
            <a:gdLst/>
            <a:ahLst/>
            <a:cxnLst/>
            <a:rect l="l" t="t" r="r" b="b"/>
            <a:pathLst>
              <a:path w="11426825" h="3940175">
                <a:moveTo>
                  <a:pt x="76203" y="0"/>
                </a:moveTo>
                <a:lnTo>
                  <a:pt x="11350622" y="0"/>
                </a:lnTo>
                <a:cubicBezTo>
                  <a:pt x="11392708" y="0"/>
                  <a:pt x="11426825" y="34117"/>
                  <a:pt x="11426825" y="76203"/>
                </a:cubicBezTo>
                <a:lnTo>
                  <a:pt x="11426825" y="3863972"/>
                </a:lnTo>
                <a:cubicBezTo>
                  <a:pt x="11426825" y="3906058"/>
                  <a:pt x="11392708" y="3940175"/>
                  <a:pt x="11350622" y="3940175"/>
                </a:cubicBezTo>
                <a:lnTo>
                  <a:pt x="76203" y="3940175"/>
                </a:lnTo>
                <a:cubicBezTo>
                  <a:pt x="34117" y="3940175"/>
                  <a:pt x="0" y="3906058"/>
                  <a:pt x="0" y="38639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9763" y="15684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854075" y="1530353"/>
            <a:ext cx="1082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5475" y="2651131"/>
            <a:ext cx="1647825" cy="1771650"/>
          </a:xfrm>
          <a:custGeom>
            <a:avLst/>
            <a:gdLst/>
            <a:ahLst/>
            <a:cxnLst/>
            <a:rect l="l" t="t" r="r" b="b"/>
            <a:pathLst>
              <a:path w="1647825" h="1771650">
                <a:moveTo>
                  <a:pt x="114293" y="0"/>
                </a:moveTo>
                <a:lnTo>
                  <a:pt x="1533532" y="0"/>
                </a:lnTo>
                <a:cubicBezTo>
                  <a:pt x="1596612" y="0"/>
                  <a:pt x="1647825" y="51213"/>
                  <a:pt x="1647825" y="114293"/>
                </a:cubicBezTo>
                <a:lnTo>
                  <a:pt x="1647825" y="1657357"/>
                </a:lnTo>
                <a:cubicBezTo>
                  <a:pt x="1647825" y="1720437"/>
                  <a:pt x="1596612" y="1771650"/>
                  <a:pt x="1533532" y="1771650"/>
                </a:cubicBezTo>
                <a:lnTo>
                  <a:pt x="114293" y="1771650"/>
                </a:lnTo>
                <a:cubicBezTo>
                  <a:pt x="51213" y="1771650"/>
                  <a:pt x="0" y="1720437"/>
                  <a:pt x="0" y="165735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2305" y="281305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47093" y="300355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8"/>
          <p:cNvSpPr/>
          <p:nvPr/>
        </p:nvSpPr>
        <p:spPr>
          <a:xfrm>
            <a:off x="744538" y="353695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063" y="3879856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details via web form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60" y="33940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9873" y="2651131"/>
            <a:ext cx="1647825" cy="1771650"/>
          </a:xfrm>
          <a:custGeom>
            <a:avLst/>
            <a:gdLst/>
            <a:ahLst/>
            <a:cxnLst/>
            <a:rect l="l" t="t" r="r" b="b"/>
            <a:pathLst>
              <a:path w="1647825" h="1771650">
                <a:moveTo>
                  <a:pt x="114293" y="0"/>
                </a:moveTo>
                <a:lnTo>
                  <a:pt x="1533532" y="0"/>
                </a:lnTo>
                <a:cubicBezTo>
                  <a:pt x="1596612" y="0"/>
                  <a:pt x="1647825" y="51213"/>
                  <a:pt x="1647825" y="114293"/>
                </a:cubicBezTo>
                <a:lnTo>
                  <a:pt x="1647825" y="1657357"/>
                </a:lnTo>
                <a:cubicBezTo>
                  <a:pt x="1647825" y="1720437"/>
                  <a:pt x="1596612" y="1771650"/>
                  <a:pt x="1533532" y="1771650"/>
                </a:cubicBezTo>
                <a:lnTo>
                  <a:pt x="114293" y="1771650"/>
                </a:lnTo>
                <a:cubicBezTo>
                  <a:pt x="51213" y="1771650"/>
                  <a:pt x="0" y="1720437"/>
                  <a:pt x="0" y="165735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6802" y="281305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302" y="30035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3068935" y="353695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78460" y="3879856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interface &amp; 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93357" y="33940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4370" y="2651131"/>
            <a:ext cx="1647825" cy="1771650"/>
          </a:xfrm>
          <a:custGeom>
            <a:avLst/>
            <a:gdLst/>
            <a:ahLst/>
            <a:cxnLst/>
            <a:rect l="l" t="t" r="r" b="b"/>
            <a:pathLst>
              <a:path w="1647825" h="1771650">
                <a:moveTo>
                  <a:pt x="114293" y="0"/>
                </a:moveTo>
                <a:lnTo>
                  <a:pt x="1533532" y="0"/>
                </a:lnTo>
                <a:cubicBezTo>
                  <a:pt x="1596612" y="0"/>
                  <a:pt x="1647825" y="51213"/>
                  <a:pt x="1647825" y="114293"/>
                </a:cubicBezTo>
                <a:lnTo>
                  <a:pt x="1647825" y="1657357"/>
                </a:lnTo>
                <a:cubicBezTo>
                  <a:pt x="1647825" y="1720437"/>
                  <a:pt x="1596612" y="1771650"/>
                  <a:pt x="1533532" y="1771650"/>
                </a:cubicBezTo>
                <a:lnTo>
                  <a:pt x="114293" y="1771650"/>
                </a:lnTo>
                <a:cubicBezTo>
                  <a:pt x="51213" y="1771650"/>
                  <a:pt x="0" y="1720437"/>
                  <a:pt x="0" y="165735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1200" y="281305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53125" y="300355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5393432" y="353695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02957" y="3879856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&amp; scaling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17755" y="33940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Shape 23"/>
          <p:cNvSpPr/>
          <p:nvPr/>
        </p:nvSpPr>
        <p:spPr>
          <a:xfrm>
            <a:off x="7598768" y="2746381"/>
            <a:ext cx="1647825" cy="1581150"/>
          </a:xfrm>
          <a:custGeom>
            <a:avLst/>
            <a:gdLst/>
            <a:ahLst/>
            <a:cxnLst/>
            <a:rect l="l" t="t" r="r" b="b"/>
            <a:pathLst>
              <a:path w="1647825" h="1581150">
                <a:moveTo>
                  <a:pt x="114301" y="0"/>
                </a:moveTo>
                <a:lnTo>
                  <a:pt x="1533524" y="0"/>
                </a:lnTo>
                <a:cubicBezTo>
                  <a:pt x="1596651" y="0"/>
                  <a:pt x="1647825" y="51174"/>
                  <a:pt x="1647825" y="114301"/>
                </a:cubicBezTo>
                <a:lnTo>
                  <a:pt x="1647825" y="1466849"/>
                </a:lnTo>
                <a:cubicBezTo>
                  <a:pt x="1647825" y="1529976"/>
                  <a:pt x="1596651" y="1581150"/>
                  <a:pt x="153352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5598" y="2908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06098" y="30988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7717830" y="363220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27355" y="3975106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prediction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42153" y="33940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Shape 29"/>
          <p:cNvSpPr/>
          <p:nvPr/>
        </p:nvSpPr>
        <p:spPr>
          <a:xfrm>
            <a:off x="9923165" y="2746381"/>
            <a:ext cx="1647825" cy="1581150"/>
          </a:xfrm>
          <a:custGeom>
            <a:avLst/>
            <a:gdLst/>
            <a:ahLst/>
            <a:cxnLst/>
            <a:rect l="l" t="t" r="r" b="b"/>
            <a:pathLst>
              <a:path w="1647825" h="1581150">
                <a:moveTo>
                  <a:pt x="114301" y="0"/>
                </a:moveTo>
                <a:lnTo>
                  <a:pt x="1533524" y="0"/>
                </a:lnTo>
                <a:cubicBezTo>
                  <a:pt x="1596651" y="0"/>
                  <a:pt x="1647825" y="51174"/>
                  <a:pt x="1647825" y="114301"/>
                </a:cubicBezTo>
                <a:lnTo>
                  <a:pt x="1647825" y="1466849"/>
                </a:lnTo>
                <a:cubicBezTo>
                  <a:pt x="1647825" y="1529976"/>
                  <a:pt x="1596651" y="1581150"/>
                  <a:pt x="153352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39995" y="2908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16208" y="309880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0042228" y="3632206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1753" y="3975106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 + confidence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175" y="5400678"/>
            <a:ext cx="3702050" cy="1073150"/>
          </a:xfrm>
          <a:custGeom>
            <a:avLst/>
            <a:gdLst/>
            <a:ahLst/>
            <a:cxnLst/>
            <a:rect l="l" t="t" r="r" b="b"/>
            <a:pathLst>
              <a:path w="3702050" h="1073150">
                <a:moveTo>
                  <a:pt x="76204" y="0"/>
                </a:moveTo>
                <a:lnTo>
                  <a:pt x="3625846" y="0"/>
                </a:lnTo>
                <a:cubicBezTo>
                  <a:pt x="3667932" y="0"/>
                  <a:pt x="3702050" y="34118"/>
                  <a:pt x="3702050" y="76204"/>
                </a:cubicBezTo>
                <a:lnTo>
                  <a:pt x="3702050" y="996946"/>
                </a:lnTo>
                <a:cubicBezTo>
                  <a:pt x="3702050" y="1039032"/>
                  <a:pt x="3667932" y="1073150"/>
                  <a:pt x="3625846" y="1073150"/>
                </a:cubicBezTo>
                <a:lnTo>
                  <a:pt x="76204" y="1073150"/>
                </a:lnTo>
                <a:cubicBezTo>
                  <a:pt x="34118" y="1073150"/>
                  <a:pt x="0" y="1039032"/>
                  <a:pt x="0" y="9969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3563" y="55943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892175" y="5556256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Security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750" y="5937256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validation, sanitization, and secure API endpoints protect against malicious requests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44975" y="5400678"/>
            <a:ext cx="3702050" cy="1073150"/>
          </a:xfrm>
          <a:custGeom>
            <a:avLst/>
            <a:gdLst/>
            <a:ahLst/>
            <a:cxnLst/>
            <a:rect l="l" t="t" r="r" b="b"/>
            <a:pathLst>
              <a:path w="3702050" h="1073150">
                <a:moveTo>
                  <a:pt x="76204" y="0"/>
                </a:moveTo>
                <a:lnTo>
                  <a:pt x="3625846" y="0"/>
                </a:lnTo>
                <a:cubicBezTo>
                  <a:pt x="3667932" y="0"/>
                  <a:pt x="3702050" y="34118"/>
                  <a:pt x="3702050" y="76204"/>
                </a:cubicBezTo>
                <a:lnTo>
                  <a:pt x="3702050" y="996946"/>
                </a:lnTo>
                <a:cubicBezTo>
                  <a:pt x="3702050" y="1039032"/>
                  <a:pt x="3667932" y="1073150"/>
                  <a:pt x="3625846" y="1073150"/>
                </a:cubicBezTo>
                <a:lnTo>
                  <a:pt x="76204" y="1073150"/>
                </a:lnTo>
                <a:cubicBezTo>
                  <a:pt x="34118" y="1073150"/>
                  <a:pt x="0" y="1039032"/>
                  <a:pt x="0" y="9969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24363" y="55943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4752975" y="5556256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00550" y="5937256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prediction latency: </a:t>
            </a: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100ms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 responsiveness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5775" y="5400678"/>
            <a:ext cx="3702050" cy="1073150"/>
          </a:xfrm>
          <a:custGeom>
            <a:avLst/>
            <a:gdLst/>
            <a:ahLst/>
            <a:cxnLst/>
            <a:rect l="l" t="t" r="r" b="b"/>
            <a:pathLst>
              <a:path w="3702050" h="1073150">
                <a:moveTo>
                  <a:pt x="76204" y="0"/>
                </a:moveTo>
                <a:lnTo>
                  <a:pt x="3625846" y="0"/>
                </a:lnTo>
                <a:cubicBezTo>
                  <a:pt x="3667932" y="0"/>
                  <a:pt x="3702050" y="34118"/>
                  <a:pt x="3702050" y="76204"/>
                </a:cubicBezTo>
                <a:lnTo>
                  <a:pt x="3702050" y="996946"/>
                </a:lnTo>
                <a:cubicBezTo>
                  <a:pt x="3702050" y="1039032"/>
                  <a:pt x="3667932" y="1073150"/>
                  <a:pt x="3625846" y="1073150"/>
                </a:cubicBezTo>
                <a:lnTo>
                  <a:pt x="76204" y="1073150"/>
                </a:lnTo>
                <a:cubicBezTo>
                  <a:pt x="34118" y="1073150"/>
                  <a:pt x="0" y="1039032"/>
                  <a:pt x="0" y="9969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7069" y="559435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8613775" y="5556256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1350" y="5937256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Containerized deployment enables horizontal scaling to handle 10,000+ requests/day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598" y="347598"/>
            <a:ext cx="11566324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kern="0" spc="5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598" y="625676"/>
            <a:ext cx="11705363" cy="417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4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Challenges &amp;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495" y="1184730"/>
            <a:ext cx="3733782" cy="2760507"/>
          </a:xfrm>
          <a:custGeom>
            <a:avLst/>
            <a:gdLst/>
            <a:ahLst/>
            <a:cxnLst/>
            <a:rect l="l" t="t" r="r" b="b"/>
            <a:pathLst>
              <a:path w="3733782" h="2760507">
                <a:moveTo>
                  <a:pt x="69510" y="0"/>
                </a:moveTo>
                <a:lnTo>
                  <a:pt x="3664272" y="0"/>
                </a:lnTo>
                <a:cubicBezTo>
                  <a:pt x="3702661" y="0"/>
                  <a:pt x="3733782" y="31120"/>
                  <a:pt x="3733782" y="69510"/>
                </a:cubicBezTo>
                <a:lnTo>
                  <a:pt x="3733782" y="2690998"/>
                </a:lnTo>
                <a:cubicBezTo>
                  <a:pt x="3733782" y="2729361"/>
                  <a:pt x="3702636" y="2760507"/>
                  <a:pt x="3664272" y="2760507"/>
                </a:cubicBezTo>
                <a:lnTo>
                  <a:pt x="69510" y="2760507"/>
                </a:lnTo>
                <a:cubicBezTo>
                  <a:pt x="31120" y="2760507"/>
                  <a:pt x="0" y="2729387"/>
                  <a:pt x="0" y="2690998"/>
                </a:cubicBezTo>
                <a:lnTo>
                  <a:pt x="0" y="69510"/>
                </a:lnTo>
                <a:cubicBezTo>
                  <a:pt x="0" y="31146"/>
                  <a:pt x="31146" y="0"/>
                  <a:pt x="6951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8467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7190" y="1361428"/>
            <a:ext cx="486637" cy="486637"/>
          </a:xfrm>
          <a:custGeom>
            <a:avLst/>
            <a:gdLst/>
            <a:ahLst/>
            <a:cxnLst/>
            <a:rect l="l" t="t" r="r" b="b"/>
            <a:pathLst>
              <a:path w="486637" h="486637">
                <a:moveTo>
                  <a:pt x="69521" y="0"/>
                </a:moveTo>
                <a:lnTo>
                  <a:pt x="417116" y="0"/>
                </a:lnTo>
                <a:cubicBezTo>
                  <a:pt x="455512" y="0"/>
                  <a:pt x="486637" y="31126"/>
                  <a:pt x="486637" y="69521"/>
                </a:cubicBezTo>
                <a:lnTo>
                  <a:pt x="486637" y="417116"/>
                </a:lnTo>
                <a:cubicBezTo>
                  <a:pt x="486637" y="455512"/>
                  <a:pt x="455512" y="486637"/>
                  <a:pt x="417116" y="486637"/>
                </a:cubicBezTo>
                <a:lnTo>
                  <a:pt x="69521" y="486637"/>
                </a:lnTo>
                <a:cubicBezTo>
                  <a:pt x="31126" y="486637"/>
                  <a:pt x="0" y="455512"/>
                  <a:pt x="0" y="417116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160" y="1500468"/>
            <a:ext cx="260699" cy="208559"/>
          </a:xfrm>
          <a:custGeom>
            <a:avLst/>
            <a:gdLst/>
            <a:ahLst/>
            <a:cxnLst/>
            <a:rect l="l" t="t" r="r" b="b"/>
            <a:pathLst>
              <a:path w="260699" h="208559">
                <a:moveTo>
                  <a:pt x="156419" y="13035"/>
                </a:moveTo>
                <a:lnTo>
                  <a:pt x="208559" y="13035"/>
                </a:lnTo>
                <a:cubicBezTo>
                  <a:pt x="215769" y="13035"/>
                  <a:pt x="221594" y="18860"/>
                  <a:pt x="221594" y="26070"/>
                </a:cubicBezTo>
                <a:cubicBezTo>
                  <a:pt x="221594" y="33280"/>
                  <a:pt x="215769" y="39105"/>
                  <a:pt x="208559" y="39105"/>
                </a:cubicBezTo>
                <a:lnTo>
                  <a:pt x="162285" y="39105"/>
                </a:lnTo>
                <a:cubicBezTo>
                  <a:pt x="160167" y="49614"/>
                  <a:pt x="152957" y="58291"/>
                  <a:pt x="143384" y="62445"/>
                </a:cubicBezTo>
                <a:lnTo>
                  <a:pt x="143384" y="182489"/>
                </a:lnTo>
                <a:lnTo>
                  <a:pt x="208559" y="182489"/>
                </a:lnTo>
                <a:cubicBezTo>
                  <a:pt x="215769" y="182489"/>
                  <a:pt x="221594" y="188314"/>
                  <a:pt x="221594" y="195524"/>
                </a:cubicBezTo>
                <a:cubicBezTo>
                  <a:pt x="221594" y="202734"/>
                  <a:pt x="215769" y="208559"/>
                  <a:pt x="208559" y="208559"/>
                </a:cubicBezTo>
                <a:lnTo>
                  <a:pt x="52140" y="208559"/>
                </a:lnTo>
                <a:cubicBezTo>
                  <a:pt x="44930" y="208559"/>
                  <a:pt x="39105" y="202734"/>
                  <a:pt x="39105" y="195524"/>
                </a:cubicBezTo>
                <a:cubicBezTo>
                  <a:pt x="39105" y="188314"/>
                  <a:pt x="44930" y="182489"/>
                  <a:pt x="52140" y="182489"/>
                </a:cubicBezTo>
                <a:lnTo>
                  <a:pt x="117314" y="182489"/>
                </a:lnTo>
                <a:lnTo>
                  <a:pt x="117314" y="62445"/>
                </a:lnTo>
                <a:cubicBezTo>
                  <a:pt x="107742" y="58250"/>
                  <a:pt x="100532" y="49573"/>
                  <a:pt x="98414" y="39105"/>
                </a:cubicBezTo>
                <a:lnTo>
                  <a:pt x="52140" y="39105"/>
                </a:lnTo>
                <a:cubicBezTo>
                  <a:pt x="44930" y="39105"/>
                  <a:pt x="39105" y="33280"/>
                  <a:pt x="39105" y="26070"/>
                </a:cubicBezTo>
                <a:cubicBezTo>
                  <a:pt x="39105" y="18860"/>
                  <a:pt x="44930" y="13035"/>
                  <a:pt x="52140" y="13035"/>
                </a:cubicBezTo>
                <a:lnTo>
                  <a:pt x="104279" y="13035"/>
                </a:lnTo>
                <a:cubicBezTo>
                  <a:pt x="110227" y="5133"/>
                  <a:pt x="119677" y="0"/>
                  <a:pt x="130349" y="0"/>
                </a:cubicBezTo>
                <a:cubicBezTo>
                  <a:pt x="141022" y="0"/>
                  <a:pt x="150472" y="5133"/>
                  <a:pt x="156419" y="13035"/>
                </a:cubicBezTo>
                <a:close/>
                <a:moveTo>
                  <a:pt x="179067" y="130349"/>
                </a:moveTo>
                <a:lnTo>
                  <a:pt x="238050" y="130349"/>
                </a:lnTo>
                <a:lnTo>
                  <a:pt x="208559" y="79757"/>
                </a:lnTo>
                <a:lnTo>
                  <a:pt x="179067" y="130349"/>
                </a:lnTo>
                <a:close/>
                <a:moveTo>
                  <a:pt x="208559" y="169454"/>
                </a:moveTo>
                <a:cubicBezTo>
                  <a:pt x="182937" y="169454"/>
                  <a:pt x="161633" y="155604"/>
                  <a:pt x="157234" y="137315"/>
                </a:cubicBezTo>
                <a:cubicBezTo>
                  <a:pt x="156175" y="132834"/>
                  <a:pt x="157641" y="128231"/>
                  <a:pt x="159963" y="124239"/>
                </a:cubicBezTo>
                <a:lnTo>
                  <a:pt x="198742" y="57761"/>
                </a:lnTo>
                <a:cubicBezTo>
                  <a:pt x="200779" y="54258"/>
                  <a:pt x="204526" y="52140"/>
                  <a:pt x="208559" y="52140"/>
                </a:cubicBezTo>
                <a:cubicBezTo>
                  <a:pt x="212591" y="52140"/>
                  <a:pt x="216339" y="54299"/>
                  <a:pt x="218376" y="57761"/>
                </a:cubicBezTo>
                <a:lnTo>
                  <a:pt x="257155" y="124239"/>
                </a:lnTo>
                <a:cubicBezTo>
                  <a:pt x="259476" y="128231"/>
                  <a:pt x="260943" y="132834"/>
                  <a:pt x="259884" y="137315"/>
                </a:cubicBezTo>
                <a:cubicBezTo>
                  <a:pt x="255485" y="155564"/>
                  <a:pt x="234181" y="169454"/>
                  <a:pt x="208559" y="169454"/>
                </a:cubicBezTo>
                <a:close/>
                <a:moveTo>
                  <a:pt x="51651" y="79757"/>
                </a:moveTo>
                <a:lnTo>
                  <a:pt x="22159" y="130349"/>
                </a:lnTo>
                <a:lnTo>
                  <a:pt x="81183" y="130349"/>
                </a:lnTo>
                <a:lnTo>
                  <a:pt x="51651" y="79757"/>
                </a:lnTo>
                <a:close/>
                <a:moveTo>
                  <a:pt x="367" y="137315"/>
                </a:moveTo>
                <a:cubicBezTo>
                  <a:pt x="-692" y="132834"/>
                  <a:pt x="774" y="128231"/>
                  <a:pt x="3096" y="124239"/>
                </a:cubicBezTo>
                <a:lnTo>
                  <a:pt x="41875" y="57761"/>
                </a:lnTo>
                <a:cubicBezTo>
                  <a:pt x="43911" y="54258"/>
                  <a:pt x="47659" y="52140"/>
                  <a:pt x="51692" y="52140"/>
                </a:cubicBezTo>
                <a:cubicBezTo>
                  <a:pt x="55724" y="52140"/>
                  <a:pt x="59472" y="54299"/>
                  <a:pt x="61509" y="57761"/>
                </a:cubicBezTo>
                <a:lnTo>
                  <a:pt x="100287" y="124239"/>
                </a:lnTo>
                <a:cubicBezTo>
                  <a:pt x="102609" y="128231"/>
                  <a:pt x="104076" y="132834"/>
                  <a:pt x="103017" y="137315"/>
                </a:cubicBezTo>
                <a:cubicBezTo>
                  <a:pt x="98617" y="155564"/>
                  <a:pt x="77313" y="169454"/>
                  <a:pt x="51692" y="169454"/>
                </a:cubicBezTo>
                <a:cubicBezTo>
                  <a:pt x="26070" y="169454"/>
                  <a:pt x="4766" y="155604"/>
                  <a:pt x="367" y="13731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18107" y="1483088"/>
            <a:ext cx="1338252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7190" y="1987105"/>
            <a:ext cx="3380391" cy="834235"/>
          </a:xfrm>
          <a:custGeom>
            <a:avLst/>
            <a:gdLst/>
            <a:ahLst/>
            <a:cxnLst/>
            <a:rect l="l" t="t" r="r" b="b"/>
            <a:pathLst>
              <a:path w="3380391" h="834235">
                <a:moveTo>
                  <a:pt x="69517" y="0"/>
                </a:moveTo>
                <a:lnTo>
                  <a:pt x="3310874" y="0"/>
                </a:lnTo>
                <a:cubicBezTo>
                  <a:pt x="3349267" y="0"/>
                  <a:pt x="3380391" y="31124"/>
                  <a:pt x="3380391" y="69517"/>
                </a:cubicBezTo>
                <a:lnTo>
                  <a:pt x="3380391" y="764718"/>
                </a:lnTo>
                <a:cubicBezTo>
                  <a:pt x="3380391" y="803111"/>
                  <a:pt x="3349267" y="834235"/>
                  <a:pt x="3310874" y="834235"/>
                </a:cubicBezTo>
                <a:lnTo>
                  <a:pt x="69517" y="834235"/>
                </a:lnTo>
                <a:cubicBezTo>
                  <a:pt x="31124" y="834235"/>
                  <a:pt x="0" y="803111"/>
                  <a:pt x="0" y="764718"/>
                </a:cubicBezTo>
                <a:lnTo>
                  <a:pt x="0" y="69517"/>
                </a:lnTo>
                <a:cubicBezTo>
                  <a:pt x="0" y="31124"/>
                  <a:pt x="31124" y="0"/>
                  <a:pt x="6951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1470" y="2091384"/>
            <a:ext cx="324135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1470" y="2369463"/>
            <a:ext cx="323266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 On-Time vs 16% Delayed created severe bias toward majority class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087" y="2928516"/>
            <a:ext cx="3377494" cy="840029"/>
          </a:xfrm>
          <a:custGeom>
            <a:avLst/>
            <a:gdLst/>
            <a:ahLst/>
            <a:cxnLst/>
            <a:rect l="l" t="t" r="r" b="b"/>
            <a:pathLst>
              <a:path w="3377494" h="840029">
                <a:moveTo>
                  <a:pt x="69521" y="0"/>
                </a:moveTo>
                <a:lnTo>
                  <a:pt x="3307973" y="0"/>
                </a:lnTo>
                <a:cubicBezTo>
                  <a:pt x="3346368" y="0"/>
                  <a:pt x="3377494" y="31126"/>
                  <a:pt x="3377494" y="69521"/>
                </a:cubicBezTo>
                <a:lnTo>
                  <a:pt x="3377494" y="770508"/>
                </a:lnTo>
                <a:cubicBezTo>
                  <a:pt x="3377494" y="808903"/>
                  <a:pt x="3346368" y="840029"/>
                  <a:pt x="3307973" y="840029"/>
                </a:cubicBezTo>
                <a:lnTo>
                  <a:pt x="69521" y="840029"/>
                </a:lnTo>
                <a:cubicBezTo>
                  <a:pt x="31151" y="840029"/>
                  <a:pt x="0" y="808877"/>
                  <a:pt x="0" y="770508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263" y="3035695"/>
            <a:ext cx="323266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263" y="3313773"/>
            <a:ext cx="322397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SMOTE oversampling + class weights to balance training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8113" y="1184730"/>
            <a:ext cx="3733782" cy="2760507"/>
          </a:xfrm>
          <a:custGeom>
            <a:avLst/>
            <a:gdLst/>
            <a:ahLst/>
            <a:cxnLst/>
            <a:rect l="l" t="t" r="r" b="b"/>
            <a:pathLst>
              <a:path w="3733782" h="2760507">
                <a:moveTo>
                  <a:pt x="69510" y="0"/>
                </a:moveTo>
                <a:lnTo>
                  <a:pt x="3664272" y="0"/>
                </a:lnTo>
                <a:cubicBezTo>
                  <a:pt x="3702661" y="0"/>
                  <a:pt x="3733782" y="31120"/>
                  <a:pt x="3733782" y="69510"/>
                </a:cubicBezTo>
                <a:lnTo>
                  <a:pt x="3733782" y="2690998"/>
                </a:lnTo>
                <a:cubicBezTo>
                  <a:pt x="3733782" y="2729361"/>
                  <a:pt x="3702636" y="2760507"/>
                  <a:pt x="3664272" y="2760507"/>
                </a:cubicBezTo>
                <a:lnTo>
                  <a:pt x="69510" y="2760507"/>
                </a:lnTo>
                <a:cubicBezTo>
                  <a:pt x="31120" y="2760507"/>
                  <a:pt x="0" y="2729387"/>
                  <a:pt x="0" y="2690998"/>
                </a:cubicBezTo>
                <a:lnTo>
                  <a:pt x="0" y="69510"/>
                </a:lnTo>
                <a:cubicBezTo>
                  <a:pt x="0" y="31146"/>
                  <a:pt x="31146" y="0"/>
                  <a:pt x="6951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8467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4809" y="1361428"/>
            <a:ext cx="486637" cy="486637"/>
          </a:xfrm>
          <a:custGeom>
            <a:avLst/>
            <a:gdLst/>
            <a:ahLst/>
            <a:cxnLst/>
            <a:rect l="l" t="t" r="r" b="b"/>
            <a:pathLst>
              <a:path w="486637" h="486637">
                <a:moveTo>
                  <a:pt x="69521" y="0"/>
                </a:moveTo>
                <a:lnTo>
                  <a:pt x="417116" y="0"/>
                </a:lnTo>
                <a:cubicBezTo>
                  <a:pt x="455512" y="0"/>
                  <a:pt x="486637" y="31126"/>
                  <a:pt x="486637" y="69521"/>
                </a:cubicBezTo>
                <a:lnTo>
                  <a:pt x="486637" y="417116"/>
                </a:lnTo>
                <a:cubicBezTo>
                  <a:pt x="486637" y="455512"/>
                  <a:pt x="455512" y="486637"/>
                  <a:pt x="417116" y="486637"/>
                </a:cubicBezTo>
                <a:lnTo>
                  <a:pt x="69521" y="486637"/>
                </a:lnTo>
                <a:cubicBezTo>
                  <a:pt x="31126" y="486637"/>
                  <a:pt x="0" y="455512"/>
                  <a:pt x="0" y="417116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43848" y="1500468"/>
            <a:ext cx="208559" cy="208559"/>
          </a:xfrm>
          <a:custGeom>
            <a:avLst/>
            <a:gdLst/>
            <a:ahLst/>
            <a:cxnLst/>
            <a:rect l="l" t="t" r="r" b="b"/>
            <a:pathLst>
              <a:path w="208559" h="208559">
                <a:moveTo>
                  <a:pt x="13035" y="26070"/>
                </a:moveTo>
                <a:cubicBezTo>
                  <a:pt x="7780" y="26070"/>
                  <a:pt x="3014" y="29247"/>
                  <a:pt x="978" y="34135"/>
                </a:cubicBezTo>
                <a:cubicBezTo>
                  <a:pt x="-1059" y="39023"/>
                  <a:pt x="81" y="44604"/>
                  <a:pt x="3829" y="48311"/>
                </a:cubicBezTo>
                <a:lnTo>
                  <a:pt x="78210" y="122732"/>
                </a:lnTo>
                <a:lnTo>
                  <a:pt x="78210" y="169454"/>
                </a:lnTo>
                <a:cubicBezTo>
                  <a:pt x="78210" y="172916"/>
                  <a:pt x="79595" y="176216"/>
                  <a:pt x="82039" y="178660"/>
                </a:cubicBezTo>
                <a:lnTo>
                  <a:pt x="108108" y="204730"/>
                </a:lnTo>
                <a:cubicBezTo>
                  <a:pt x="111856" y="208477"/>
                  <a:pt x="117437" y="209577"/>
                  <a:pt x="122325" y="207540"/>
                </a:cubicBezTo>
                <a:cubicBezTo>
                  <a:pt x="127213" y="205504"/>
                  <a:pt x="130349" y="200779"/>
                  <a:pt x="130349" y="195524"/>
                </a:cubicBezTo>
                <a:lnTo>
                  <a:pt x="130349" y="122732"/>
                </a:lnTo>
                <a:lnTo>
                  <a:pt x="204730" y="48351"/>
                </a:lnTo>
                <a:cubicBezTo>
                  <a:pt x="208477" y="44604"/>
                  <a:pt x="209577" y="39023"/>
                  <a:pt x="207540" y="34135"/>
                </a:cubicBezTo>
                <a:cubicBezTo>
                  <a:pt x="205504" y="29247"/>
                  <a:pt x="200779" y="26070"/>
                  <a:pt x="195524" y="26070"/>
                </a:cubicBezTo>
                <a:lnTo>
                  <a:pt x="13035" y="2607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95726" y="1483088"/>
            <a:ext cx="1425152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04809" y="1987105"/>
            <a:ext cx="3380391" cy="834235"/>
          </a:xfrm>
          <a:custGeom>
            <a:avLst/>
            <a:gdLst/>
            <a:ahLst/>
            <a:cxnLst/>
            <a:rect l="l" t="t" r="r" b="b"/>
            <a:pathLst>
              <a:path w="3380391" h="834235">
                <a:moveTo>
                  <a:pt x="69517" y="0"/>
                </a:moveTo>
                <a:lnTo>
                  <a:pt x="3310874" y="0"/>
                </a:lnTo>
                <a:cubicBezTo>
                  <a:pt x="3349267" y="0"/>
                  <a:pt x="3380391" y="31124"/>
                  <a:pt x="3380391" y="69517"/>
                </a:cubicBezTo>
                <a:lnTo>
                  <a:pt x="3380391" y="764718"/>
                </a:lnTo>
                <a:cubicBezTo>
                  <a:pt x="3380391" y="803111"/>
                  <a:pt x="3349267" y="834235"/>
                  <a:pt x="3310874" y="834235"/>
                </a:cubicBezTo>
                <a:lnTo>
                  <a:pt x="69517" y="834235"/>
                </a:lnTo>
                <a:cubicBezTo>
                  <a:pt x="31124" y="834235"/>
                  <a:pt x="0" y="803111"/>
                  <a:pt x="0" y="764718"/>
                </a:cubicBezTo>
                <a:lnTo>
                  <a:pt x="0" y="69517"/>
                </a:lnTo>
                <a:cubicBezTo>
                  <a:pt x="0" y="31124"/>
                  <a:pt x="31124" y="0"/>
                  <a:pt x="6951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09089" y="2091384"/>
            <a:ext cx="324135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09089" y="2369463"/>
            <a:ext cx="323266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features with varying importance - risk of overfitting with irrelevant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7706" y="2928516"/>
            <a:ext cx="3377494" cy="840029"/>
          </a:xfrm>
          <a:custGeom>
            <a:avLst/>
            <a:gdLst/>
            <a:ahLst/>
            <a:cxnLst/>
            <a:rect l="l" t="t" r="r" b="b"/>
            <a:pathLst>
              <a:path w="3377494" h="840029">
                <a:moveTo>
                  <a:pt x="69521" y="0"/>
                </a:moveTo>
                <a:lnTo>
                  <a:pt x="3307973" y="0"/>
                </a:lnTo>
                <a:cubicBezTo>
                  <a:pt x="3346368" y="0"/>
                  <a:pt x="3377494" y="31126"/>
                  <a:pt x="3377494" y="69521"/>
                </a:cubicBezTo>
                <a:lnTo>
                  <a:pt x="3377494" y="770508"/>
                </a:lnTo>
                <a:cubicBezTo>
                  <a:pt x="3377494" y="808903"/>
                  <a:pt x="3346368" y="840029"/>
                  <a:pt x="3307973" y="840029"/>
                </a:cubicBezTo>
                <a:lnTo>
                  <a:pt x="69521" y="840029"/>
                </a:lnTo>
                <a:cubicBezTo>
                  <a:pt x="31151" y="840029"/>
                  <a:pt x="0" y="808877"/>
                  <a:pt x="0" y="770508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4882" y="3035695"/>
            <a:ext cx="323266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4882" y="3313773"/>
            <a:ext cx="322397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feature importance ranking + correlation analysis to select top 15 features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5732" y="1184730"/>
            <a:ext cx="3733782" cy="2760507"/>
          </a:xfrm>
          <a:custGeom>
            <a:avLst/>
            <a:gdLst/>
            <a:ahLst/>
            <a:cxnLst/>
            <a:rect l="l" t="t" r="r" b="b"/>
            <a:pathLst>
              <a:path w="3733782" h="2760507">
                <a:moveTo>
                  <a:pt x="69510" y="0"/>
                </a:moveTo>
                <a:lnTo>
                  <a:pt x="3664272" y="0"/>
                </a:lnTo>
                <a:cubicBezTo>
                  <a:pt x="3702661" y="0"/>
                  <a:pt x="3733782" y="31120"/>
                  <a:pt x="3733782" y="69510"/>
                </a:cubicBezTo>
                <a:lnTo>
                  <a:pt x="3733782" y="2690998"/>
                </a:lnTo>
                <a:cubicBezTo>
                  <a:pt x="3733782" y="2729361"/>
                  <a:pt x="3702636" y="2760507"/>
                  <a:pt x="3664272" y="2760507"/>
                </a:cubicBezTo>
                <a:lnTo>
                  <a:pt x="69510" y="2760507"/>
                </a:lnTo>
                <a:cubicBezTo>
                  <a:pt x="31120" y="2760507"/>
                  <a:pt x="0" y="2729387"/>
                  <a:pt x="0" y="2690998"/>
                </a:cubicBezTo>
                <a:lnTo>
                  <a:pt x="0" y="69510"/>
                </a:lnTo>
                <a:cubicBezTo>
                  <a:pt x="0" y="31146"/>
                  <a:pt x="31146" y="0"/>
                  <a:pt x="6951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2428" y="1361428"/>
            <a:ext cx="486637" cy="486637"/>
          </a:xfrm>
          <a:custGeom>
            <a:avLst/>
            <a:gdLst/>
            <a:ahLst/>
            <a:cxnLst/>
            <a:rect l="l" t="t" r="r" b="b"/>
            <a:pathLst>
              <a:path w="486637" h="486637">
                <a:moveTo>
                  <a:pt x="69521" y="0"/>
                </a:moveTo>
                <a:lnTo>
                  <a:pt x="417116" y="0"/>
                </a:lnTo>
                <a:cubicBezTo>
                  <a:pt x="455512" y="0"/>
                  <a:pt x="486637" y="31126"/>
                  <a:pt x="486637" y="69521"/>
                </a:cubicBezTo>
                <a:lnTo>
                  <a:pt x="486637" y="417116"/>
                </a:lnTo>
                <a:cubicBezTo>
                  <a:pt x="486637" y="455512"/>
                  <a:pt x="455512" y="486637"/>
                  <a:pt x="417116" y="486637"/>
                </a:cubicBezTo>
                <a:lnTo>
                  <a:pt x="69521" y="486637"/>
                </a:lnTo>
                <a:cubicBezTo>
                  <a:pt x="31126" y="486637"/>
                  <a:pt x="0" y="455512"/>
                  <a:pt x="0" y="417116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21467" y="1500468"/>
            <a:ext cx="208559" cy="208559"/>
          </a:xfrm>
          <a:custGeom>
            <a:avLst/>
            <a:gdLst/>
            <a:ahLst/>
            <a:cxnLst/>
            <a:rect l="l" t="t" r="r" b="b"/>
            <a:pathLst>
              <a:path w="208559" h="208559">
                <a:moveTo>
                  <a:pt x="13035" y="26070"/>
                </a:moveTo>
                <a:cubicBezTo>
                  <a:pt x="5825" y="26070"/>
                  <a:pt x="0" y="31895"/>
                  <a:pt x="0" y="39105"/>
                </a:cubicBezTo>
                <a:cubicBezTo>
                  <a:pt x="0" y="46315"/>
                  <a:pt x="5825" y="52140"/>
                  <a:pt x="13035" y="52140"/>
                </a:cubicBezTo>
                <a:lnTo>
                  <a:pt x="48351" y="52140"/>
                </a:lnTo>
                <a:cubicBezTo>
                  <a:pt x="53362" y="63667"/>
                  <a:pt x="64849" y="71692"/>
                  <a:pt x="78210" y="71692"/>
                </a:cubicBezTo>
                <a:cubicBezTo>
                  <a:pt x="91570" y="71692"/>
                  <a:pt x="103057" y="63667"/>
                  <a:pt x="108068" y="52140"/>
                </a:cubicBezTo>
                <a:lnTo>
                  <a:pt x="195524" y="52140"/>
                </a:lnTo>
                <a:cubicBezTo>
                  <a:pt x="202734" y="52140"/>
                  <a:pt x="208559" y="46315"/>
                  <a:pt x="208559" y="39105"/>
                </a:cubicBezTo>
                <a:cubicBezTo>
                  <a:pt x="208559" y="31895"/>
                  <a:pt x="202734" y="26070"/>
                  <a:pt x="195524" y="26070"/>
                </a:cubicBezTo>
                <a:lnTo>
                  <a:pt x="108068" y="26070"/>
                </a:lnTo>
                <a:cubicBezTo>
                  <a:pt x="103057" y="14542"/>
                  <a:pt x="91570" y="6517"/>
                  <a:pt x="78210" y="6517"/>
                </a:cubicBezTo>
                <a:cubicBezTo>
                  <a:pt x="64849" y="6517"/>
                  <a:pt x="53362" y="14542"/>
                  <a:pt x="48351" y="26070"/>
                </a:cubicBezTo>
                <a:lnTo>
                  <a:pt x="13035" y="26070"/>
                </a:lnTo>
                <a:close/>
                <a:moveTo>
                  <a:pt x="13035" y="91244"/>
                </a:moveTo>
                <a:cubicBezTo>
                  <a:pt x="5825" y="91244"/>
                  <a:pt x="0" y="97069"/>
                  <a:pt x="0" y="104279"/>
                </a:cubicBezTo>
                <a:cubicBezTo>
                  <a:pt x="0" y="111489"/>
                  <a:pt x="5825" y="117314"/>
                  <a:pt x="13035" y="117314"/>
                </a:cubicBezTo>
                <a:lnTo>
                  <a:pt x="113526" y="117314"/>
                </a:lnTo>
                <a:cubicBezTo>
                  <a:pt x="118536" y="128842"/>
                  <a:pt x="130023" y="136867"/>
                  <a:pt x="143384" y="136867"/>
                </a:cubicBezTo>
                <a:cubicBezTo>
                  <a:pt x="156745" y="136867"/>
                  <a:pt x="168232" y="128842"/>
                  <a:pt x="173242" y="117314"/>
                </a:cubicBezTo>
                <a:lnTo>
                  <a:pt x="195524" y="117314"/>
                </a:lnTo>
                <a:cubicBezTo>
                  <a:pt x="202734" y="117314"/>
                  <a:pt x="208559" y="111489"/>
                  <a:pt x="208559" y="104279"/>
                </a:cubicBezTo>
                <a:cubicBezTo>
                  <a:pt x="208559" y="97069"/>
                  <a:pt x="202734" y="91244"/>
                  <a:pt x="195524" y="91244"/>
                </a:cubicBezTo>
                <a:lnTo>
                  <a:pt x="173242" y="91244"/>
                </a:lnTo>
                <a:cubicBezTo>
                  <a:pt x="168232" y="79717"/>
                  <a:pt x="156745" y="71692"/>
                  <a:pt x="143384" y="71692"/>
                </a:cubicBezTo>
                <a:cubicBezTo>
                  <a:pt x="130023" y="71692"/>
                  <a:pt x="118536" y="79717"/>
                  <a:pt x="113526" y="91244"/>
                </a:cubicBezTo>
                <a:lnTo>
                  <a:pt x="13035" y="91244"/>
                </a:lnTo>
                <a:close/>
                <a:moveTo>
                  <a:pt x="13035" y="156419"/>
                </a:moveTo>
                <a:cubicBezTo>
                  <a:pt x="5825" y="156419"/>
                  <a:pt x="0" y="162244"/>
                  <a:pt x="0" y="169454"/>
                </a:cubicBezTo>
                <a:cubicBezTo>
                  <a:pt x="0" y="176664"/>
                  <a:pt x="5825" y="182489"/>
                  <a:pt x="13035" y="182489"/>
                </a:cubicBezTo>
                <a:lnTo>
                  <a:pt x="35317" y="182489"/>
                </a:lnTo>
                <a:cubicBezTo>
                  <a:pt x="40327" y="194017"/>
                  <a:pt x="51814" y="202041"/>
                  <a:pt x="65175" y="202041"/>
                </a:cubicBezTo>
                <a:cubicBezTo>
                  <a:pt x="78535" y="202041"/>
                  <a:pt x="90022" y="194017"/>
                  <a:pt x="95033" y="182489"/>
                </a:cubicBezTo>
                <a:lnTo>
                  <a:pt x="195524" y="182489"/>
                </a:lnTo>
                <a:cubicBezTo>
                  <a:pt x="202734" y="182489"/>
                  <a:pt x="208559" y="176664"/>
                  <a:pt x="208559" y="169454"/>
                </a:cubicBezTo>
                <a:cubicBezTo>
                  <a:pt x="208559" y="162244"/>
                  <a:pt x="202734" y="156419"/>
                  <a:pt x="195524" y="156419"/>
                </a:cubicBezTo>
                <a:lnTo>
                  <a:pt x="95033" y="156419"/>
                </a:lnTo>
                <a:cubicBezTo>
                  <a:pt x="90022" y="144891"/>
                  <a:pt x="78535" y="136867"/>
                  <a:pt x="65175" y="136867"/>
                </a:cubicBezTo>
                <a:cubicBezTo>
                  <a:pt x="51814" y="136867"/>
                  <a:pt x="40327" y="144891"/>
                  <a:pt x="35317" y="156419"/>
                </a:cubicBezTo>
                <a:lnTo>
                  <a:pt x="13035" y="15641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7" name="Text 25"/>
          <p:cNvSpPr/>
          <p:nvPr/>
        </p:nvSpPr>
        <p:spPr>
          <a:xfrm>
            <a:off x="8873344" y="1483088"/>
            <a:ext cx="1138383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Tuning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2428" y="1987105"/>
            <a:ext cx="3380391" cy="834235"/>
          </a:xfrm>
          <a:custGeom>
            <a:avLst/>
            <a:gdLst/>
            <a:ahLst/>
            <a:cxnLst/>
            <a:rect l="l" t="t" r="r" b="b"/>
            <a:pathLst>
              <a:path w="3380391" h="834235">
                <a:moveTo>
                  <a:pt x="69517" y="0"/>
                </a:moveTo>
                <a:lnTo>
                  <a:pt x="3310874" y="0"/>
                </a:lnTo>
                <a:cubicBezTo>
                  <a:pt x="3349267" y="0"/>
                  <a:pt x="3380391" y="31124"/>
                  <a:pt x="3380391" y="69517"/>
                </a:cubicBezTo>
                <a:lnTo>
                  <a:pt x="3380391" y="764718"/>
                </a:lnTo>
                <a:cubicBezTo>
                  <a:pt x="3380391" y="803111"/>
                  <a:pt x="3349267" y="834235"/>
                  <a:pt x="3310874" y="834235"/>
                </a:cubicBezTo>
                <a:lnTo>
                  <a:pt x="69517" y="834235"/>
                </a:lnTo>
                <a:cubicBezTo>
                  <a:pt x="31124" y="834235"/>
                  <a:pt x="0" y="803111"/>
                  <a:pt x="0" y="764718"/>
                </a:cubicBezTo>
                <a:lnTo>
                  <a:pt x="0" y="69517"/>
                </a:lnTo>
                <a:cubicBezTo>
                  <a:pt x="0" y="31124"/>
                  <a:pt x="31124" y="0"/>
                  <a:pt x="6951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86707" y="2091384"/>
            <a:ext cx="324135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6707" y="2369463"/>
            <a:ext cx="323266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algorithms with 50+ hyperparameter combinations each - computationally expensive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5324" y="2928516"/>
            <a:ext cx="3377494" cy="840029"/>
          </a:xfrm>
          <a:custGeom>
            <a:avLst/>
            <a:gdLst/>
            <a:ahLst/>
            <a:cxnLst/>
            <a:rect l="l" t="t" r="r" b="b"/>
            <a:pathLst>
              <a:path w="3377494" h="840029">
                <a:moveTo>
                  <a:pt x="69521" y="0"/>
                </a:moveTo>
                <a:lnTo>
                  <a:pt x="3307973" y="0"/>
                </a:lnTo>
                <a:cubicBezTo>
                  <a:pt x="3346368" y="0"/>
                  <a:pt x="3377494" y="31126"/>
                  <a:pt x="3377494" y="69521"/>
                </a:cubicBezTo>
                <a:lnTo>
                  <a:pt x="3377494" y="770508"/>
                </a:lnTo>
                <a:cubicBezTo>
                  <a:pt x="3377494" y="808903"/>
                  <a:pt x="3346368" y="840029"/>
                  <a:pt x="3307973" y="840029"/>
                </a:cubicBezTo>
                <a:lnTo>
                  <a:pt x="69521" y="840029"/>
                </a:lnTo>
                <a:cubicBezTo>
                  <a:pt x="31151" y="840029"/>
                  <a:pt x="0" y="808877"/>
                  <a:pt x="0" y="770508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2501" y="3035695"/>
            <a:ext cx="323266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2501" y="3313773"/>
            <a:ext cx="322397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GridSearchCV with 5-fold cross-validation for systematic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28113" y="4092969"/>
            <a:ext cx="3733782" cy="2760507"/>
          </a:xfrm>
          <a:custGeom>
            <a:avLst/>
            <a:gdLst/>
            <a:ahLst/>
            <a:cxnLst/>
            <a:rect l="l" t="t" r="r" b="b"/>
            <a:pathLst>
              <a:path w="3733782" h="2760507">
                <a:moveTo>
                  <a:pt x="69510" y="0"/>
                </a:moveTo>
                <a:lnTo>
                  <a:pt x="3664272" y="0"/>
                </a:lnTo>
                <a:cubicBezTo>
                  <a:pt x="3702661" y="0"/>
                  <a:pt x="3733782" y="31120"/>
                  <a:pt x="3733782" y="69510"/>
                </a:cubicBezTo>
                <a:lnTo>
                  <a:pt x="3733782" y="2690998"/>
                </a:lnTo>
                <a:cubicBezTo>
                  <a:pt x="3733782" y="2729361"/>
                  <a:pt x="3702636" y="2760507"/>
                  <a:pt x="3664272" y="2760507"/>
                </a:cubicBezTo>
                <a:lnTo>
                  <a:pt x="69510" y="2760507"/>
                </a:lnTo>
                <a:cubicBezTo>
                  <a:pt x="31120" y="2760507"/>
                  <a:pt x="0" y="2729387"/>
                  <a:pt x="0" y="2690998"/>
                </a:cubicBezTo>
                <a:lnTo>
                  <a:pt x="0" y="69510"/>
                </a:lnTo>
                <a:cubicBezTo>
                  <a:pt x="0" y="31146"/>
                  <a:pt x="31146" y="0"/>
                  <a:pt x="6951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8467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4809" y="4269668"/>
            <a:ext cx="486637" cy="486637"/>
          </a:xfrm>
          <a:custGeom>
            <a:avLst/>
            <a:gdLst/>
            <a:ahLst/>
            <a:cxnLst/>
            <a:rect l="l" t="t" r="r" b="b"/>
            <a:pathLst>
              <a:path w="486637" h="486637">
                <a:moveTo>
                  <a:pt x="69521" y="0"/>
                </a:moveTo>
                <a:lnTo>
                  <a:pt x="417116" y="0"/>
                </a:lnTo>
                <a:cubicBezTo>
                  <a:pt x="455512" y="0"/>
                  <a:pt x="486637" y="31126"/>
                  <a:pt x="486637" y="69521"/>
                </a:cubicBezTo>
                <a:lnTo>
                  <a:pt x="486637" y="417116"/>
                </a:lnTo>
                <a:cubicBezTo>
                  <a:pt x="486637" y="455512"/>
                  <a:pt x="455512" y="486637"/>
                  <a:pt x="417116" y="486637"/>
                </a:cubicBezTo>
                <a:lnTo>
                  <a:pt x="69521" y="486637"/>
                </a:lnTo>
                <a:cubicBezTo>
                  <a:pt x="31126" y="486637"/>
                  <a:pt x="0" y="455512"/>
                  <a:pt x="0" y="417116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56883" y="4408707"/>
            <a:ext cx="182489" cy="208559"/>
          </a:xfrm>
          <a:custGeom>
            <a:avLst/>
            <a:gdLst/>
            <a:ahLst/>
            <a:cxnLst/>
            <a:rect l="l" t="t" r="r" b="b"/>
            <a:pathLst>
              <a:path w="182489" h="208559">
                <a:moveTo>
                  <a:pt x="182489" y="83831"/>
                </a:moveTo>
                <a:cubicBezTo>
                  <a:pt x="176460" y="87823"/>
                  <a:pt x="169535" y="91041"/>
                  <a:pt x="162326" y="93607"/>
                </a:cubicBezTo>
                <a:cubicBezTo>
                  <a:pt x="143181" y="100450"/>
                  <a:pt x="118048" y="104279"/>
                  <a:pt x="91244" y="104279"/>
                </a:cubicBezTo>
                <a:cubicBezTo>
                  <a:pt x="64441" y="104279"/>
                  <a:pt x="39268" y="100410"/>
                  <a:pt x="20163" y="93607"/>
                </a:cubicBezTo>
                <a:cubicBezTo>
                  <a:pt x="12994" y="91041"/>
                  <a:pt x="6029" y="87823"/>
                  <a:pt x="0" y="83831"/>
                </a:cubicBezTo>
                <a:lnTo>
                  <a:pt x="0" y="117314"/>
                </a:lnTo>
                <a:cubicBezTo>
                  <a:pt x="0" y="135319"/>
                  <a:pt x="40856" y="149902"/>
                  <a:pt x="91244" y="149902"/>
                </a:cubicBezTo>
                <a:cubicBezTo>
                  <a:pt x="141633" y="149902"/>
                  <a:pt x="182489" y="135319"/>
                  <a:pt x="182489" y="117314"/>
                </a:cubicBezTo>
                <a:lnTo>
                  <a:pt x="182489" y="83831"/>
                </a:lnTo>
                <a:close/>
                <a:moveTo>
                  <a:pt x="182489" y="52140"/>
                </a:moveTo>
                <a:lnTo>
                  <a:pt x="182489" y="32587"/>
                </a:lnTo>
                <a:cubicBezTo>
                  <a:pt x="182489" y="14583"/>
                  <a:pt x="141633" y="0"/>
                  <a:pt x="91244" y="0"/>
                </a:cubicBezTo>
                <a:cubicBezTo>
                  <a:pt x="40856" y="0"/>
                  <a:pt x="0" y="14583"/>
                  <a:pt x="0" y="32587"/>
                </a:cubicBezTo>
                <a:lnTo>
                  <a:pt x="0" y="52140"/>
                </a:lnTo>
                <a:cubicBezTo>
                  <a:pt x="0" y="70144"/>
                  <a:pt x="40856" y="84727"/>
                  <a:pt x="91244" y="84727"/>
                </a:cubicBezTo>
                <a:cubicBezTo>
                  <a:pt x="141633" y="84727"/>
                  <a:pt x="182489" y="70144"/>
                  <a:pt x="182489" y="52140"/>
                </a:cubicBezTo>
                <a:close/>
                <a:moveTo>
                  <a:pt x="162326" y="158782"/>
                </a:moveTo>
                <a:cubicBezTo>
                  <a:pt x="143221" y="165584"/>
                  <a:pt x="118088" y="169454"/>
                  <a:pt x="91244" y="169454"/>
                </a:cubicBezTo>
                <a:cubicBezTo>
                  <a:pt x="64401" y="169454"/>
                  <a:pt x="39268" y="165584"/>
                  <a:pt x="20163" y="158782"/>
                </a:cubicBezTo>
                <a:cubicBezTo>
                  <a:pt x="12994" y="156215"/>
                  <a:pt x="6029" y="152997"/>
                  <a:pt x="0" y="149005"/>
                </a:cubicBezTo>
                <a:lnTo>
                  <a:pt x="0" y="175971"/>
                </a:lnTo>
                <a:cubicBezTo>
                  <a:pt x="0" y="193976"/>
                  <a:pt x="40856" y="208559"/>
                  <a:pt x="91244" y="208559"/>
                </a:cubicBezTo>
                <a:cubicBezTo>
                  <a:pt x="141633" y="208559"/>
                  <a:pt x="182489" y="193976"/>
                  <a:pt x="182489" y="175971"/>
                </a:cubicBezTo>
                <a:lnTo>
                  <a:pt x="182489" y="149005"/>
                </a:lnTo>
                <a:cubicBezTo>
                  <a:pt x="176460" y="152997"/>
                  <a:pt x="169535" y="156215"/>
                  <a:pt x="162326" y="1587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4995726" y="4391327"/>
            <a:ext cx="1025414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04809" y="4895344"/>
            <a:ext cx="3380391" cy="834235"/>
          </a:xfrm>
          <a:custGeom>
            <a:avLst/>
            <a:gdLst/>
            <a:ahLst/>
            <a:cxnLst/>
            <a:rect l="l" t="t" r="r" b="b"/>
            <a:pathLst>
              <a:path w="3380391" h="834235">
                <a:moveTo>
                  <a:pt x="69517" y="0"/>
                </a:moveTo>
                <a:lnTo>
                  <a:pt x="3310874" y="0"/>
                </a:lnTo>
                <a:cubicBezTo>
                  <a:pt x="3349267" y="0"/>
                  <a:pt x="3380391" y="31124"/>
                  <a:pt x="3380391" y="69517"/>
                </a:cubicBezTo>
                <a:lnTo>
                  <a:pt x="3380391" y="764718"/>
                </a:lnTo>
                <a:cubicBezTo>
                  <a:pt x="3380391" y="803111"/>
                  <a:pt x="3349267" y="834235"/>
                  <a:pt x="3310874" y="834235"/>
                </a:cubicBezTo>
                <a:lnTo>
                  <a:pt x="69517" y="834235"/>
                </a:lnTo>
                <a:cubicBezTo>
                  <a:pt x="31124" y="834235"/>
                  <a:pt x="0" y="803111"/>
                  <a:pt x="0" y="764718"/>
                </a:cubicBezTo>
                <a:lnTo>
                  <a:pt x="0" y="69517"/>
                </a:lnTo>
                <a:cubicBezTo>
                  <a:pt x="0" y="31124"/>
                  <a:pt x="31124" y="0"/>
                  <a:pt x="6951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509089" y="4999624"/>
            <a:ext cx="324135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09089" y="5277702"/>
            <a:ext cx="323266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values, inconsistent formats, and outliers in raw dataset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07706" y="5836755"/>
            <a:ext cx="3377494" cy="840029"/>
          </a:xfrm>
          <a:custGeom>
            <a:avLst/>
            <a:gdLst/>
            <a:ahLst/>
            <a:cxnLst/>
            <a:rect l="l" t="t" r="r" b="b"/>
            <a:pathLst>
              <a:path w="3377494" h="840029">
                <a:moveTo>
                  <a:pt x="69521" y="0"/>
                </a:moveTo>
                <a:lnTo>
                  <a:pt x="3307973" y="0"/>
                </a:lnTo>
                <a:cubicBezTo>
                  <a:pt x="3346368" y="0"/>
                  <a:pt x="3377494" y="31126"/>
                  <a:pt x="3377494" y="69521"/>
                </a:cubicBezTo>
                <a:lnTo>
                  <a:pt x="3377494" y="770508"/>
                </a:lnTo>
                <a:cubicBezTo>
                  <a:pt x="3377494" y="808903"/>
                  <a:pt x="3346368" y="840029"/>
                  <a:pt x="3307973" y="840029"/>
                </a:cubicBezTo>
                <a:lnTo>
                  <a:pt x="69521" y="840029"/>
                </a:lnTo>
                <a:cubicBezTo>
                  <a:pt x="31151" y="840029"/>
                  <a:pt x="0" y="808877"/>
                  <a:pt x="0" y="770508"/>
                </a:cubicBezTo>
                <a:lnTo>
                  <a:pt x="0" y="69521"/>
                </a:lnTo>
                <a:cubicBezTo>
                  <a:pt x="0" y="31151"/>
                  <a:pt x="31151" y="0"/>
                  <a:pt x="6952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8467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14882" y="5943926"/>
            <a:ext cx="323266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514882" y="6222004"/>
            <a:ext cx="3223971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preprocessing pipeline with imputation, scaling, and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847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kern="0" spc="52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93525"/>
            <a:ext cx="1173036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6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Scope &amp;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484" y="1123851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100" y="1291478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4360" y="1423372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49460" y="-12365"/>
                </a:moveTo>
                <a:cubicBezTo>
                  <a:pt x="56300" y="-12365"/>
                  <a:pt x="61826" y="-6839"/>
                  <a:pt x="61826" y="0"/>
                </a:cubicBezTo>
                <a:lnTo>
                  <a:pt x="61826" y="37095"/>
                </a:lnTo>
                <a:lnTo>
                  <a:pt x="111286" y="37095"/>
                </a:lnTo>
                <a:lnTo>
                  <a:pt x="111286" y="0"/>
                </a:lnTo>
                <a:cubicBezTo>
                  <a:pt x="111286" y="-6839"/>
                  <a:pt x="116812" y="-12365"/>
                  <a:pt x="123651" y="-12365"/>
                </a:cubicBezTo>
                <a:cubicBezTo>
                  <a:pt x="130491" y="-12365"/>
                  <a:pt x="136016" y="-6839"/>
                  <a:pt x="136016" y="0"/>
                </a:cubicBezTo>
                <a:lnTo>
                  <a:pt x="136016" y="37095"/>
                </a:lnTo>
                <a:lnTo>
                  <a:pt x="160746" y="37095"/>
                </a:lnTo>
                <a:cubicBezTo>
                  <a:pt x="167586" y="37095"/>
                  <a:pt x="173112" y="42621"/>
                  <a:pt x="173112" y="49460"/>
                </a:cubicBezTo>
                <a:cubicBezTo>
                  <a:pt x="173112" y="56300"/>
                  <a:pt x="167586" y="61826"/>
                  <a:pt x="160746" y="61826"/>
                </a:cubicBezTo>
                <a:lnTo>
                  <a:pt x="160746" y="86556"/>
                </a:lnTo>
                <a:cubicBezTo>
                  <a:pt x="160746" y="123303"/>
                  <a:pt x="134007" y="153830"/>
                  <a:pt x="98921" y="159703"/>
                </a:cubicBezTo>
                <a:lnTo>
                  <a:pt x="98921" y="185477"/>
                </a:lnTo>
                <a:cubicBezTo>
                  <a:pt x="98921" y="192316"/>
                  <a:pt x="93395" y="197842"/>
                  <a:pt x="86556" y="197842"/>
                </a:cubicBezTo>
                <a:cubicBezTo>
                  <a:pt x="79716" y="197842"/>
                  <a:pt x="74191" y="192316"/>
                  <a:pt x="74191" y="185477"/>
                </a:cubicBezTo>
                <a:lnTo>
                  <a:pt x="74191" y="159703"/>
                </a:lnTo>
                <a:cubicBezTo>
                  <a:pt x="39105" y="153830"/>
                  <a:pt x="12365" y="123303"/>
                  <a:pt x="12365" y="86556"/>
                </a:cubicBezTo>
                <a:lnTo>
                  <a:pt x="12365" y="61826"/>
                </a:lnTo>
                <a:cubicBezTo>
                  <a:pt x="5526" y="61826"/>
                  <a:pt x="0" y="56300"/>
                  <a:pt x="0" y="49460"/>
                </a:cubicBezTo>
                <a:cubicBezTo>
                  <a:pt x="0" y="42621"/>
                  <a:pt x="5526" y="37095"/>
                  <a:pt x="12365" y="37095"/>
                </a:cubicBezTo>
                <a:lnTo>
                  <a:pt x="37095" y="37095"/>
                </a:lnTo>
                <a:lnTo>
                  <a:pt x="37095" y="0"/>
                </a:lnTo>
                <a:cubicBezTo>
                  <a:pt x="37095" y="-6839"/>
                  <a:pt x="42621" y="-12365"/>
                  <a:pt x="49460" y="-1236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060652" y="1390399"/>
            <a:ext cx="2324641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API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0100" y="1885003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with live order management systems via REST APIs for continuous prediction updates as order status changes.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100" y="2412581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9021" y="2511502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risk reassessment throughout order lifecycle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484" y="3080292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00" y="3247903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1995" y="3379797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89647" y="0"/>
                </a:moveTo>
                <a:cubicBezTo>
                  <a:pt x="149386" y="0"/>
                  <a:pt x="197842" y="48456"/>
                  <a:pt x="197842" y="108195"/>
                </a:cubicBezTo>
                <a:cubicBezTo>
                  <a:pt x="197842" y="113334"/>
                  <a:pt x="193707" y="117469"/>
                  <a:pt x="188568" y="117469"/>
                </a:cubicBezTo>
                <a:cubicBezTo>
                  <a:pt x="183429" y="117469"/>
                  <a:pt x="179294" y="113334"/>
                  <a:pt x="179294" y="108195"/>
                </a:cubicBezTo>
                <a:cubicBezTo>
                  <a:pt x="179294" y="58696"/>
                  <a:pt x="139146" y="18548"/>
                  <a:pt x="89647" y="18548"/>
                </a:cubicBezTo>
                <a:cubicBezTo>
                  <a:pt x="84508" y="18548"/>
                  <a:pt x="80373" y="14413"/>
                  <a:pt x="80373" y="9274"/>
                </a:cubicBezTo>
                <a:cubicBezTo>
                  <a:pt x="80373" y="4135"/>
                  <a:pt x="84508" y="0"/>
                  <a:pt x="89647" y="0"/>
                </a:cubicBezTo>
                <a:close/>
                <a:moveTo>
                  <a:pt x="80373" y="46369"/>
                </a:moveTo>
                <a:cubicBezTo>
                  <a:pt x="80373" y="41230"/>
                  <a:pt x="84508" y="37095"/>
                  <a:pt x="89647" y="37095"/>
                </a:cubicBezTo>
                <a:cubicBezTo>
                  <a:pt x="128906" y="37095"/>
                  <a:pt x="160746" y="68935"/>
                  <a:pt x="160746" y="108195"/>
                </a:cubicBezTo>
                <a:cubicBezTo>
                  <a:pt x="160746" y="113334"/>
                  <a:pt x="156612" y="117469"/>
                  <a:pt x="151473" y="117469"/>
                </a:cubicBezTo>
                <a:cubicBezTo>
                  <a:pt x="146333" y="117469"/>
                  <a:pt x="142199" y="113334"/>
                  <a:pt x="142199" y="108195"/>
                </a:cubicBezTo>
                <a:cubicBezTo>
                  <a:pt x="142199" y="79175"/>
                  <a:pt x="118666" y="55643"/>
                  <a:pt x="89647" y="55643"/>
                </a:cubicBezTo>
                <a:cubicBezTo>
                  <a:pt x="84508" y="55643"/>
                  <a:pt x="80373" y="51508"/>
                  <a:pt x="80373" y="46369"/>
                </a:cubicBezTo>
                <a:close/>
                <a:moveTo>
                  <a:pt x="10201" y="55141"/>
                </a:moveTo>
                <a:cubicBezTo>
                  <a:pt x="13602" y="48224"/>
                  <a:pt x="22721" y="47451"/>
                  <a:pt x="28169" y="52899"/>
                </a:cubicBezTo>
                <a:lnTo>
                  <a:pt x="77823" y="102553"/>
                </a:lnTo>
                <a:lnTo>
                  <a:pt x="90188" y="90188"/>
                </a:lnTo>
                <a:cubicBezTo>
                  <a:pt x="95018" y="85358"/>
                  <a:pt x="102862" y="85358"/>
                  <a:pt x="107692" y="90188"/>
                </a:cubicBezTo>
                <a:cubicBezTo>
                  <a:pt x="112523" y="95018"/>
                  <a:pt x="112523" y="102862"/>
                  <a:pt x="107692" y="107692"/>
                </a:cubicBezTo>
                <a:lnTo>
                  <a:pt x="95327" y="120058"/>
                </a:lnTo>
                <a:lnTo>
                  <a:pt x="144981" y="169711"/>
                </a:lnTo>
                <a:cubicBezTo>
                  <a:pt x="150429" y="175160"/>
                  <a:pt x="149618" y="184240"/>
                  <a:pt x="142740" y="187679"/>
                </a:cubicBezTo>
                <a:cubicBezTo>
                  <a:pt x="129525" y="194210"/>
                  <a:pt x="114686" y="197880"/>
                  <a:pt x="98960" y="197880"/>
                </a:cubicBezTo>
                <a:cubicBezTo>
                  <a:pt x="44321" y="197880"/>
                  <a:pt x="39" y="153598"/>
                  <a:pt x="39" y="98960"/>
                </a:cubicBezTo>
                <a:cubicBezTo>
                  <a:pt x="39" y="83233"/>
                  <a:pt x="3710" y="68356"/>
                  <a:pt x="10240" y="5517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652" y="3346824"/>
            <a:ext cx="225045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Tracking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0100" y="3841428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GPS tracking data and real-time carrier updates to refine predictions during transit.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0100" y="4369006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9021" y="4467927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Mid-delivery intervention opportunities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2484" y="5036733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100" y="5204343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1995" y="5336238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46369" y="21639"/>
                </a:moveTo>
                <a:cubicBezTo>
                  <a:pt x="46369" y="9699"/>
                  <a:pt x="56068" y="0"/>
                  <a:pt x="68008" y="0"/>
                </a:cubicBezTo>
                <a:lnTo>
                  <a:pt x="77282" y="0"/>
                </a:lnTo>
                <a:cubicBezTo>
                  <a:pt x="84121" y="0"/>
                  <a:pt x="89647" y="5526"/>
                  <a:pt x="89647" y="12365"/>
                </a:cubicBezTo>
                <a:lnTo>
                  <a:pt x="89647" y="185477"/>
                </a:lnTo>
                <a:cubicBezTo>
                  <a:pt x="89647" y="192316"/>
                  <a:pt x="84121" y="197842"/>
                  <a:pt x="77282" y="197842"/>
                </a:cubicBezTo>
                <a:lnTo>
                  <a:pt x="64917" y="197842"/>
                </a:lnTo>
                <a:cubicBezTo>
                  <a:pt x="53402" y="197842"/>
                  <a:pt x="43703" y="189959"/>
                  <a:pt x="40959" y="179294"/>
                </a:cubicBezTo>
                <a:cubicBezTo>
                  <a:pt x="40689" y="179294"/>
                  <a:pt x="40457" y="179294"/>
                  <a:pt x="40187" y="179294"/>
                </a:cubicBezTo>
                <a:cubicBezTo>
                  <a:pt x="23107" y="179294"/>
                  <a:pt x="9274" y="165461"/>
                  <a:pt x="9274" y="148381"/>
                </a:cubicBezTo>
                <a:cubicBezTo>
                  <a:pt x="9274" y="141426"/>
                  <a:pt x="11592" y="135012"/>
                  <a:pt x="15456" y="129834"/>
                </a:cubicBezTo>
                <a:cubicBezTo>
                  <a:pt x="7960" y="124192"/>
                  <a:pt x="3091" y="115227"/>
                  <a:pt x="3091" y="105103"/>
                </a:cubicBezTo>
                <a:cubicBezTo>
                  <a:pt x="3091" y="93163"/>
                  <a:pt x="9892" y="82769"/>
                  <a:pt x="19784" y="77630"/>
                </a:cubicBezTo>
                <a:cubicBezTo>
                  <a:pt x="17041" y="72993"/>
                  <a:pt x="15456" y="67583"/>
                  <a:pt x="15456" y="61826"/>
                </a:cubicBezTo>
                <a:cubicBezTo>
                  <a:pt x="15456" y="44746"/>
                  <a:pt x="29290" y="30913"/>
                  <a:pt x="46369" y="30913"/>
                </a:cubicBezTo>
                <a:lnTo>
                  <a:pt x="46369" y="21639"/>
                </a:lnTo>
                <a:close/>
                <a:moveTo>
                  <a:pt x="151473" y="21639"/>
                </a:moveTo>
                <a:lnTo>
                  <a:pt x="151473" y="30913"/>
                </a:lnTo>
                <a:cubicBezTo>
                  <a:pt x="168552" y="30913"/>
                  <a:pt x="182385" y="44746"/>
                  <a:pt x="182385" y="61826"/>
                </a:cubicBezTo>
                <a:cubicBezTo>
                  <a:pt x="182385" y="67622"/>
                  <a:pt x="180801" y="73031"/>
                  <a:pt x="178058" y="77630"/>
                </a:cubicBezTo>
                <a:cubicBezTo>
                  <a:pt x="187988" y="82769"/>
                  <a:pt x="194751" y="93125"/>
                  <a:pt x="194751" y="105103"/>
                </a:cubicBezTo>
                <a:cubicBezTo>
                  <a:pt x="194751" y="115227"/>
                  <a:pt x="189882" y="124192"/>
                  <a:pt x="182385" y="129834"/>
                </a:cubicBezTo>
                <a:cubicBezTo>
                  <a:pt x="186249" y="135012"/>
                  <a:pt x="188568" y="141426"/>
                  <a:pt x="188568" y="148381"/>
                </a:cubicBezTo>
                <a:cubicBezTo>
                  <a:pt x="188568" y="165461"/>
                  <a:pt x="174734" y="179294"/>
                  <a:pt x="157655" y="179294"/>
                </a:cubicBezTo>
                <a:cubicBezTo>
                  <a:pt x="157385" y="179294"/>
                  <a:pt x="157153" y="179294"/>
                  <a:pt x="156882" y="179294"/>
                </a:cubicBezTo>
                <a:cubicBezTo>
                  <a:pt x="154139" y="189959"/>
                  <a:pt x="144440" y="197842"/>
                  <a:pt x="132925" y="197842"/>
                </a:cubicBezTo>
                <a:lnTo>
                  <a:pt x="120560" y="197842"/>
                </a:lnTo>
                <a:cubicBezTo>
                  <a:pt x="113720" y="197842"/>
                  <a:pt x="108195" y="192316"/>
                  <a:pt x="108195" y="185477"/>
                </a:cubicBezTo>
                <a:lnTo>
                  <a:pt x="108195" y="12365"/>
                </a:lnTo>
                <a:cubicBezTo>
                  <a:pt x="108195" y="5526"/>
                  <a:pt x="113720" y="0"/>
                  <a:pt x="120560" y="0"/>
                </a:cubicBezTo>
                <a:lnTo>
                  <a:pt x="129834" y="0"/>
                </a:lnTo>
                <a:cubicBezTo>
                  <a:pt x="141774" y="0"/>
                  <a:pt x="151473" y="9699"/>
                  <a:pt x="151473" y="2163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652" y="5303264"/>
            <a:ext cx="228342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Deep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0100" y="5797869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LSTM networks and Transformer architectures for temporal pattern recognition in delivery sequences.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100" y="6325447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9021" y="6424368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 3-5% accuracy improvement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1612" y="1123851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9227" y="1291478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81122" y="1423372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98921" y="197842"/>
                </a:moveTo>
                <a:cubicBezTo>
                  <a:pt x="153517" y="197842"/>
                  <a:pt x="197842" y="153517"/>
                  <a:pt x="197842" y="98921"/>
                </a:cubicBezTo>
                <a:cubicBezTo>
                  <a:pt x="197842" y="44325"/>
                  <a:pt x="153517" y="0"/>
                  <a:pt x="98921" y="0"/>
                </a:cubicBezTo>
                <a:cubicBezTo>
                  <a:pt x="44325" y="0"/>
                  <a:pt x="0" y="44325"/>
                  <a:pt x="0" y="98921"/>
                </a:cubicBezTo>
                <a:cubicBezTo>
                  <a:pt x="0" y="153517"/>
                  <a:pt x="44325" y="197842"/>
                  <a:pt x="98921" y="197842"/>
                </a:cubicBezTo>
                <a:close/>
                <a:moveTo>
                  <a:pt x="89647" y="132925"/>
                </a:moveTo>
                <a:lnTo>
                  <a:pt x="89647" y="108195"/>
                </a:lnTo>
                <a:lnTo>
                  <a:pt x="64917" y="108195"/>
                </a:lnTo>
                <a:cubicBezTo>
                  <a:pt x="59778" y="108195"/>
                  <a:pt x="55643" y="104060"/>
                  <a:pt x="55643" y="98921"/>
                </a:cubicBezTo>
                <a:cubicBezTo>
                  <a:pt x="55643" y="93782"/>
                  <a:pt x="59778" y="89647"/>
                  <a:pt x="64917" y="89647"/>
                </a:cubicBezTo>
                <a:lnTo>
                  <a:pt x="89647" y="89647"/>
                </a:lnTo>
                <a:lnTo>
                  <a:pt x="89647" y="64917"/>
                </a:lnTo>
                <a:cubicBezTo>
                  <a:pt x="89647" y="59778"/>
                  <a:pt x="93782" y="55643"/>
                  <a:pt x="98921" y="55643"/>
                </a:cubicBezTo>
                <a:cubicBezTo>
                  <a:pt x="104060" y="55643"/>
                  <a:pt x="108195" y="59778"/>
                  <a:pt x="108195" y="64917"/>
                </a:cubicBezTo>
                <a:lnTo>
                  <a:pt x="108195" y="89647"/>
                </a:lnTo>
                <a:lnTo>
                  <a:pt x="132925" y="89647"/>
                </a:lnTo>
                <a:cubicBezTo>
                  <a:pt x="138064" y="89647"/>
                  <a:pt x="142199" y="93782"/>
                  <a:pt x="142199" y="98921"/>
                </a:cubicBezTo>
                <a:cubicBezTo>
                  <a:pt x="142199" y="104060"/>
                  <a:pt x="138064" y="108195"/>
                  <a:pt x="132925" y="108195"/>
                </a:cubicBezTo>
                <a:lnTo>
                  <a:pt x="108195" y="108195"/>
                </a:lnTo>
                <a:lnTo>
                  <a:pt x="108195" y="132925"/>
                </a:lnTo>
                <a:cubicBezTo>
                  <a:pt x="108195" y="138064"/>
                  <a:pt x="104060" y="142199"/>
                  <a:pt x="98921" y="142199"/>
                </a:cubicBezTo>
                <a:cubicBezTo>
                  <a:pt x="93782" y="142199"/>
                  <a:pt x="89647" y="138064"/>
                  <a:pt x="89647" y="1329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6909779" y="1390399"/>
            <a:ext cx="2011391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Expanded Feature Set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49227" y="1885003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external data sources: weather forecasts, traffic patterns, carrier capacity, and seasonal demand fluctuations.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9227" y="2412581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8148" y="2511502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Enhanced prediction accuracy with contextual data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1612" y="3080292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9227" y="3247903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05852" y="3379797"/>
            <a:ext cx="148381" cy="197842"/>
          </a:xfrm>
          <a:custGeom>
            <a:avLst/>
            <a:gdLst/>
            <a:ahLst/>
            <a:cxnLst/>
            <a:rect l="l" t="t" r="r" b="b"/>
            <a:pathLst>
              <a:path w="148381" h="197842">
                <a:moveTo>
                  <a:pt x="6183" y="24730"/>
                </a:moveTo>
                <a:cubicBezTo>
                  <a:pt x="6183" y="11090"/>
                  <a:pt x="17273" y="0"/>
                  <a:pt x="30913" y="0"/>
                </a:cubicBezTo>
                <a:lnTo>
                  <a:pt x="117469" y="0"/>
                </a:lnTo>
                <a:cubicBezTo>
                  <a:pt x="131109" y="0"/>
                  <a:pt x="142199" y="11090"/>
                  <a:pt x="142199" y="24730"/>
                </a:cubicBezTo>
                <a:lnTo>
                  <a:pt x="142199" y="173112"/>
                </a:lnTo>
                <a:cubicBezTo>
                  <a:pt x="142199" y="186752"/>
                  <a:pt x="131109" y="197842"/>
                  <a:pt x="117469" y="197842"/>
                </a:cubicBezTo>
                <a:lnTo>
                  <a:pt x="30913" y="197842"/>
                </a:lnTo>
                <a:cubicBezTo>
                  <a:pt x="17273" y="197842"/>
                  <a:pt x="6183" y="186752"/>
                  <a:pt x="6183" y="173112"/>
                </a:cubicBezTo>
                <a:lnTo>
                  <a:pt x="6183" y="24730"/>
                </a:lnTo>
                <a:close/>
                <a:moveTo>
                  <a:pt x="30913" y="24730"/>
                </a:moveTo>
                <a:lnTo>
                  <a:pt x="30913" y="142199"/>
                </a:lnTo>
                <a:lnTo>
                  <a:pt x="117469" y="142199"/>
                </a:lnTo>
                <a:lnTo>
                  <a:pt x="117469" y="24730"/>
                </a:lnTo>
                <a:lnTo>
                  <a:pt x="30913" y="24730"/>
                </a:lnTo>
                <a:close/>
                <a:moveTo>
                  <a:pt x="74191" y="182385"/>
                </a:moveTo>
                <a:cubicBezTo>
                  <a:pt x="81030" y="182385"/>
                  <a:pt x="86556" y="176860"/>
                  <a:pt x="86556" y="170020"/>
                </a:cubicBezTo>
                <a:cubicBezTo>
                  <a:pt x="86556" y="163181"/>
                  <a:pt x="81030" y="157655"/>
                  <a:pt x="74191" y="157655"/>
                </a:cubicBezTo>
                <a:cubicBezTo>
                  <a:pt x="67351" y="157655"/>
                  <a:pt x="61826" y="163181"/>
                  <a:pt x="61826" y="170020"/>
                </a:cubicBezTo>
                <a:cubicBezTo>
                  <a:pt x="61826" y="176860"/>
                  <a:pt x="67351" y="182385"/>
                  <a:pt x="74191" y="18238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6909779" y="3346824"/>
            <a:ext cx="1731116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49227" y="3841428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iOS/Android apps for logistics managers to monitor and intervene on at-risk deliveries from anywhere.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9227" y="4369006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8148" y="4467927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Increased accessibility and response speed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1612" y="5036733"/>
            <a:ext cx="5676960" cy="1819045"/>
          </a:xfrm>
          <a:custGeom>
            <a:avLst/>
            <a:gdLst/>
            <a:ahLst/>
            <a:cxnLst/>
            <a:rect l="l" t="t" r="r" b="b"/>
            <a:pathLst>
              <a:path w="5676960" h="1819045">
                <a:moveTo>
                  <a:pt x="65940" y="0"/>
                </a:moveTo>
                <a:lnTo>
                  <a:pt x="5611020" y="0"/>
                </a:lnTo>
                <a:cubicBezTo>
                  <a:pt x="5647413" y="0"/>
                  <a:pt x="5676960" y="29547"/>
                  <a:pt x="5676960" y="65940"/>
                </a:cubicBezTo>
                <a:lnTo>
                  <a:pt x="5676960" y="1753105"/>
                </a:lnTo>
                <a:cubicBezTo>
                  <a:pt x="5676960" y="1789498"/>
                  <a:pt x="5647413" y="1819045"/>
                  <a:pt x="5611020" y="1819045"/>
                </a:cubicBezTo>
                <a:lnTo>
                  <a:pt x="65940" y="1819045"/>
                </a:lnTo>
                <a:cubicBezTo>
                  <a:pt x="29547" y="1819045"/>
                  <a:pt x="0" y="1789498"/>
                  <a:pt x="0" y="1753105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9227" y="5204343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65949" y="0"/>
                </a:moveTo>
                <a:lnTo>
                  <a:pt x="395682" y="0"/>
                </a:lnTo>
                <a:cubicBezTo>
                  <a:pt x="432080" y="0"/>
                  <a:pt x="461631" y="29551"/>
                  <a:pt x="461631" y="65949"/>
                </a:cubicBezTo>
                <a:lnTo>
                  <a:pt x="461631" y="395682"/>
                </a:lnTo>
                <a:cubicBezTo>
                  <a:pt x="461631" y="432105"/>
                  <a:pt x="432105" y="461631"/>
                  <a:pt x="395682" y="461631"/>
                </a:cubicBezTo>
                <a:lnTo>
                  <a:pt x="65949" y="461631"/>
                </a:lnTo>
                <a:cubicBezTo>
                  <a:pt x="29551" y="461631"/>
                  <a:pt x="0" y="432080"/>
                  <a:pt x="0" y="395682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81122" y="5336238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85515" y="74191"/>
                </a:moveTo>
                <a:lnTo>
                  <a:pt x="188568" y="74191"/>
                </a:lnTo>
                <a:cubicBezTo>
                  <a:pt x="193707" y="74191"/>
                  <a:pt x="197842" y="70056"/>
                  <a:pt x="197842" y="64917"/>
                </a:cubicBezTo>
                <a:lnTo>
                  <a:pt x="197842" y="9274"/>
                </a:lnTo>
                <a:cubicBezTo>
                  <a:pt x="197842" y="5526"/>
                  <a:pt x="195601" y="2125"/>
                  <a:pt x="192123" y="696"/>
                </a:cubicBezTo>
                <a:cubicBezTo>
                  <a:pt x="188645" y="-734"/>
                  <a:pt x="184665" y="77"/>
                  <a:pt x="181999" y="2705"/>
                </a:cubicBezTo>
                <a:lnTo>
                  <a:pt x="162022" y="22721"/>
                </a:lnTo>
                <a:cubicBezTo>
                  <a:pt x="144904" y="8540"/>
                  <a:pt x="122878" y="0"/>
                  <a:pt x="98921" y="0"/>
                </a:cubicBezTo>
                <a:cubicBezTo>
                  <a:pt x="49074" y="0"/>
                  <a:pt x="7844" y="36863"/>
                  <a:pt x="1005" y="84817"/>
                </a:cubicBezTo>
                <a:cubicBezTo>
                  <a:pt x="39" y="91579"/>
                  <a:pt x="4714" y="97839"/>
                  <a:pt x="11476" y="98805"/>
                </a:cubicBezTo>
                <a:cubicBezTo>
                  <a:pt x="18239" y="99771"/>
                  <a:pt x="24498" y="95057"/>
                  <a:pt x="25464" y="88333"/>
                </a:cubicBezTo>
                <a:cubicBezTo>
                  <a:pt x="30604" y="52359"/>
                  <a:pt x="61555" y="24730"/>
                  <a:pt x="98921" y="24730"/>
                </a:cubicBezTo>
                <a:cubicBezTo>
                  <a:pt x="116077" y="24730"/>
                  <a:pt x="131843" y="30526"/>
                  <a:pt x="144401" y="40303"/>
                </a:cubicBezTo>
                <a:lnTo>
                  <a:pt x="126356" y="58348"/>
                </a:lnTo>
                <a:cubicBezTo>
                  <a:pt x="123690" y="61014"/>
                  <a:pt x="122917" y="64994"/>
                  <a:pt x="124347" y="68472"/>
                </a:cubicBezTo>
                <a:cubicBezTo>
                  <a:pt x="125776" y="71949"/>
                  <a:pt x="129177" y="74191"/>
                  <a:pt x="132925" y="74191"/>
                </a:cubicBezTo>
                <a:lnTo>
                  <a:pt x="185515" y="74191"/>
                </a:lnTo>
                <a:close/>
                <a:moveTo>
                  <a:pt x="196876" y="113025"/>
                </a:moveTo>
                <a:cubicBezTo>
                  <a:pt x="197842" y="106263"/>
                  <a:pt x="193128" y="100003"/>
                  <a:pt x="186404" y="99037"/>
                </a:cubicBezTo>
                <a:cubicBezTo>
                  <a:pt x="179681" y="98071"/>
                  <a:pt x="173382" y="102785"/>
                  <a:pt x="172416" y="109509"/>
                </a:cubicBezTo>
                <a:cubicBezTo>
                  <a:pt x="167277" y="145445"/>
                  <a:pt x="136325" y="173073"/>
                  <a:pt x="98960" y="173073"/>
                </a:cubicBezTo>
                <a:cubicBezTo>
                  <a:pt x="81803" y="173073"/>
                  <a:pt x="66037" y="167277"/>
                  <a:pt x="53479" y="157501"/>
                </a:cubicBezTo>
                <a:lnTo>
                  <a:pt x="71486" y="139494"/>
                </a:lnTo>
                <a:cubicBezTo>
                  <a:pt x="74152" y="136828"/>
                  <a:pt x="74925" y="132848"/>
                  <a:pt x="73495" y="129370"/>
                </a:cubicBezTo>
                <a:cubicBezTo>
                  <a:pt x="72065" y="125892"/>
                  <a:pt x="68665" y="123651"/>
                  <a:pt x="64917" y="123651"/>
                </a:cubicBezTo>
                <a:lnTo>
                  <a:pt x="9274" y="123651"/>
                </a:lnTo>
                <a:cubicBezTo>
                  <a:pt x="4135" y="123651"/>
                  <a:pt x="0" y="127786"/>
                  <a:pt x="0" y="132925"/>
                </a:cubicBezTo>
                <a:lnTo>
                  <a:pt x="0" y="188568"/>
                </a:lnTo>
                <a:cubicBezTo>
                  <a:pt x="0" y="192316"/>
                  <a:pt x="2241" y="195717"/>
                  <a:pt x="5719" y="197146"/>
                </a:cubicBezTo>
                <a:cubicBezTo>
                  <a:pt x="9197" y="198576"/>
                  <a:pt x="13177" y="197765"/>
                  <a:pt x="15843" y="195137"/>
                </a:cubicBezTo>
                <a:lnTo>
                  <a:pt x="35859" y="175121"/>
                </a:lnTo>
                <a:cubicBezTo>
                  <a:pt x="52938" y="189302"/>
                  <a:pt x="74963" y="197842"/>
                  <a:pt x="98921" y="197842"/>
                </a:cubicBezTo>
                <a:cubicBezTo>
                  <a:pt x="148768" y="197842"/>
                  <a:pt x="189998" y="160978"/>
                  <a:pt x="196837" y="1130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6909779" y="5303264"/>
            <a:ext cx="200314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Retraining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49227" y="5797869"/>
            <a:ext cx="540767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MLOps pipeline for automatic model retraining when performance degrades or new data becomes available.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9227" y="6325447"/>
            <a:ext cx="5341728" cy="362710"/>
          </a:xfrm>
          <a:custGeom>
            <a:avLst/>
            <a:gdLst/>
            <a:ahLst/>
            <a:cxnLst/>
            <a:rect l="l" t="t" r="r" b="b"/>
            <a:pathLst>
              <a:path w="5341728" h="362710">
                <a:moveTo>
                  <a:pt x="65948" y="0"/>
                </a:moveTo>
                <a:lnTo>
                  <a:pt x="5275780" y="0"/>
                </a:lnTo>
                <a:cubicBezTo>
                  <a:pt x="5312202" y="0"/>
                  <a:pt x="5341728" y="29526"/>
                  <a:pt x="5341728" y="65948"/>
                </a:cubicBezTo>
                <a:lnTo>
                  <a:pt x="5341728" y="296762"/>
                </a:lnTo>
                <a:cubicBezTo>
                  <a:pt x="5341728" y="333184"/>
                  <a:pt x="5312202" y="362710"/>
                  <a:pt x="5275780" y="362710"/>
                </a:cubicBezTo>
                <a:lnTo>
                  <a:pt x="65948" y="362710"/>
                </a:lnTo>
                <a:cubicBezTo>
                  <a:pt x="29550" y="362710"/>
                  <a:pt x="0" y="333160"/>
                  <a:pt x="0" y="296762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48148" y="6424368"/>
            <a:ext cx="520159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model improvement without manual intervention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5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 &amp;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336" y="1204475"/>
            <a:ext cx="6207907" cy="3151072"/>
          </a:xfrm>
          <a:custGeom>
            <a:avLst/>
            <a:gdLst/>
            <a:ahLst/>
            <a:cxnLst/>
            <a:rect l="l" t="t" r="r" b="b"/>
            <a:pathLst>
              <a:path w="6207907" h="3151072">
                <a:moveTo>
                  <a:pt x="70679" y="0"/>
                </a:moveTo>
                <a:lnTo>
                  <a:pt x="6137229" y="0"/>
                </a:lnTo>
                <a:cubicBezTo>
                  <a:pt x="6176263" y="0"/>
                  <a:pt x="6207907" y="31644"/>
                  <a:pt x="6207907" y="70679"/>
                </a:cubicBezTo>
                <a:lnTo>
                  <a:pt x="6207907" y="3080394"/>
                </a:lnTo>
                <a:cubicBezTo>
                  <a:pt x="6207907" y="3119429"/>
                  <a:pt x="6176263" y="3151072"/>
                  <a:pt x="6137229" y="3151072"/>
                </a:cubicBezTo>
                <a:lnTo>
                  <a:pt x="70679" y="3151072"/>
                </a:lnTo>
                <a:cubicBezTo>
                  <a:pt x="31644" y="3151072"/>
                  <a:pt x="0" y="3119429"/>
                  <a:pt x="0" y="3080394"/>
                </a:cubicBezTo>
                <a:lnTo>
                  <a:pt x="0" y="70679"/>
                </a:lnTo>
                <a:cubicBezTo>
                  <a:pt x="0" y="31670"/>
                  <a:pt x="31670" y="0"/>
                  <a:pt x="7067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7820" y="1454806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212035"/>
                </a:moveTo>
                <a:cubicBezTo>
                  <a:pt x="164530" y="212035"/>
                  <a:pt x="212035" y="164530"/>
                  <a:pt x="212035" y="106017"/>
                </a:cubicBezTo>
                <a:cubicBezTo>
                  <a:pt x="212035" y="47505"/>
                  <a:pt x="164530" y="0"/>
                  <a:pt x="106017" y="0"/>
                </a:cubicBezTo>
                <a:cubicBezTo>
                  <a:pt x="47505" y="0"/>
                  <a:pt x="0" y="47505"/>
                  <a:pt x="0" y="106017"/>
                </a:cubicBezTo>
                <a:cubicBezTo>
                  <a:pt x="0" y="164530"/>
                  <a:pt x="47505" y="212035"/>
                  <a:pt x="106017" y="212035"/>
                </a:cubicBezTo>
                <a:close/>
                <a:moveTo>
                  <a:pt x="140970" y="88086"/>
                </a:moveTo>
                <a:lnTo>
                  <a:pt x="107840" y="141094"/>
                </a:lnTo>
                <a:cubicBezTo>
                  <a:pt x="106100" y="143869"/>
                  <a:pt x="103118" y="145608"/>
                  <a:pt x="99847" y="145774"/>
                </a:cubicBezTo>
                <a:cubicBezTo>
                  <a:pt x="96575" y="145940"/>
                  <a:pt x="93428" y="144449"/>
                  <a:pt x="91481" y="141798"/>
                </a:cubicBezTo>
                <a:lnTo>
                  <a:pt x="71603" y="115294"/>
                </a:lnTo>
                <a:cubicBezTo>
                  <a:pt x="68290" y="110904"/>
                  <a:pt x="69201" y="104692"/>
                  <a:pt x="73591" y="101379"/>
                </a:cubicBezTo>
                <a:cubicBezTo>
                  <a:pt x="77981" y="98066"/>
                  <a:pt x="84193" y="98977"/>
                  <a:pt x="87506" y="103367"/>
                </a:cubicBezTo>
                <a:lnTo>
                  <a:pt x="98687" y="118276"/>
                </a:lnTo>
                <a:lnTo>
                  <a:pt x="124115" y="77567"/>
                </a:lnTo>
                <a:cubicBezTo>
                  <a:pt x="127014" y="72928"/>
                  <a:pt x="133143" y="71479"/>
                  <a:pt x="137823" y="74419"/>
                </a:cubicBezTo>
                <a:cubicBezTo>
                  <a:pt x="142502" y="77360"/>
                  <a:pt x="143910" y="83447"/>
                  <a:pt x="140970" y="8812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836359" y="1419467"/>
            <a:ext cx="5618922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316" y="1843536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1994" y="1914214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39839" y="0"/>
                </a:moveTo>
                <a:lnTo>
                  <a:pt x="101683" y="0"/>
                </a:lnTo>
                <a:cubicBezTo>
                  <a:pt x="108999" y="0"/>
                  <a:pt x="114963" y="6019"/>
                  <a:pt x="114687" y="13307"/>
                </a:cubicBezTo>
                <a:cubicBezTo>
                  <a:pt x="114631" y="14771"/>
                  <a:pt x="114576" y="16234"/>
                  <a:pt x="114493" y="17670"/>
                </a:cubicBezTo>
                <a:lnTo>
                  <a:pt x="128187" y="17670"/>
                </a:lnTo>
                <a:cubicBezTo>
                  <a:pt x="135393" y="17670"/>
                  <a:pt x="141743" y="23633"/>
                  <a:pt x="141191" y="31419"/>
                </a:cubicBezTo>
                <a:cubicBezTo>
                  <a:pt x="139120" y="60049"/>
                  <a:pt x="124488" y="75786"/>
                  <a:pt x="108613" y="84013"/>
                </a:cubicBezTo>
                <a:cubicBezTo>
                  <a:pt x="104250" y="86277"/>
                  <a:pt x="99805" y="87961"/>
                  <a:pt x="95581" y="89204"/>
                </a:cubicBezTo>
                <a:cubicBezTo>
                  <a:pt x="90004" y="97100"/>
                  <a:pt x="84207" y="101269"/>
                  <a:pt x="79596" y="103505"/>
                </a:cubicBezTo>
                <a:lnTo>
                  <a:pt x="79596" y="123687"/>
                </a:lnTo>
                <a:lnTo>
                  <a:pt x="97265" y="123687"/>
                </a:lnTo>
                <a:cubicBezTo>
                  <a:pt x="102152" y="123687"/>
                  <a:pt x="106100" y="127635"/>
                  <a:pt x="106100" y="132522"/>
                </a:cubicBezTo>
                <a:cubicBezTo>
                  <a:pt x="106100" y="137408"/>
                  <a:pt x="102152" y="141357"/>
                  <a:pt x="97265" y="141357"/>
                </a:cubicBezTo>
                <a:lnTo>
                  <a:pt x="44257" y="141357"/>
                </a:lnTo>
                <a:cubicBezTo>
                  <a:pt x="39370" y="141357"/>
                  <a:pt x="35422" y="137408"/>
                  <a:pt x="35422" y="132522"/>
                </a:cubicBezTo>
                <a:cubicBezTo>
                  <a:pt x="35422" y="127635"/>
                  <a:pt x="39370" y="123687"/>
                  <a:pt x="44257" y="123687"/>
                </a:cubicBezTo>
                <a:lnTo>
                  <a:pt x="61926" y="123687"/>
                </a:lnTo>
                <a:lnTo>
                  <a:pt x="61926" y="103505"/>
                </a:lnTo>
                <a:cubicBezTo>
                  <a:pt x="57509" y="101379"/>
                  <a:pt x="52015" y="97431"/>
                  <a:pt x="46659" y="90170"/>
                </a:cubicBezTo>
                <a:cubicBezTo>
                  <a:pt x="41579" y="88845"/>
                  <a:pt x="36057" y="86829"/>
                  <a:pt x="30673" y="83792"/>
                </a:cubicBezTo>
                <a:cubicBezTo>
                  <a:pt x="15737" y="75427"/>
                  <a:pt x="2264" y="59662"/>
                  <a:pt x="331" y="31363"/>
                </a:cubicBezTo>
                <a:cubicBezTo>
                  <a:pt x="-193" y="23605"/>
                  <a:pt x="6129" y="17642"/>
                  <a:pt x="13335" y="17642"/>
                </a:cubicBezTo>
                <a:lnTo>
                  <a:pt x="27029" y="17642"/>
                </a:lnTo>
                <a:cubicBezTo>
                  <a:pt x="26946" y="16206"/>
                  <a:pt x="26891" y="14771"/>
                  <a:pt x="26836" y="13280"/>
                </a:cubicBezTo>
                <a:cubicBezTo>
                  <a:pt x="26560" y="5963"/>
                  <a:pt x="32523" y="-28"/>
                  <a:pt x="39839" y="-28"/>
                </a:cubicBezTo>
                <a:close/>
                <a:moveTo>
                  <a:pt x="28023" y="30922"/>
                </a:moveTo>
                <a:lnTo>
                  <a:pt x="13556" y="30922"/>
                </a:lnTo>
                <a:cubicBezTo>
                  <a:pt x="15268" y="54306"/>
                  <a:pt x="26007" y="66012"/>
                  <a:pt x="37078" y="72224"/>
                </a:cubicBezTo>
                <a:cubicBezTo>
                  <a:pt x="33103" y="61926"/>
                  <a:pt x="29817" y="48481"/>
                  <a:pt x="28023" y="30922"/>
                </a:cubicBezTo>
                <a:close/>
                <a:moveTo>
                  <a:pt x="104913" y="70899"/>
                </a:moveTo>
                <a:cubicBezTo>
                  <a:pt x="116095" y="64328"/>
                  <a:pt x="126199" y="52650"/>
                  <a:pt x="127911" y="30922"/>
                </a:cubicBezTo>
                <a:lnTo>
                  <a:pt x="113472" y="30922"/>
                </a:lnTo>
                <a:cubicBezTo>
                  <a:pt x="111760" y="47735"/>
                  <a:pt x="108668" y="60794"/>
                  <a:pt x="104913" y="70899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60046" y="1843536"/>
            <a:ext cx="44969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046" y="2126249"/>
            <a:ext cx="44880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</a:t>
            </a:r>
            <a:r>
              <a:rPr lang="en-US" sz="111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91.2% accuracy</a:t>
            </a: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XGBoost, exceeding industry benchmarks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316" y="2444301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3159" y="2514980"/>
            <a:ext cx="159026" cy="141357"/>
          </a:xfrm>
          <a:custGeom>
            <a:avLst/>
            <a:gdLst/>
            <a:ahLst/>
            <a:cxnLst/>
            <a:rect l="l" t="t" r="r" b="b"/>
            <a:pathLst>
              <a:path w="159026" h="141357">
                <a:moveTo>
                  <a:pt x="79513" y="8835"/>
                </a:moveTo>
                <a:cubicBezTo>
                  <a:pt x="57205" y="8835"/>
                  <a:pt x="39342" y="18995"/>
                  <a:pt x="26339" y="31087"/>
                </a:cubicBezTo>
                <a:cubicBezTo>
                  <a:pt x="13418" y="43097"/>
                  <a:pt x="4776" y="57426"/>
                  <a:pt x="663" y="67282"/>
                </a:cubicBezTo>
                <a:cubicBezTo>
                  <a:pt x="-248" y="69463"/>
                  <a:pt x="-248" y="71893"/>
                  <a:pt x="663" y="74074"/>
                </a:cubicBezTo>
                <a:cubicBezTo>
                  <a:pt x="4776" y="83930"/>
                  <a:pt x="13418" y="98287"/>
                  <a:pt x="26339" y="110269"/>
                </a:cubicBezTo>
                <a:cubicBezTo>
                  <a:pt x="39342" y="122334"/>
                  <a:pt x="57205" y="132522"/>
                  <a:pt x="79513" y="132522"/>
                </a:cubicBezTo>
                <a:cubicBezTo>
                  <a:pt x="101821" y="132522"/>
                  <a:pt x="119684" y="122362"/>
                  <a:pt x="132687" y="110269"/>
                </a:cubicBezTo>
                <a:cubicBezTo>
                  <a:pt x="145608" y="98259"/>
                  <a:pt x="154250" y="83930"/>
                  <a:pt x="158363" y="74074"/>
                </a:cubicBezTo>
                <a:cubicBezTo>
                  <a:pt x="159275" y="71893"/>
                  <a:pt x="159275" y="69463"/>
                  <a:pt x="158363" y="67282"/>
                </a:cubicBezTo>
                <a:cubicBezTo>
                  <a:pt x="154250" y="57426"/>
                  <a:pt x="145608" y="43070"/>
                  <a:pt x="132687" y="31087"/>
                </a:cubicBezTo>
                <a:cubicBezTo>
                  <a:pt x="119684" y="19022"/>
                  <a:pt x="101821" y="8835"/>
                  <a:pt x="79513" y="8835"/>
                </a:cubicBezTo>
                <a:close/>
                <a:moveTo>
                  <a:pt x="39757" y="70678"/>
                </a:moveTo>
                <a:cubicBezTo>
                  <a:pt x="39757" y="48736"/>
                  <a:pt x="57571" y="30922"/>
                  <a:pt x="79513" y="30922"/>
                </a:cubicBezTo>
                <a:cubicBezTo>
                  <a:pt x="101455" y="30922"/>
                  <a:pt x="119270" y="48736"/>
                  <a:pt x="119270" y="70678"/>
                </a:cubicBezTo>
                <a:cubicBezTo>
                  <a:pt x="119270" y="92620"/>
                  <a:pt x="101455" y="110435"/>
                  <a:pt x="79513" y="110435"/>
                </a:cubicBezTo>
                <a:cubicBezTo>
                  <a:pt x="57571" y="110435"/>
                  <a:pt x="39757" y="92620"/>
                  <a:pt x="39757" y="70678"/>
                </a:cubicBezTo>
                <a:close/>
                <a:moveTo>
                  <a:pt x="79513" y="53009"/>
                </a:moveTo>
                <a:cubicBezTo>
                  <a:pt x="79513" y="62755"/>
                  <a:pt x="71589" y="70678"/>
                  <a:pt x="61843" y="70678"/>
                </a:cubicBezTo>
                <a:cubicBezTo>
                  <a:pt x="58668" y="70678"/>
                  <a:pt x="55687" y="69850"/>
                  <a:pt x="53092" y="68359"/>
                </a:cubicBezTo>
                <a:cubicBezTo>
                  <a:pt x="52815" y="71368"/>
                  <a:pt x="53064" y="74461"/>
                  <a:pt x="53892" y="77525"/>
                </a:cubicBezTo>
                <a:cubicBezTo>
                  <a:pt x="57675" y="91661"/>
                  <a:pt x="72224" y="100054"/>
                  <a:pt x="86360" y="96272"/>
                </a:cubicBezTo>
                <a:cubicBezTo>
                  <a:pt x="100496" y="92489"/>
                  <a:pt x="108889" y="77939"/>
                  <a:pt x="105106" y="63804"/>
                </a:cubicBezTo>
                <a:cubicBezTo>
                  <a:pt x="101738" y="51187"/>
                  <a:pt x="89783" y="43152"/>
                  <a:pt x="77194" y="44257"/>
                </a:cubicBezTo>
                <a:cubicBezTo>
                  <a:pt x="78657" y="46824"/>
                  <a:pt x="79513" y="49806"/>
                  <a:pt x="79513" y="53009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046" y="2444301"/>
            <a:ext cx="439972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046" y="2727014"/>
            <a:ext cx="43908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values provide </a:t>
            </a:r>
            <a:r>
              <a:rPr lang="en-US" sz="111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insights</a:t>
            </a: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business decision-making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316" y="304506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1994" y="3115745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35339" y="88348"/>
                </a:moveTo>
                <a:lnTo>
                  <a:pt x="6764" y="88348"/>
                </a:lnTo>
                <a:cubicBezTo>
                  <a:pt x="-110" y="88348"/>
                  <a:pt x="-4335" y="80866"/>
                  <a:pt x="-801" y="74958"/>
                </a:cubicBezTo>
                <a:lnTo>
                  <a:pt x="13804" y="50607"/>
                </a:lnTo>
                <a:cubicBezTo>
                  <a:pt x="16206" y="46603"/>
                  <a:pt x="20513" y="44174"/>
                  <a:pt x="25179" y="44174"/>
                </a:cubicBezTo>
                <a:lnTo>
                  <a:pt x="51407" y="44174"/>
                </a:lnTo>
                <a:cubicBezTo>
                  <a:pt x="72418" y="8586"/>
                  <a:pt x="103753" y="6792"/>
                  <a:pt x="124708" y="9856"/>
                </a:cubicBezTo>
                <a:cubicBezTo>
                  <a:pt x="128242" y="10381"/>
                  <a:pt x="131003" y="13142"/>
                  <a:pt x="131500" y="16648"/>
                </a:cubicBezTo>
                <a:cubicBezTo>
                  <a:pt x="134565" y="37603"/>
                  <a:pt x="132770" y="68939"/>
                  <a:pt x="97183" y="89949"/>
                </a:cubicBezTo>
                <a:lnTo>
                  <a:pt x="97183" y="116177"/>
                </a:lnTo>
                <a:cubicBezTo>
                  <a:pt x="97183" y="120843"/>
                  <a:pt x="94753" y="125150"/>
                  <a:pt x="90750" y="127552"/>
                </a:cubicBezTo>
                <a:lnTo>
                  <a:pt x="66399" y="142157"/>
                </a:lnTo>
                <a:cubicBezTo>
                  <a:pt x="60518" y="145691"/>
                  <a:pt x="53009" y="141439"/>
                  <a:pt x="53009" y="134592"/>
                </a:cubicBezTo>
                <a:lnTo>
                  <a:pt x="53009" y="106017"/>
                </a:lnTo>
                <a:cubicBezTo>
                  <a:pt x="53009" y="96272"/>
                  <a:pt x="45085" y="88348"/>
                  <a:pt x="35339" y="88348"/>
                </a:cubicBezTo>
                <a:lnTo>
                  <a:pt x="35312" y="88348"/>
                </a:lnTo>
                <a:close/>
                <a:moveTo>
                  <a:pt x="110435" y="44174"/>
                </a:moveTo>
                <a:cubicBezTo>
                  <a:pt x="110435" y="36860"/>
                  <a:pt x="104497" y="30922"/>
                  <a:pt x="97183" y="30922"/>
                </a:cubicBezTo>
                <a:cubicBezTo>
                  <a:pt x="89869" y="30922"/>
                  <a:pt x="83930" y="36860"/>
                  <a:pt x="83930" y="44174"/>
                </a:cubicBezTo>
                <a:cubicBezTo>
                  <a:pt x="83930" y="51488"/>
                  <a:pt x="89869" y="57426"/>
                  <a:pt x="97183" y="57426"/>
                </a:cubicBezTo>
                <a:cubicBezTo>
                  <a:pt x="104497" y="57426"/>
                  <a:pt x="110435" y="51488"/>
                  <a:pt x="110435" y="4417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046" y="3045067"/>
            <a:ext cx="39579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046" y="3327780"/>
            <a:ext cx="39491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web application with </a:t>
            </a:r>
            <a:r>
              <a:rPr lang="en-US" sz="111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 latency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316" y="3645832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8499" y="3716510"/>
            <a:ext cx="88348" cy="141357"/>
          </a:xfrm>
          <a:custGeom>
            <a:avLst/>
            <a:gdLst/>
            <a:ahLst/>
            <a:cxnLst/>
            <a:rect l="l" t="t" r="r" b="b"/>
            <a:pathLst>
              <a:path w="88348" h="141357">
                <a:moveTo>
                  <a:pt x="37548" y="6626"/>
                </a:moveTo>
                <a:cubicBezTo>
                  <a:pt x="37548" y="2954"/>
                  <a:pt x="40502" y="0"/>
                  <a:pt x="44174" y="0"/>
                </a:cubicBezTo>
                <a:cubicBezTo>
                  <a:pt x="47846" y="0"/>
                  <a:pt x="50800" y="2954"/>
                  <a:pt x="50800" y="6626"/>
                </a:cubicBezTo>
                <a:lnTo>
                  <a:pt x="50800" y="17670"/>
                </a:lnTo>
                <a:lnTo>
                  <a:pt x="66261" y="17670"/>
                </a:lnTo>
                <a:cubicBezTo>
                  <a:pt x="71148" y="17670"/>
                  <a:pt x="75096" y="21618"/>
                  <a:pt x="75096" y="26504"/>
                </a:cubicBezTo>
                <a:cubicBezTo>
                  <a:pt x="75096" y="31391"/>
                  <a:pt x="71148" y="35339"/>
                  <a:pt x="66261" y="35339"/>
                </a:cubicBezTo>
                <a:lnTo>
                  <a:pt x="34538" y="35339"/>
                </a:lnTo>
                <a:cubicBezTo>
                  <a:pt x="27664" y="35339"/>
                  <a:pt x="22087" y="40916"/>
                  <a:pt x="22087" y="47791"/>
                </a:cubicBezTo>
                <a:cubicBezTo>
                  <a:pt x="22087" y="54003"/>
                  <a:pt x="26642" y="59248"/>
                  <a:pt x="32772" y="60132"/>
                </a:cubicBezTo>
                <a:lnTo>
                  <a:pt x="58061" y="63748"/>
                </a:lnTo>
                <a:cubicBezTo>
                  <a:pt x="72915" y="65874"/>
                  <a:pt x="83930" y="78574"/>
                  <a:pt x="83930" y="93566"/>
                </a:cubicBezTo>
                <a:cubicBezTo>
                  <a:pt x="83930" y="110214"/>
                  <a:pt x="70430" y="123687"/>
                  <a:pt x="53809" y="123687"/>
                </a:cubicBezTo>
                <a:lnTo>
                  <a:pt x="50800" y="123687"/>
                </a:lnTo>
                <a:lnTo>
                  <a:pt x="50800" y="134730"/>
                </a:lnTo>
                <a:cubicBezTo>
                  <a:pt x="50800" y="138402"/>
                  <a:pt x="47846" y="141357"/>
                  <a:pt x="44174" y="141357"/>
                </a:cubicBezTo>
                <a:cubicBezTo>
                  <a:pt x="40502" y="141357"/>
                  <a:pt x="37548" y="138402"/>
                  <a:pt x="37548" y="134730"/>
                </a:cubicBezTo>
                <a:lnTo>
                  <a:pt x="37548" y="123687"/>
                </a:lnTo>
                <a:lnTo>
                  <a:pt x="17670" y="123687"/>
                </a:lnTo>
                <a:cubicBezTo>
                  <a:pt x="12783" y="123687"/>
                  <a:pt x="8835" y="119739"/>
                  <a:pt x="8835" y="114852"/>
                </a:cubicBezTo>
                <a:cubicBezTo>
                  <a:pt x="8835" y="109965"/>
                  <a:pt x="12783" y="106017"/>
                  <a:pt x="17670" y="106017"/>
                </a:cubicBezTo>
                <a:lnTo>
                  <a:pt x="53809" y="106017"/>
                </a:lnTo>
                <a:cubicBezTo>
                  <a:pt x="60684" y="106017"/>
                  <a:pt x="66261" y="100440"/>
                  <a:pt x="66261" y="93566"/>
                </a:cubicBezTo>
                <a:cubicBezTo>
                  <a:pt x="66261" y="87354"/>
                  <a:pt x="61705" y="82108"/>
                  <a:pt x="55576" y="81225"/>
                </a:cubicBezTo>
                <a:lnTo>
                  <a:pt x="30287" y="77608"/>
                </a:lnTo>
                <a:cubicBezTo>
                  <a:pt x="15433" y="75510"/>
                  <a:pt x="4417" y="62782"/>
                  <a:pt x="4417" y="47791"/>
                </a:cubicBezTo>
                <a:cubicBezTo>
                  <a:pt x="4417" y="31170"/>
                  <a:pt x="17918" y="17670"/>
                  <a:pt x="34538" y="17670"/>
                </a:cubicBezTo>
                <a:lnTo>
                  <a:pt x="37548" y="17670"/>
                </a:lnTo>
                <a:lnTo>
                  <a:pt x="37548" y="6626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046" y="3645832"/>
            <a:ext cx="29066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046" y="3928545"/>
            <a:ext cx="28978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</a:t>
            </a:r>
            <a:r>
              <a:rPr lang="en-US" sz="111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$2.3M annual savings</a:t>
            </a: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420% ROI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336" y="4502800"/>
            <a:ext cx="6207907" cy="1401786"/>
          </a:xfrm>
          <a:custGeom>
            <a:avLst/>
            <a:gdLst/>
            <a:ahLst/>
            <a:cxnLst/>
            <a:rect l="l" t="t" r="r" b="b"/>
            <a:pathLst>
              <a:path w="6207907" h="1401786">
                <a:moveTo>
                  <a:pt x="70678" y="0"/>
                </a:moveTo>
                <a:lnTo>
                  <a:pt x="6137229" y="0"/>
                </a:lnTo>
                <a:cubicBezTo>
                  <a:pt x="6176264" y="0"/>
                  <a:pt x="6207907" y="31644"/>
                  <a:pt x="6207907" y="70678"/>
                </a:cubicBezTo>
                <a:lnTo>
                  <a:pt x="6207907" y="1331107"/>
                </a:lnTo>
                <a:cubicBezTo>
                  <a:pt x="6207907" y="1370142"/>
                  <a:pt x="6176264" y="1401786"/>
                  <a:pt x="6137229" y="1401786"/>
                </a:cubicBezTo>
                <a:lnTo>
                  <a:pt x="70678" y="1401786"/>
                </a:lnTo>
                <a:cubicBezTo>
                  <a:pt x="31644" y="1401786"/>
                  <a:pt x="0" y="1370142"/>
                  <a:pt x="0" y="1331107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151" y="4717774"/>
            <a:ext cx="132522" cy="176696"/>
          </a:xfrm>
          <a:custGeom>
            <a:avLst/>
            <a:gdLst/>
            <a:ahLst/>
            <a:cxnLst/>
            <a:rect l="l" t="t" r="r" b="b"/>
            <a:pathLst>
              <a:path w="132522" h="176696">
                <a:moveTo>
                  <a:pt x="101082" y="132522"/>
                </a:moveTo>
                <a:cubicBezTo>
                  <a:pt x="103602" y="124826"/>
                  <a:pt x="108640" y="117855"/>
                  <a:pt x="114335" y="111850"/>
                </a:cubicBezTo>
                <a:cubicBezTo>
                  <a:pt x="125620" y="99978"/>
                  <a:pt x="132522" y="83930"/>
                  <a:pt x="132522" y="66261"/>
                </a:cubicBezTo>
                <a:cubicBezTo>
                  <a:pt x="132522" y="29679"/>
                  <a:pt x="102842" y="0"/>
                  <a:pt x="66261" y="0"/>
                </a:cubicBezTo>
                <a:cubicBezTo>
                  <a:pt x="29679" y="0"/>
                  <a:pt x="0" y="29679"/>
                  <a:pt x="0" y="66261"/>
                </a:cubicBezTo>
                <a:cubicBezTo>
                  <a:pt x="0" y="83930"/>
                  <a:pt x="6902" y="99978"/>
                  <a:pt x="18187" y="111850"/>
                </a:cubicBezTo>
                <a:cubicBezTo>
                  <a:pt x="23882" y="117855"/>
                  <a:pt x="28955" y="124826"/>
                  <a:pt x="31439" y="132522"/>
                </a:cubicBezTo>
                <a:lnTo>
                  <a:pt x="101048" y="132522"/>
                </a:lnTo>
                <a:close/>
                <a:moveTo>
                  <a:pt x="99391" y="149087"/>
                </a:moveTo>
                <a:lnTo>
                  <a:pt x="33130" y="149087"/>
                </a:lnTo>
                <a:lnTo>
                  <a:pt x="33130" y="154609"/>
                </a:lnTo>
                <a:cubicBezTo>
                  <a:pt x="33130" y="169863"/>
                  <a:pt x="45485" y="182217"/>
                  <a:pt x="60739" y="182217"/>
                </a:cubicBezTo>
                <a:lnTo>
                  <a:pt x="71783" y="182217"/>
                </a:lnTo>
                <a:cubicBezTo>
                  <a:pt x="87036" y="182217"/>
                  <a:pt x="99391" y="169863"/>
                  <a:pt x="99391" y="154609"/>
                </a:cubicBezTo>
                <a:lnTo>
                  <a:pt x="99391" y="149087"/>
                </a:lnTo>
                <a:close/>
                <a:moveTo>
                  <a:pt x="63500" y="38652"/>
                </a:moveTo>
                <a:cubicBezTo>
                  <a:pt x="49765" y="38652"/>
                  <a:pt x="38652" y="49765"/>
                  <a:pt x="38652" y="63500"/>
                </a:cubicBezTo>
                <a:cubicBezTo>
                  <a:pt x="38652" y="68090"/>
                  <a:pt x="34960" y="71783"/>
                  <a:pt x="30370" y="71783"/>
                </a:cubicBezTo>
                <a:cubicBezTo>
                  <a:pt x="25780" y="71783"/>
                  <a:pt x="22087" y="68090"/>
                  <a:pt x="22087" y="63500"/>
                </a:cubicBezTo>
                <a:cubicBezTo>
                  <a:pt x="22087" y="40619"/>
                  <a:pt x="40619" y="22087"/>
                  <a:pt x="63500" y="22087"/>
                </a:cubicBezTo>
                <a:cubicBezTo>
                  <a:pt x="68090" y="22087"/>
                  <a:pt x="71783" y="25780"/>
                  <a:pt x="71783" y="30370"/>
                </a:cubicBezTo>
                <a:cubicBezTo>
                  <a:pt x="71783" y="34960"/>
                  <a:pt x="68090" y="38652"/>
                  <a:pt x="63500" y="3865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756846" y="4682435"/>
            <a:ext cx="57161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Impact on Logistics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977" y="5035826"/>
            <a:ext cx="5919304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how </a:t>
            </a:r>
            <a:r>
              <a:rPr lang="en-US" sz="1113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transforms reactive logistics into proactive supply chain management</a:t>
            </a:r>
            <a:r>
              <a:rPr lang="en-US" sz="111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By predicting delivery risks before they occur, companies can optimize resources, reduce costs, and enhance customer satisfaction.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50510" y="1204475"/>
            <a:ext cx="5077055" cy="2620986"/>
          </a:xfrm>
          <a:custGeom>
            <a:avLst/>
            <a:gdLst/>
            <a:ahLst/>
            <a:cxnLst/>
            <a:rect l="l" t="t" r="r" b="b"/>
            <a:pathLst>
              <a:path w="5077055" h="2620986">
                <a:moveTo>
                  <a:pt x="70688" y="0"/>
                </a:moveTo>
                <a:lnTo>
                  <a:pt x="5006367" y="0"/>
                </a:lnTo>
                <a:cubicBezTo>
                  <a:pt x="5045407" y="0"/>
                  <a:pt x="5077055" y="31648"/>
                  <a:pt x="5077055" y="70688"/>
                </a:cubicBezTo>
                <a:lnTo>
                  <a:pt x="5077055" y="2550298"/>
                </a:lnTo>
                <a:cubicBezTo>
                  <a:pt x="5077055" y="2589337"/>
                  <a:pt x="5045407" y="2620986"/>
                  <a:pt x="5006367" y="2620986"/>
                </a:cubicBezTo>
                <a:lnTo>
                  <a:pt x="70688" y="2620986"/>
                </a:lnTo>
                <a:cubicBezTo>
                  <a:pt x="31648" y="2620986"/>
                  <a:pt x="0" y="2589337"/>
                  <a:pt x="0" y="2550298"/>
                </a:cubicBezTo>
                <a:lnTo>
                  <a:pt x="0" y="70688"/>
                </a:lnTo>
                <a:cubicBezTo>
                  <a:pt x="0" y="31674"/>
                  <a:pt x="31674" y="0"/>
                  <a:pt x="7068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2238" y="1419467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11043" y="11043"/>
                </a:moveTo>
                <a:cubicBezTo>
                  <a:pt x="17152" y="11043"/>
                  <a:pt x="22087" y="15979"/>
                  <a:pt x="22087" y="22087"/>
                </a:cubicBezTo>
                <a:lnTo>
                  <a:pt x="22087" y="138043"/>
                </a:lnTo>
                <a:cubicBezTo>
                  <a:pt x="22087" y="141080"/>
                  <a:pt x="24572" y="143565"/>
                  <a:pt x="27609" y="143565"/>
                </a:cubicBezTo>
                <a:lnTo>
                  <a:pt x="165652" y="143565"/>
                </a:lnTo>
                <a:cubicBezTo>
                  <a:pt x="171761" y="143565"/>
                  <a:pt x="176696" y="148500"/>
                  <a:pt x="176696" y="154609"/>
                </a:cubicBezTo>
                <a:cubicBezTo>
                  <a:pt x="176696" y="160717"/>
                  <a:pt x="171761" y="165652"/>
                  <a:pt x="165652" y="165652"/>
                </a:cubicBezTo>
                <a:lnTo>
                  <a:pt x="27609" y="165652"/>
                </a:lnTo>
                <a:cubicBezTo>
                  <a:pt x="12355" y="165652"/>
                  <a:pt x="0" y="153297"/>
                  <a:pt x="0" y="138043"/>
                </a:cubicBezTo>
                <a:lnTo>
                  <a:pt x="0" y="22087"/>
                </a:lnTo>
                <a:cubicBezTo>
                  <a:pt x="0" y="15979"/>
                  <a:pt x="4935" y="11043"/>
                  <a:pt x="11043" y="11043"/>
                </a:cubicBezTo>
                <a:close/>
                <a:moveTo>
                  <a:pt x="44174" y="33130"/>
                </a:moveTo>
                <a:cubicBezTo>
                  <a:pt x="44174" y="27022"/>
                  <a:pt x="49109" y="22087"/>
                  <a:pt x="55217" y="22087"/>
                </a:cubicBezTo>
                <a:lnTo>
                  <a:pt x="121478" y="22087"/>
                </a:lnTo>
                <a:cubicBezTo>
                  <a:pt x="127587" y="22087"/>
                  <a:pt x="132522" y="27022"/>
                  <a:pt x="132522" y="33130"/>
                </a:cubicBezTo>
                <a:cubicBezTo>
                  <a:pt x="132522" y="39239"/>
                  <a:pt x="127587" y="44174"/>
                  <a:pt x="121478" y="44174"/>
                </a:cubicBezTo>
                <a:lnTo>
                  <a:pt x="55217" y="44174"/>
                </a:lnTo>
                <a:cubicBezTo>
                  <a:pt x="49109" y="44174"/>
                  <a:pt x="44174" y="39239"/>
                  <a:pt x="44174" y="33130"/>
                </a:cubicBezTo>
                <a:close/>
                <a:moveTo>
                  <a:pt x="55217" y="60739"/>
                </a:moveTo>
                <a:lnTo>
                  <a:pt x="99391" y="60739"/>
                </a:lnTo>
                <a:cubicBezTo>
                  <a:pt x="105500" y="60739"/>
                  <a:pt x="110435" y="65674"/>
                  <a:pt x="110435" y="71783"/>
                </a:cubicBezTo>
                <a:cubicBezTo>
                  <a:pt x="110435" y="77891"/>
                  <a:pt x="105500" y="82826"/>
                  <a:pt x="99391" y="82826"/>
                </a:cubicBezTo>
                <a:lnTo>
                  <a:pt x="55217" y="82826"/>
                </a:lnTo>
                <a:cubicBezTo>
                  <a:pt x="49109" y="82826"/>
                  <a:pt x="44174" y="77891"/>
                  <a:pt x="44174" y="71783"/>
                </a:cubicBezTo>
                <a:cubicBezTo>
                  <a:pt x="44174" y="65674"/>
                  <a:pt x="49109" y="60739"/>
                  <a:pt x="55217" y="60739"/>
                </a:cubicBezTo>
                <a:close/>
                <a:moveTo>
                  <a:pt x="55217" y="99391"/>
                </a:moveTo>
                <a:lnTo>
                  <a:pt x="143565" y="99391"/>
                </a:lnTo>
                <a:cubicBezTo>
                  <a:pt x="149674" y="99391"/>
                  <a:pt x="154609" y="104326"/>
                  <a:pt x="154609" y="110435"/>
                </a:cubicBezTo>
                <a:cubicBezTo>
                  <a:pt x="154609" y="116543"/>
                  <a:pt x="149674" y="121478"/>
                  <a:pt x="143565" y="121478"/>
                </a:cubicBezTo>
                <a:lnTo>
                  <a:pt x="55217" y="121478"/>
                </a:lnTo>
                <a:cubicBezTo>
                  <a:pt x="49109" y="121478"/>
                  <a:pt x="44174" y="116543"/>
                  <a:pt x="44174" y="110435"/>
                </a:cubicBezTo>
                <a:cubicBezTo>
                  <a:pt x="44174" y="104326"/>
                  <a:pt x="49109" y="99391"/>
                  <a:pt x="55217" y="993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7151020" y="1384127"/>
            <a:ext cx="45852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38986" y="1781693"/>
            <a:ext cx="2288209" cy="865809"/>
          </a:xfrm>
          <a:custGeom>
            <a:avLst/>
            <a:gdLst/>
            <a:ahLst/>
            <a:cxnLst/>
            <a:rect l="l" t="t" r="r" b="b"/>
            <a:pathLst>
              <a:path w="2288209" h="865809">
                <a:moveTo>
                  <a:pt x="70676" y="0"/>
                </a:moveTo>
                <a:lnTo>
                  <a:pt x="2217533" y="0"/>
                </a:lnTo>
                <a:cubicBezTo>
                  <a:pt x="2256566" y="0"/>
                  <a:pt x="2288209" y="31643"/>
                  <a:pt x="2288209" y="70676"/>
                </a:cubicBezTo>
                <a:lnTo>
                  <a:pt x="2288209" y="795133"/>
                </a:lnTo>
                <a:cubicBezTo>
                  <a:pt x="2288209" y="834166"/>
                  <a:pt x="2256566" y="865809"/>
                  <a:pt x="2217533" y="865809"/>
                </a:cubicBezTo>
                <a:lnTo>
                  <a:pt x="70676" y="865809"/>
                </a:lnTo>
                <a:cubicBezTo>
                  <a:pt x="31643" y="865809"/>
                  <a:pt x="0" y="834166"/>
                  <a:pt x="0" y="795133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9664" y="1931884"/>
            <a:ext cx="2146852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22C55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91.2%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255" y="2320614"/>
            <a:ext cx="204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52906" y="1781693"/>
            <a:ext cx="2288209" cy="865809"/>
          </a:xfrm>
          <a:custGeom>
            <a:avLst/>
            <a:gdLst/>
            <a:ahLst/>
            <a:cxnLst/>
            <a:rect l="l" t="t" r="r" b="b"/>
            <a:pathLst>
              <a:path w="2288209" h="865809">
                <a:moveTo>
                  <a:pt x="70676" y="0"/>
                </a:moveTo>
                <a:lnTo>
                  <a:pt x="2217533" y="0"/>
                </a:lnTo>
                <a:cubicBezTo>
                  <a:pt x="2256566" y="0"/>
                  <a:pt x="2288209" y="31643"/>
                  <a:pt x="2288209" y="70676"/>
                </a:cubicBezTo>
                <a:lnTo>
                  <a:pt x="2288209" y="795133"/>
                </a:lnTo>
                <a:cubicBezTo>
                  <a:pt x="2288209" y="834166"/>
                  <a:pt x="2256566" y="865809"/>
                  <a:pt x="2217533" y="865809"/>
                </a:cubicBezTo>
                <a:lnTo>
                  <a:pt x="70676" y="865809"/>
                </a:lnTo>
                <a:cubicBezTo>
                  <a:pt x="31643" y="865809"/>
                  <a:pt x="0" y="834166"/>
                  <a:pt x="0" y="795133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3584" y="1931884"/>
            <a:ext cx="2146852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D4A37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0.91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72176" y="2320614"/>
            <a:ext cx="204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AUC-ROC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38986" y="2771188"/>
            <a:ext cx="2288209" cy="865809"/>
          </a:xfrm>
          <a:custGeom>
            <a:avLst/>
            <a:gdLst/>
            <a:ahLst/>
            <a:cxnLst/>
            <a:rect l="l" t="t" r="r" b="b"/>
            <a:pathLst>
              <a:path w="2288209" h="865809">
                <a:moveTo>
                  <a:pt x="70676" y="0"/>
                </a:moveTo>
                <a:lnTo>
                  <a:pt x="2217533" y="0"/>
                </a:lnTo>
                <a:cubicBezTo>
                  <a:pt x="2256566" y="0"/>
                  <a:pt x="2288209" y="31643"/>
                  <a:pt x="2288209" y="70676"/>
                </a:cubicBezTo>
                <a:lnTo>
                  <a:pt x="2288209" y="795133"/>
                </a:lnTo>
                <a:cubicBezTo>
                  <a:pt x="2288209" y="834166"/>
                  <a:pt x="2256566" y="865809"/>
                  <a:pt x="2217533" y="865809"/>
                </a:cubicBezTo>
                <a:lnTo>
                  <a:pt x="70676" y="865809"/>
                </a:lnTo>
                <a:cubicBezTo>
                  <a:pt x="31643" y="865809"/>
                  <a:pt x="0" y="834166"/>
                  <a:pt x="0" y="795133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09664" y="2921380"/>
            <a:ext cx="2146852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58255" y="3310110"/>
            <a:ext cx="204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352906" y="2771188"/>
            <a:ext cx="2288209" cy="865809"/>
          </a:xfrm>
          <a:custGeom>
            <a:avLst/>
            <a:gdLst/>
            <a:ahLst/>
            <a:cxnLst/>
            <a:rect l="l" t="t" r="r" b="b"/>
            <a:pathLst>
              <a:path w="2288209" h="865809">
                <a:moveTo>
                  <a:pt x="70676" y="0"/>
                </a:moveTo>
                <a:lnTo>
                  <a:pt x="2217533" y="0"/>
                </a:lnTo>
                <a:cubicBezTo>
                  <a:pt x="2256566" y="0"/>
                  <a:pt x="2288209" y="31643"/>
                  <a:pt x="2288209" y="70676"/>
                </a:cubicBezTo>
                <a:lnTo>
                  <a:pt x="2288209" y="795133"/>
                </a:lnTo>
                <a:cubicBezTo>
                  <a:pt x="2288209" y="834166"/>
                  <a:pt x="2256566" y="865809"/>
                  <a:pt x="2217533" y="865809"/>
                </a:cubicBezTo>
                <a:lnTo>
                  <a:pt x="70676" y="865809"/>
                </a:lnTo>
                <a:cubicBezTo>
                  <a:pt x="31643" y="865809"/>
                  <a:pt x="0" y="834166"/>
                  <a:pt x="0" y="795133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254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23584" y="2921380"/>
            <a:ext cx="2146852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72176" y="3310110"/>
            <a:ext cx="204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Tested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50510" y="3972713"/>
            <a:ext cx="5077055" cy="2232255"/>
          </a:xfrm>
          <a:custGeom>
            <a:avLst/>
            <a:gdLst/>
            <a:ahLst/>
            <a:cxnLst/>
            <a:rect l="l" t="t" r="r" b="b"/>
            <a:pathLst>
              <a:path w="5077055" h="2232255">
                <a:moveTo>
                  <a:pt x="70673" y="0"/>
                </a:moveTo>
                <a:lnTo>
                  <a:pt x="5006382" y="0"/>
                </a:lnTo>
                <a:cubicBezTo>
                  <a:pt x="5045414" y="0"/>
                  <a:pt x="5077055" y="31641"/>
                  <a:pt x="5077055" y="70673"/>
                </a:cubicBezTo>
                <a:lnTo>
                  <a:pt x="5077055" y="2161582"/>
                </a:lnTo>
                <a:cubicBezTo>
                  <a:pt x="5077055" y="2200614"/>
                  <a:pt x="5045414" y="2232255"/>
                  <a:pt x="5006382" y="2232255"/>
                </a:cubicBezTo>
                <a:lnTo>
                  <a:pt x="70673" y="2232255"/>
                </a:lnTo>
                <a:cubicBezTo>
                  <a:pt x="31641" y="2232255"/>
                  <a:pt x="0" y="2200614"/>
                  <a:pt x="0" y="2161582"/>
                </a:cubicBezTo>
                <a:lnTo>
                  <a:pt x="0" y="70673"/>
                </a:lnTo>
                <a:cubicBezTo>
                  <a:pt x="0" y="31641"/>
                  <a:pt x="31641" y="0"/>
                  <a:pt x="7067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1194" y="4187687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6565" y="67572"/>
                </a:moveTo>
                <a:lnTo>
                  <a:pt x="88762" y="97286"/>
                </a:lnTo>
                <a:cubicBezTo>
                  <a:pt x="92144" y="98667"/>
                  <a:pt x="95733" y="99391"/>
                  <a:pt x="99391" y="99391"/>
                </a:cubicBezTo>
                <a:cubicBezTo>
                  <a:pt x="103049" y="99391"/>
                  <a:pt x="106639" y="98667"/>
                  <a:pt x="110021" y="97286"/>
                </a:cubicBezTo>
                <a:lnTo>
                  <a:pt x="193675" y="62844"/>
                </a:lnTo>
                <a:cubicBezTo>
                  <a:pt x="196781" y="61567"/>
                  <a:pt x="198783" y="58565"/>
                  <a:pt x="198783" y="55217"/>
                </a:cubicBezTo>
                <a:cubicBezTo>
                  <a:pt x="198783" y="51870"/>
                  <a:pt x="196781" y="48867"/>
                  <a:pt x="193675" y="47590"/>
                </a:cubicBezTo>
                <a:lnTo>
                  <a:pt x="110021" y="13149"/>
                </a:lnTo>
                <a:cubicBezTo>
                  <a:pt x="106639" y="11768"/>
                  <a:pt x="103049" y="11043"/>
                  <a:pt x="99391" y="11043"/>
                </a:cubicBezTo>
                <a:cubicBezTo>
                  <a:pt x="95733" y="11043"/>
                  <a:pt x="92144" y="11768"/>
                  <a:pt x="88762" y="13149"/>
                </a:cubicBezTo>
                <a:lnTo>
                  <a:pt x="5108" y="47590"/>
                </a:lnTo>
                <a:cubicBezTo>
                  <a:pt x="2002" y="48867"/>
                  <a:pt x="0" y="51870"/>
                  <a:pt x="0" y="55217"/>
                </a:cubicBezTo>
                <a:lnTo>
                  <a:pt x="0" y="157370"/>
                </a:lnTo>
                <a:cubicBezTo>
                  <a:pt x="0" y="161960"/>
                  <a:pt x="3693" y="165652"/>
                  <a:pt x="8283" y="165652"/>
                </a:cubicBezTo>
                <a:cubicBezTo>
                  <a:pt x="12873" y="165652"/>
                  <a:pt x="16565" y="161960"/>
                  <a:pt x="16565" y="157370"/>
                </a:cubicBezTo>
                <a:lnTo>
                  <a:pt x="16565" y="67572"/>
                </a:lnTo>
                <a:close/>
                <a:moveTo>
                  <a:pt x="33130" y="92317"/>
                </a:moveTo>
                <a:lnTo>
                  <a:pt x="33130" y="132522"/>
                </a:lnTo>
                <a:cubicBezTo>
                  <a:pt x="33130" y="150813"/>
                  <a:pt x="62810" y="165652"/>
                  <a:pt x="99391" y="165652"/>
                </a:cubicBezTo>
                <a:cubicBezTo>
                  <a:pt x="135973" y="165652"/>
                  <a:pt x="165652" y="150813"/>
                  <a:pt x="165652" y="132522"/>
                </a:cubicBezTo>
                <a:lnTo>
                  <a:pt x="165652" y="92282"/>
                </a:lnTo>
                <a:lnTo>
                  <a:pt x="116336" y="112609"/>
                </a:lnTo>
                <a:cubicBezTo>
                  <a:pt x="110952" y="114818"/>
                  <a:pt x="105224" y="115957"/>
                  <a:pt x="99391" y="115957"/>
                </a:cubicBezTo>
                <a:cubicBezTo>
                  <a:pt x="93559" y="115957"/>
                  <a:pt x="87830" y="114818"/>
                  <a:pt x="82446" y="112609"/>
                </a:cubicBezTo>
                <a:lnTo>
                  <a:pt x="33130" y="9228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2"/>
          <p:cNvSpPr/>
          <p:nvPr/>
        </p:nvSpPr>
        <p:spPr>
          <a:xfrm>
            <a:off x="7151020" y="4152348"/>
            <a:ext cx="45852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56655" y="4576417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7212864" y="4541078"/>
            <a:ext cx="23853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ML pipeline development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56655" y="4894470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7212864" y="4859130"/>
            <a:ext cx="227937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real-world data challenges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56655" y="5212522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7212864" y="5177183"/>
            <a:ext cx="208500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interpretability techniques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56655" y="5530574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7212864" y="5495235"/>
            <a:ext cx="212918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deployment strategies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56655" y="5848626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4" name="Text 52"/>
          <p:cNvSpPr/>
          <p:nvPr/>
        </p:nvSpPr>
        <p:spPr>
          <a:xfrm>
            <a:off x="7212864" y="5813287"/>
            <a:ext cx="18199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 quantification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85336" y="6496516"/>
            <a:ext cx="463326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evolver-project-images.s3.us-west-1.amazonaws.com/17c949b7d65365fc6109b97dc825fca6c1a7fb9e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5794" b="57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6D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8226" y="1079506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301" y="12985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4501455" y="2212981"/>
            <a:ext cx="3190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0F0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301" y="305118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4615755" y="3317881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23244" y="3863975"/>
            <a:ext cx="2491224" cy="1320800"/>
          </a:xfrm>
          <a:custGeom>
            <a:avLst/>
            <a:gdLst/>
            <a:ahLst/>
            <a:cxnLst/>
            <a:rect l="l" t="t" r="r" b="b"/>
            <a:pathLst>
              <a:path w="1835150" h="1320800">
                <a:moveTo>
                  <a:pt x="76197" y="0"/>
                </a:moveTo>
                <a:lnTo>
                  <a:pt x="1758953" y="0"/>
                </a:lnTo>
                <a:cubicBezTo>
                  <a:pt x="1801035" y="0"/>
                  <a:pt x="1835150" y="34115"/>
                  <a:pt x="1835150" y="76197"/>
                </a:cubicBezTo>
                <a:lnTo>
                  <a:pt x="1835150" y="1244603"/>
                </a:lnTo>
                <a:cubicBezTo>
                  <a:pt x="1835150" y="1286685"/>
                  <a:pt x="1801035" y="1320800"/>
                  <a:pt x="1758953" y="1320800"/>
                </a:cubicBezTo>
                <a:lnTo>
                  <a:pt x="76197" y="1320800"/>
                </a:lnTo>
                <a:cubicBezTo>
                  <a:pt x="34115" y="1320800"/>
                  <a:pt x="0" y="1286685"/>
                  <a:pt x="0" y="1244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525981" y="4124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906856" y="4445012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41181" y="4791075"/>
            <a:ext cx="2255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bmalhotra_be24@thapar.edu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79715" y="3930656"/>
            <a:ext cx="1835150" cy="1320800"/>
          </a:xfrm>
          <a:custGeom>
            <a:avLst/>
            <a:gdLst/>
            <a:ahLst/>
            <a:cxnLst/>
            <a:rect l="l" t="t" r="r" b="b"/>
            <a:pathLst>
              <a:path w="1835150" h="1320800">
                <a:moveTo>
                  <a:pt x="76197" y="0"/>
                </a:moveTo>
                <a:lnTo>
                  <a:pt x="1758953" y="0"/>
                </a:lnTo>
                <a:cubicBezTo>
                  <a:pt x="1801035" y="0"/>
                  <a:pt x="1835150" y="34115"/>
                  <a:pt x="1835150" y="76197"/>
                </a:cubicBezTo>
                <a:lnTo>
                  <a:pt x="1835150" y="1244603"/>
                </a:lnTo>
                <a:cubicBezTo>
                  <a:pt x="1835150" y="1286685"/>
                  <a:pt x="1801035" y="1320800"/>
                  <a:pt x="1758953" y="1320800"/>
                </a:cubicBezTo>
                <a:lnTo>
                  <a:pt x="76197" y="1320800"/>
                </a:lnTo>
                <a:cubicBezTo>
                  <a:pt x="34115" y="1320800"/>
                  <a:pt x="0" y="1286685"/>
                  <a:pt x="0" y="1244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5506" y="4124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1749" y="11274"/>
                </a:moveTo>
                <a:cubicBezTo>
                  <a:pt x="146279" y="8148"/>
                  <a:pt x="139526" y="8148"/>
                  <a:pt x="134001" y="11274"/>
                </a:cubicBezTo>
                <a:lnTo>
                  <a:pt x="8985" y="82711"/>
                </a:lnTo>
                <a:cubicBezTo>
                  <a:pt x="1953" y="86730"/>
                  <a:pt x="-1507" y="94990"/>
                  <a:pt x="558" y="102803"/>
                </a:cubicBezTo>
                <a:cubicBezTo>
                  <a:pt x="2623" y="110617"/>
                  <a:pt x="9767" y="116086"/>
                  <a:pt x="17859" y="116086"/>
                </a:cubicBezTo>
                <a:lnTo>
                  <a:pt x="35719" y="116086"/>
                </a:lnTo>
                <a:lnTo>
                  <a:pt x="35719" y="232172"/>
                </a:lnTo>
                <a:lnTo>
                  <a:pt x="35719" y="232172"/>
                </a:lnTo>
                <a:lnTo>
                  <a:pt x="7144" y="253603"/>
                </a:lnTo>
                <a:cubicBezTo>
                  <a:pt x="2623" y="256952"/>
                  <a:pt x="0" y="262254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62254"/>
                  <a:pt x="283127" y="256952"/>
                  <a:pt x="278606" y="253603"/>
                </a:cubicBezTo>
                <a:lnTo>
                  <a:pt x="250031" y="232172"/>
                </a:lnTo>
                <a:lnTo>
                  <a:pt x="250031" y="116086"/>
                </a:lnTo>
                <a:lnTo>
                  <a:pt x="267891" y="116086"/>
                </a:lnTo>
                <a:cubicBezTo>
                  <a:pt x="275983" y="116086"/>
                  <a:pt x="283071" y="110617"/>
                  <a:pt x="285136" y="102803"/>
                </a:cubicBezTo>
                <a:cubicBezTo>
                  <a:pt x="287201" y="94990"/>
                  <a:pt x="283741" y="86730"/>
                  <a:pt x="276709" y="82711"/>
                </a:cubicBezTo>
                <a:lnTo>
                  <a:pt x="151693" y="11274"/>
                </a:lnTo>
                <a:close/>
                <a:moveTo>
                  <a:pt x="223242" y="116086"/>
                </a:moveTo>
                <a:lnTo>
                  <a:pt x="223242" y="232172"/>
                </a:lnTo>
                <a:lnTo>
                  <a:pt x="187523" y="232172"/>
                </a:lnTo>
                <a:lnTo>
                  <a:pt x="187523" y="116086"/>
                </a:lnTo>
                <a:lnTo>
                  <a:pt x="223242" y="116086"/>
                </a:lnTo>
                <a:close/>
                <a:moveTo>
                  <a:pt x="160734" y="116086"/>
                </a:moveTo>
                <a:lnTo>
                  <a:pt x="160734" y="232172"/>
                </a:lnTo>
                <a:lnTo>
                  <a:pt x="125016" y="232172"/>
                </a:lnTo>
                <a:lnTo>
                  <a:pt x="125016" y="116086"/>
                </a:lnTo>
                <a:lnTo>
                  <a:pt x="160734" y="116086"/>
                </a:lnTo>
                <a:close/>
                <a:moveTo>
                  <a:pt x="98227" y="116086"/>
                </a:moveTo>
                <a:lnTo>
                  <a:pt x="98227" y="232172"/>
                </a:lnTo>
                <a:lnTo>
                  <a:pt x="62508" y="232172"/>
                </a:lnTo>
                <a:lnTo>
                  <a:pt x="62508" y="116086"/>
                </a:lnTo>
                <a:lnTo>
                  <a:pt x="98227" y="116086"/>
                </a:lnTo>
                <a:close/>
                <a:moveTo>
                  <a:pt x="142875" y="53578"/>
                </a:moveTo>
                <a:cubicBezTo>
                  <a:pt x="152732" y="53578"/>
                  <a:pt x="160734" y="61581"/>
                  <a:pt x="160734" y="71438"/>
                </a:cubicBezTo>
                <a:cubicBezTo>
                  <a:pt x="160734" y="81294"/>
                  <a:pt x="152732" y="89297"/>
                  <a:pt x="142875" y="89297"/>
                </a:cubicBezTo>
                <a:cubicBezTo>
                  <a:pt x="133018" y="89297"/>
                  <a:pt x="125016" y="81294"/>
                  <a:pt x="125016" y="71438"/>
                </a:cubicBezTo>
                <a:cubicBezTo>
                  <a:pt x="125016" y="61581"/>
                  <a:pt x="133018" y="53578"/>
                  <a:pt x="142875" y="5357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5335290" y="45243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30528" y="47910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Thapar University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47235" y="3930656"/>
            <a:ext cx="1835150" cy="1320800"/>
          </a:xfrm>
          <a:custGeom>
            <a:avLst/>
            <a:gdLst/>
            <a:ahLst/>
            <a:cxnLst/>
            <a:rect l="l" t="t" r="r" b="b"/>
            <a:pathLst>
              <a:path w="1835150" h="1320800">
                <a:moveTo>
                  <a:pt x="76197" y="0"/>
                </a:moveTo>
                <a:lnTo>
                  <a:pt x="1758953" y="0"/>
                </a:lnTo>
                <a:cubicBezTo>
                  <a:pt x="1801035" y="0"/>
                  <a:pt x="1835150" y="34115"/>
                  <a:pt x="1835150" y="76197"/>
                </a:cubicBezTo>
                <a:lnTo>
                  <a:pt x="1835150" y="1244603"/>
                </a:lnTo>
                <a:cubicBezTo>
                  <a:pt x="1835150" y="1286685"/>
                  <a:pt x="1801035" y="1320800"/>
                  <a:pt x="1758953" y="1320800"/>
                </a:cubicBezTo>
                <a:lnTo>
                  <a:pt x="76197" y="1320800"/>
                </a:lnTo>
                <a:cubicBezTo>
                  <a:pt x="34115" y="1320800"/>
                  <a:pt x="0" y="1286685"/>
                  <a:pt x="0" y="1244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8467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0886" y="4124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61559" y="0"/>
                  <a:pt x="53578" y="7981"/>
                  <a:pt x="53578" y="17859"/>
                </a:cubicBezTo>
                <a:lnTo>
                  <a:pt x="53578" y="35719"/>
                </a:lnTo>
                <a:lnTo>
                  <a:pt x="35719" y="35719"/>
                </a:lnTo>
                <a:cubicBezTo>
                  <a:pt x="16018" y="35719"/>
                  <a:pt x="0" y="51736"/>
                  <a:pt x="0" y="71438"/>
                </a:cubicBezTo>
                <a:lnTo>
                  <a:pt x="0" y="98227"/>
                </a:lnTo>
                <a:lnTo>
                  <a:pt x="250031" y="98227"/>
                </a:ln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196453" y="35719"/>
                </a:lnTo>
                <a:lnTo>
                  <a:pt x="196453" y="17859"/>
                </a:lnTo>
                <a:cubicBezTo>
                  <a:pt x="196453" y="7981"/>
                  <a:pt x="188472" y="0"/>
                  <a:pt x="178594" y="0"/>
                </a:cubicBezTo>
                <a:cubicBezTo>
                  <a:pt x="168715" y="0"/>
                  <a:pt x="160734" y="7981"/>
                  <a:pt x="160734" y="17859"/>
                </a:cubicBezTo>
                <a:lnTo>
                  <a:pt x="160734" y="35719"/>
                </a:lnTo>
                <a:lnTo>
                  <a:pt x="89297" y="35719"/>
                </a:lnTo>
                <a:lnTo>
                  <a:pt x="89297" y="17859"/>
                </a:lnTo>
                <a:cubicBezTo>
                  <a:pt x="89297" y="7981"/>
                  <a:pt x="81316" y="0"/>
                  <a:pt x="71438" y="0"/>
                </a:cubicBezTo>
                <a:close/>
                <a:moveTo>
                  <a:pt x="0" y="125016"/>
                </a:move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25016"/>
                </a:lnTo>
                <a:lnTo>
                  <a:pt x="0" y="12501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7402810" y="45243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98048" y="47910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2024-2025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124127" y="5591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19"/>
          <p:cNvSpPr/>
          <p:nvPr/>
        </p:nvSpPr>
        <p:spPr>
          <a:xfrm>
            <a:off x="4305102" y="5559437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logistics through predictive intelligence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2242</Words>
  <Application>Microsoft Macintosh PowerPoint</Application>
  <PresentationFormat>Widescreen</PresentationFormat>
  <Paragraphs>544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Quattrocento Sans</vt:lpstr>
      <vt:lpstr>Arial</vt:lpstr>
      <vt:lpstr>Calibri</vt:lpstr>
      <vt:lpstr>Liter</vt:lpstr>
      <vt:lpstr>Oranienbaum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Amazon Supply Chain Intelligence: Delivery Delay Risk Prediction</dc:title>
  <dc:subject>AI-Powered Amazon Supply Chain Intelligence: Delivery Delay Risk Prediction</dc:subject>
  <dc:creator>Kimi</dc:creator>
  <cp:lastModifiedBy>Rushil Malhotra</cp:lastModifiedBy>
  <cp:revision>6</cp:revision>
  <dcterms:created xsi:type="dcterms:W3CDTF">2026-02-20T20:05:31Z</dcterms:created>
  <dcterms:modified xsi:type="dcterms:W3CDTF">2026-02-25T05:24:28Z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{"Label":"AI-Powered Amazon Supply Chain Intelligence: Delivery Delay Risk Prediction","ContentProducer":"001191110108MACG2KBH8F10000","ProduceID":"19c7ca34-18a2-8f41-8000-000059ee9bfa","ReservedCode1":"","ContentPropagator":"001191110108MACG2KBH8F20000","PropagateID":"19c7ca34-18a2-8f41-8000-000059ee9bfa","ReservedCode2":""}</vt:lpwstr>
  </property>
</Properties>
</file>